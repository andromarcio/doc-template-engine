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notesMasterIdLst>
    <p:notesMasterId r:id="rId4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notesMaster" Target="notesMasters/notes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Boas-vindas (5 min). Apresente-se e explique o objetivo: alinhar, entre gestores, o papel de cada artefato — o card no Jira, a especificação e a documentação do sistema. Combine as regras da sala: perguntas a qualquer momento; dinâmicas em grupo nos blocos finais. Avise que os exemplos usam o domínio de compras (Solicitação de Compra, precificação), por ser familiar a todos, e que no Bloco 5 haverá um estudo de caso com um documento real (anonimizado) avaliado recentemente.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Alinhe a expectativa: é um workshop de conceito e de acordo de trabalho, não um treinamento de ferramenta — o Jira aparece como contexto, não como tela a ser ensinada. Ao final, a proposta é sair com um acordo (Definition of Ready / Definition of Done) para levar aos times.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min. Se o tempo disponível for 2h: corte a Dinâmica 2 (slide 37), reduza o Bloco 3 aos slides 24, 25 e 27, e transforme o slide 28 (estados) em comentário oral no estudo de caso. Os timeboxes por bloco estão nos divisores de seção.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 min. Lance a pergunta e colete 2 ou 3 respostas — anote-as num flipchart ou quadro; você vai retomá-las no estudo de caso (Bloco 5), onde cada uma delas aparece materializada num documento real. Respostas típicas: “cada dev entende uma coisa”, “o teste não sabe o que verificar”, “quando o card fecha, o conhecimento some”. Não corrija nem complete ainda: deixe o workshop responder.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Bloco 1 — 40 min. Objetivo: dar o repertório de origem (XP), o modelo mental (3 C’s), a forma (Connextra), o teste de qualidade (INVEST) e o encaixe na ferramenta (Jira).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Contexto histórico: no fim dos anos 90, a alternativa dominante era a especificação pesada escrita meses antes do código (waterfall). O XP inverteu: escreve-se pouco, cedo, e conversa-se muito, no momento certo. Destaque o último item: a limitação física do cartão era intencional — se não cabe no cartão, o que falta não é texto, é conversa. Referências: Beck, “Extreme Programming Explained” (1999); Beck &amp; Fowler, “Planning Extreme Programming” (2000).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A frase de Cockburn é o coração do bloco: a história é uma promessa de conversa. Se alguém tenta “completar” a história com páginas de detalhe, ela deixa de ser história — vira uma especificação mal posicionada. A frase final antecipa o Bloco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Peça a um participante que transforme, oralmente, uma demanda da própria área no formato Como/Quero/Para. Corrija dois vícios comuns na hora: papel genérico (“como usuário…”) e benefício circular (“para que a precificação seja registrada”). Alerta importante: preencher o template não garante história boa — o teste de qualidade é o INVEST, daqui a três slides.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Origem: artigo “Essential XP: Card, Conversation, Confirmation” (Ron Jeffries, 2001). O card no Jira cumpre o papel do cartão físico do XP: token de planejamento. Tudo o que precise de precisão — campo, regra, estado — tem outro lugar, e o card aponta para lá.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Mensagem para gestores: proteger a agenda de refinamento é investimento, não desperdício — é onde o requisito fica barato. Erro achado em conversa custa minutos; em produção, custa sprints. O segundo bullet é o antídoto para o Jira-arquivo-morto: conversa que não vira registro estruturado evapora.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Feche o modelo dos 3 C’s: Card lembra, Conversation esclarece, Confirmation verifica. O exemplo citado vem do domínio de compras da casa e reaparece no Gherkin (Bloco 3) e no estudo de caso (Bloco 5). Provocação rápida: “quantos cards fechados no nosso Jira tinham critérios verificáveis?”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Fonte: Bill Wake, “INVEST in Good Stories, and SMART Tasks” (2003). Percorra as seis letras com um exemplo oral cada. As mais violadas na prática: V (histórias técnicas sem valor de negócio), S (épicos fantasiados de história) e T (critérios vagos). O próximo slide treina exatamente essas três.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 min. Mostre só a coluna da esquerda primeiro (cubra a direita ou revele aos poucos) e pergunte que letra do INVEST cada uma viola, antes de mostrar a resposta. O primeiro exemplo é o mais importante para esta audiência: “desenvolver a tela X” é o anti-padrão nº 1 do caso real do Bloco 5 — tela é meio, valor é a 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Adapte os nomes aos issue types reais do Jira da CNI. O épico do exemplo é o módulo do estudo de caso do Bloco 5 — as quatro histórias mostradas são exatamente as que o documento real continha (lá, misturadas com telas). Feche o Bloco 1 checando o relógio: aqui devem ter passado ~50 min do workshop.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Bloco 2 — 30 min. É o coração conceitual do workshop: separar planejamento (card) de especificação e de documentação. Se a audiência sair com uma única ideia, que seja a tabela do slide 18.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min. O quarto item (“artefato transitório”) costuma gerar reação — deixe a discussão acontecer, ela prepara o slide seguinte. A pergunta que resolve: “depois que o card fechou, quem atualiza o texto dele quando o sistema muda?” Ninguém. Por isso ele não pode ser a memória do sistema.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Referência: Mike Cohn (“User Stories Applied”, 2004) — histórias não são requisitos no sentido IEEE (“o sistema deverá…”); são outra coisa, com outro papel. A frase da tarja final é a provocação a repetir sempre que alguém disser “está tudo no Jira”.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 min. Este é O slide do workshop — vale imprimir como handout. Percorra linha a linha. A célula que mais muda conversas é “vida útil”: card morre, especificação vive com a funcionalidade, documentação vive com o produto. Quando um requisito muda: abre-se um NOVO card (planejamento) que ATUALIZA a MESMA especificação (registro). São movimentos diferentes.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Pergunte quem já ouviu “não precisa documentar, somos ágeis”. Mostre que o próprio manifesto desmente: a frase completa inclui “embora haja valor nos itens à direita”. Conecte com a realidade da casa: auditoria, conformidade, continuidade de fornecedores — tudo exige registro que sobreviva ao card.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Destaque a linha de retorno: manutenção NÃO cria uma nova “verdade” paralela — cria um novo card que atualiza a especificação existente. É assim que se evita ter cinco documentos contando cinco versões da mesma funcionalidade. Feche o bloco e chame o intervalo (15 min) — na volta, Bloco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Leia coluna a coluna, de cima para baixo: na sprint 23 nasce a primeira história; ela FECHA, mas deixa dois legados — a funcionalidade no ar e a especificação v1. Cada história seguinte evolui a MESMA funcionalidade mais um pouco, e a MESMA especificação cresce de versão (v2, v3, v4) — nunca nasce um documento novo por história. Pergunta de fixação: “onde está a definição completa da funcionalidade hoje?” — na especificação v4; os quatro cards guardam apenas a história de como chegamos até aqui (e é para isso que servem). Anti-padrão a citar: “um documento por história” = quatro verdades paralelas que ninguém consolida — é exatamente o que acontece quando a description do card vira spec. No Jira: cada card aponta para a versão da especificação que ele alterou; a rastreabilidade (Bloco 3) é esse fio.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Bloco 3 — 40 min (após o intervalo). Muda o chapéu: saímos do planejamento (card) e entramos na engenharia de requisitos — o que precisa existir por escrito para construir, testar e aceitar com segurança.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Gestores não operam as cinco etapas — mas cobram que existam. A pergunta gerencial de cada etapa: Elicitação — “falamos com quem usa?”; Análise — “os requisitos brigam entre si?”; Especificação — “dá para testar o que está escrito?”; Validação — “o negócio releu antes de irmos construir?”; Gestão — “que versão vale hoje?”.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Os exemplos dentro dos cards vêm do estudo de caso do Bloco 5 — plante as sementes agora: “avalia automaticamente” (ambíguo) e IDs duplicados (rastreabilidade quebrada) aparecerão num documento real. A lista completa da norma 29148 tem mais itens (necessário, apropriado, viável…); estes seis são os que mais doem na prática.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 min. Este é o checklist para cobrar — de fornecedor ou de time interno. Espelha o padrão interno de especificação por funcionalidade (nível N3 do nosso framework de documentação). Exercício relâmpago: peça que guardem mentalmente os itens 2, 4 e 5 — no estudo de caso, são exatamente os três que faltam por inteiro no documento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Teste rápido para separar: a frase descreve “o quê” (funcional) ou “quão bem” (não-funcional)? NFR esquecido vira passivo: LGPD, trilha de auditoria, tempo de resposta — ninguém escreve “o sistema deve ser auditável” num card, e depois a auditoria cobra. Por isso o catálogo é do produto, não da história.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 min. Leia o cenário em voz alta: repare que é português de negócio, sem jargão — e ainda assim é executável por ferramenta de teste. Este exemplo é o mesmo critério citado no slide de Confirmation (3 C’s): a ponte card → especificação → teste. Reforce o terceiro ponto: no documento do estudo de caso não existe UM cenário negativo sequer.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Use o fluxo de precificação da casa: o documento real pressupõe pelo menos seis situações (rascunho, encaminhada, em revisão, devolvida, revisada, enviada para aprovação) — e não formaliza nenhuma. A seta tracejada vermelha é proposital: a devolução existe no texto, mas ninguém disse se o comprador pode reencaminhar, quantas vezes, e o que o gerente vê depois. Cada seta sem regra é uma decisão que o dev tomará sozinho.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As setas são bidirecionais de propósito: dá para ir da história ao código E do código à história. Gancho para o estudo de caso: o documento real tinha rastreabilidade EXTERNA razoável (cards, sprint) e rastreabilidade INTERNA quebrada (IDs duplicados, referências cruzadas erradas) — os dois lados da moeda. Feche o Bloco 3: “especificar é isso; agora vejamos o que NÃO é papel do card”.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Bloco 4 — 20 min. Bloco curto e direto: uma galeria de anti-padrões para criar vocabulário comum (“isso aí é card-arquivo!”), e o antídoto de cada um.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 min. Peça exemplos reais da casa para 2 ou 3 anti-padrões (sem expor autores — a regra é “ri quem já fez”). O oitavo card (âmbar) é a mensagem construtiva: nada disso é proibido de existir; é proibido de morar no card. O slide seguinte traduz isso para o dia a dia do Jira.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Pergunte quantos desses cinco cheiros a plateia reconhece no Jira da casa — normalmente todos. Importante manter o tom construtivo: cheiro não é culpa de quem escreveu; é ausência de acordo sobre onde cada coisa mora. O acordo vem no fim do workshop.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Respiro antes do bloco prático. Cheque o relógio: aqui devem ter passado ~2h05 (com intervalo). Se estiver adiantado, abra 5 minutos para perguntas acumuladas antes das dinâmicas.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Bloco 5 — 35 min. É onde o workshop se paga: a teoria dos blocos 1–4 aplicada a um documento real da casa e duas dinâmicas curtas em grupo. Prepare: cópias impressas (ou projeção) do material das dinâmicas.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 min. Retome as respostas anotadas na abertura (slide 4) — mostre quais delas se materializaram aqui. Mantenha o anonimato do fornecedor; o objetivo é o padrão, não a culpa. Conecte cada falta ao bloco correspondente: critérios (3 C’s/Confirmation), regra ambígua (slide 24), estados (slide 28), IDs (slide 29). Quem quiser o detalhe completo: existe nota técnica com os 10 achados classificados por severidade, riscos e pauta de 12 esclarecimentos — disponibilize após o workshop.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 min (10 de produção + 5 de leitura). Gabarito de referência — reescrita: “Como Gerente de Suprimentos, quero revisar a precificação encaminhada pelo comprador, para validar o processo antes do envio à aprovação.” Critérios possíveis: (1) o gerente consegue ajustar o título antes do envio; (2) a justificativa é obrigatória no envio para aprovação; (3) [negativo] não é possível enviar para aprovação com a justificativa vazia — o sistema informa o campo pendente. INVEST violado na original: V (tela ≠ valor), T (“funcionar corretamente”), N (“conforme o anexo” fecha a conversa). Item 4: o detalhamento da tela e dos campos vai para a especificação; “atender o gerente” vira permissões.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 min (8 de decisão + 7 de discussão). Gabarito: 1 CARD — história legítima, com ator, ação e benefício. 2 ESPECIFICAÇÃO — validação de campo (na tabela de campos). 3 CATÁLOGO NFR — desempenho, vale para o produto. 4 LUGAR NENHUM (no card) — decisão técnica: vive na especificação técnica/documentação de arquitetura, decidida pelo time. 5 ESPECIFICAÇÃO — regra de negócio (invariante de cálculo). 6 LUGAR NENHUM como está — “intuitiva” não é testável; ou vira NFR de usabilidade mensurável (ex.: tarefa X concluída em Y passos) ou sai. 7 ESPECIFICAÇÃO — permissão por perfil (e o card da história correspondente a referencia). 8 ESPECIFICAÇÃO — texto de mensagem catalogado. Discussão rica: itens 2, 7 e 8 podem APARECER como critérios de aceite no card — mas o registro permanente é a especificação; o card aponta.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Este é o produto tangível do workshop: uma proposta inicial de DoR/DoD para levar aos times e ao fornecedor — cada cláusula nasceu de um anti-padrão visto hoje. Proponha: validar com os times em 2 semanas, pilotar num squad, revisar após uma sprint. Sem acordo operacional, o workshop vira palestra.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min. Retome os objetivos do slide 2 e as respostas da provocação inicial: o grupo agora tem vocabulário para responder cada uma. Cheque se algum objetivo ficou sem resposta e trate em aberto ou em follow-up.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min. Sugestão de trilha: gestores começam por Cohn (leitura acessível); quem escreve critérios, por Adzic; analistas de requisitos, por Sommerville. Os artigos de Jeffries e Wake são curtos e gratuitos na web — bons anexos para o convite de follow-up.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Agradeça, recolha um feedback relâmpago (“uma palavra sobre o workshop”) e combine o follow-up: enviar o PDF do deck, a nota técnica do estudo de caso e a proposta de DoR/DoD para validação com os times em duas semanas. Substitua o placeholder de contato antes de apresentar.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1.png"/><Relationship Id="rId4" Type="http://schemas.openxmlformats.org/officeDocument/2006/relationships/image" Target="../media/image-13-2.png"/><Relationship Id="rId5" Type="http://schemas.openxmlformats.org/officeDocument/2006/relationships/image" Target="../media/image-13-1.png"/><Relationship Id="rId6" Type="http://schemas.openxmlformats.org/officeDocument/2006/relationships/image" Target="../media/image-13-2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image" Target="../media/image-2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image" Target="../media/image-29-4.png"/><Relationship Id="rId5" Type="http://schemas.openxmlformats.org/officeDocument/2006/relationships/image" Target="../media/image-29-5.png"/><Relationship Id="rId6" Type="http://schemas.openxmlformats.org/officeDocument/2006/relationships/image" Target="../media/image-29-6.png"/><Relationship Id="rId7" Type="http://schemas.openxmlformats.org/officeDocument/2006/relationships/image" Target="../media/image-29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1.png"/><Relationship Id="rId3" Type="http://schemas.openxmlformats.org/officeDocument/2006/relationships/image" Target="../media/image-31-1.png"/><Relationship Id="rId4" Type="http://schemas.openxmlformats.org/officeDocument/2006/relationships/image" Target="../media/image-31-1.png"/><Relationship Id="rId5" Type="http://schemas.openxmlformats.org/officeDocument/2006/relationships/image" Target="../media/image-31-1.png"/><Relationship Id="rId6" Type="http://schemas.openxmlformats.org/officeDocument/2006/relationships/image" Target="../media/image-31-1.png"/><Relationship Id="rId7" Type="http://schemas.openxmlformats.org/officeDocument/2006/relationships/image" Target="../media/image-31-1.png"/><Relationship Id="rId8" Type="http://schemas.openxmlformats.org/officeDocument/2006/relationships/image" Target="../media/image-31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image" Target="../media/image-32-1.png"/><Relationship Id="rId4" Type="http://schemas.openxmlformats.org/officeDocument/2006/relationships/image" Target="../media/image-32-2.png"/><Relationship Id="rId5" Type="http://schemas.openxmlformats.org/officeDocument/2006/relationships/image" Target="../media/image-32-1.png"/><Relationship Id="rId6" Type="http://schemas.openxmlformats.org/officeDocument/2006/relationships/image" Target="../media/image-32-2.png"/><Relationship Id="rId7" Type="http://schemas.openxmlformats.org/officeDocument/2006/relationships/image" Target="../media/image-32-1.png"/><Relationship Id="rId8" Type="http://schemas.openxmlformats.org/officeDocument/2006/relationships/image" Target="../media/image-32-2.png"/><Relationship Id="rId9" Type="http://schemas.openxmlformats.org/officeDocument/2006/relationships/image" Target="../media/image-32-1.png"/><Relationship Id="rId10" Type="http://schemas.openxmlformats.org/officeDocument/2006/relationships/image" Target="../media/image-32-2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image" Target="../media/image-3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18872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· GESTÃO DE PRODUTO E REQUISITOS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822960" y="1600200"/>
            <a:ext cx="6858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22960" y="352044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card no Jira à especificação que sustenta o sistema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22960" y="4297680"/>
            <a:ext cx="1083564" cy="384048"/>
          </a:xfrm>
          <a:prstGeom prst="roundRect">
            <a:avLst>
              <a:gd name="adj" fmla="val 47619"/>
            </a:avLst>
          </a:prstGeom>
          <a:solidFill>
            <a:srgbClr val="E8A33D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4297680"/>
            <a:ext cx="10835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2h30 – 3h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071116" y="4297680"/>
            <a:ext cx="2171700" cy="384048"/>
          </a:xfrm>
          <a:prstGeom prst="roundRect">
            <a:avLst>
              <a:gd name="adj" fmla="val 47619"/>
            </a:avLst>
          </a:prstGeom>
          <a:solidFill>
            <a:srgbClr val="31497A"/>
          </a:solidFill>
          <a:ln/>
        </p:spPr>
      </p:sp>
      <p:sp>
        <p:nvSpPr>
          <p:cNvPr id="8" name="Text 6"/>
          <p:cNvSpPr/>
          <p:nvPr/>
        </p:nvSpPr>
        <p:spPr>
          <a:xfrm>
            <a:off x="2071116" y="4297680"/>
            <a:ext cx="21717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gestores e líderes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407408" y="4297680"/>
            <a:ext cx="1161288" cy="384048"/>
          </a:xfrm>
          <a:prstGeom prst="roundRect">
            <a:avLst>
              <a:gd name="adj" fmla="val 47619"/>
            </a:avLst>
          </a:prstGeom>
          <a:solidFill>
            <a:srgbClr val="31497A"/>
          </a:solidFill>
          <a:ln/>
        </p:spPr>
      </p:sp>
      <p:sp>
        <p:nvSpPr>
          <p:cNvPr id="10" name="Text 8"/>
          <p:cNvSpPr/>
          <p:nvPr/>
        </p:nvSpPr>
        <p:spPr>
          <a:xfrm>
            <a:off x="4407408" y="4297680"/>
            <a:ext cx="1161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CNI · Jira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22960" y="603504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de apoio: nota técnica de avaliação de artefato de requisitos (estudo de caso do Bloco 5)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909560" y="1143000"/>
            <a:ext cx="365760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7E2EF"/>
            </a:solidFill>
            <a:prstDash val="solid"/>
          </a:ln>
          <a:effectLst>
            <a:outerShdw sx="100000" sy="100000" kx="0" ky="0" algn="bl" rotWithShape="0" blurRad="88900" dist="25400" dir="5400000">
              <a:srgbClr val="16223B">
                <a:alpha val="2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110728" y="1325880"/>
            <a:ext cx="420624" cy="420624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14" name="Image 0" descr="/tmp/claude-0/-home-user-doc-template-engine/198c21fb-8b4a-5b3c-a787-7fafcb963965/scratchpad/workshop/icons/file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4296" y="1439448"/>
            <a:ext cx="193487" cy="193487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8686800" y="1307592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</a:t>
            </a:r>
            <a:pPr indent="0" marL="0">
              <a:buNone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Comprador,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686800" y="16367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quero </a:t>
            </a:r>
            <a:pPr indent="0" marL="0">
              <a:buNone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 a precificação da SC,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686800" y="2240280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</a:t>
            </a:r>
            <a:pPr indent="0" marL="0">
              <a:buNone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encaminhar o processo fundamentado.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183880" y="3154680"/>
            <a:ext cx="365760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7E2EF"/>
            </a:solidFill>
            <a:prstDash val="solid"/>
          </a:ln>
          <a:effectLst>
            <a:outerShdw sx="100000" sy="100000" kx="0" ky="0" algn="bl" rotWithShape="0" blurRad="88900" dist="25400" dir="5400000">
              <a:srgbClr val="16223B">
                <a:alpha val="20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8385048" y="3337560"/>
            <a:ext cx="420624" cy="420624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20" name="Image 1" descr="/tmp/claude-0/-home-user-doc-template-engine/198c21fb-8b4a-5b3c-a787-7fafcb963965/scratchpad/workshop/icons/file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8616" y="3451128"/>
            <a:ext cx="193487" cy="193487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8961120" y="3319272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</a:t>
            </a:r>
            <a:pPr indent="0" marL="0">
              <a:buNone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Gerente de Suprimentos,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8961120" y="364845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quero </a:t>
            </a:r>
            <a:pPr indent="0" marL="0">
              <a:buNone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revisar a precificação,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8961120" y="4251960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</a:t>
            </a:r>
            <a:pPr indent="0" marL="0">
              <a:buNone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validar antes da aprovação.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 DE PARTIDA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12064"/>
            <a:ext cx="11000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vamos levar deste workshop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6519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 — Workshop CNI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96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94360" y="1463040"/>
            <a:ext cx="5394960" cy="2103120"/>
          </a:xfrm>
          <a:prstGeom prst="roundRect">
            <a:avLst>
              <a:gd name="adj" fmla="val 3913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682496"/>
            <a:ext cx="512064" cy="512064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8" name="Image 0" descr="/tmp/claude-0/-home-user-doc-template-engine/198c21fb-8b4a-5b3c-a787-7fafcb963965/scratchpad/workshop/icons/zap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1217" y="1820753"/>
            <a:ext cx="235549" cy="235549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490472" y="1682496"/>
            <a:ext cx="4297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Origem e propósito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850392" y="2331720"/>
            <a:ext cx="488289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Entender de onde vêm as histórias de usuário (XP, 1999) e para que elas servem de verdade: planejar e conversar.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208776" y="1463040"/>
            <a:ext cx="5394960" cy="2103120"/>
          </a:xfrm>
          <a:prstGeom prst="roundRect">
            <a:avLst>
              <a:gd name="adj" fmla="val 3913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437376" y="1682496"/>
            <a:ext cx="512064" cy="512064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13" name="Image 1" descr="/tmp/claude-0/-home-user-doc-template-engine/198c21fb-8b4a-5b3c-a787-7fafcb963965/scratchpad/workshop/icons/columns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5633" y="1820753"/>
            <a:ext cx="235549" cy="235549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104888" y="1682496"/>
            <a:ext cx="4297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 ≠ documentação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64808" y="2331720"/>
            <a:ext cx="488289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Distinguir os papéis de cada artefato: planejar não é especificar, e card não é contrato nem memória do sistema.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594360" y="3840480"/>
            <a:ext cx="5394960" cy="2103120"/>
          </a:xfrm>
          <a:prstGeom prst="roundRect">
            <a:avLst>
              <a:gd name="adj" fmla="val 3913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822960" y="4059936"/>
            <a:ext cx="512064" cy="512064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18" name="Image 2" descr="/tmp/claude-0/-home-user-doc-template-engine/198c21fb-8b4a-5b3c-a787-7fafcb963965/scratchpad/workshop/icons/layers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1217" y="4198193"/>
            <a:ext cx="235549" cy="235549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490472" y="4059936"/>
            <a:ext cx="4297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Documentação com engenharia</a:t>
            </a:r>
            <a:endParaRPr lang="en-US" sz="1600" dirty="0"/>
          </a:p>
        </p:txBody>
      </p:sp>
      <p:sp>
        <p:nvSpPr>
          <p:cNvPr id="20" name="Text 15"/>
          <p:cNvSpPr/>
          <p:nvPr/>
        </p:nvSpPr>
        <p:spPr>
          <a:xfrm>
            <a:off x="850392" y="4709160"/>
            <a:ext cx="488289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Saber o que uma documentação de sistema precisa ter para sustentar construção, teste, aceite e manutenção.</a:t>
            </a:r>
            <a:endParaRPr lang="en-US" sz="1250" dirty="0"/>
          </a:p>
        </p:txBody>
      </p:sp>
      <p:sp>
        <p:nvSpPr>
          <p:cNvPr id="21" name="Shape 16"/>
          <p:cNvSpPr/>
          <p:nvPr/>
        </p:nvSpPr>
        <p:spPr>
          <a:xfrm>
            <a:off x="6208776" y="3840480"/>
            <a:ext cx="5394960" cy="2103120"/>
          </a:xfrm>
          <a:prstGeom prst="roundRect">
            <a:avLst>
              <a:gd name="adj" fmla="val 3913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6437376" y="4059936"/>
            <a:ext cx="512064" cy="512064"/>
          </a:xfrm>
          <a:prstGeom prst="ellipse">
            <a:avLst/>
          </a:prstGeom>
          <a:solidFill>
            <a:srgbClr val="B2492F"/>
          </a:solidFill>
          <a:ln/>
        </p:spPr>
      </p:sp>
      <p:pic>
        <p:nvPicPr>
          <p:cNvPr id="23" name="Image 3" descr="/tmp/claude-0/-home-user-doc-template-engine/198c21fb-8b4a-5b3c-a787-7fafcb963965/scratchpad/workshop/icons/xcircle-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5633" y="4198193"/>
            <a:ext cx="235549" cy="235549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7104888" y="4059936"/>
            <a:ext cx="4297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Anti-padrões no Jira</a:t>
            </a:r>
            <a:endParaRPr lang="en-US" sz="1600" dirty="0"/>
          </a:p>
        </p:txBody>
      </p:sp>
      <p:sp>
        <p:nvSpPr>
          <p:cNvPr id="25" name="Text 19"/>
          <p:cNvSpPr/>
          <p:nvPr/>
        </p:nvSpPr>
        <p:spPr>
          <a:xfrm>
            <a:off x="6464808" y="4709160"/>
            <a:ext cx="488289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Reconhecer o que não deve estar num card — e saber para onde levar cada tipo de conteúdo.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ROTEIRO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12064"/>
            <a:ext cx="11000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 — três horas bem gastas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6519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 — Workshop CNI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96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94360" y="1389888"/>
            <a:ext cx="731520" cy="457200"/>
          </a:xfrm>
          <a:prstGeom prst="roundRect">
            <a:avLst>
              <a:gd name="adj" fmla="val 24000"/>
            </a:avLst>
          </a:prstGeom>
          <a:solidFill>
            <a:srgbClr val="EEF3FA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38988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10’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508760" y="138988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Abertura e provocação</a:t>
            </a:r>
            <a:pPr indent="0" marL="0">
              <a:buNone/>
            </a:pPr>
            <a:r>
              <a:rPr lang="en-US" sz="13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expectativas e a pergunta que guia o dia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94360" y="2016252"/>
            <a:ext cx="731520" cy="457200"/>
          </a:xfrm>
          <a:prstGeom prst="roundRect">
            <a:avLst>
              <a:gd name="adj" fmla="val 24000"/>
            </a:avLst>
          </a:prstGeom>
          <a:solidFill>
            <a:srgbClr val="EEF3FA"/>
          </a:solidFill>
          <a:ln/>
        </p:spPr>
      </p:sp>
      <p:sp>
        <p:nvSpPr>
          <p:cNvPr id="10" name="Text 8"/>
          <p:cNvSpPr/>
          <p:nvPr/>
        </p:nvSpPr>
        <p:spPr>
          <a:xfrm>
            <a:off x="594360" y="2016252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40’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508760" y="201625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1 · Origem e anatomia da história</a:t>
            </a:r>
            <a:pPr indent="0" marL="0">
              <a:buNone/>
            </a:pPr>
            <a:r>
              <a:rPr lang="en-US" sz="13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XP, 3 C’s, formato Connextra, INVEST, hierarquia no Jira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94360" y="2642616"/>
            <a:ext cx="731520" cy="457200"/>
          </a:xfrm>
          <a:prstGeom prst="roundRect">
            <a:avLst>
              <a:gd name="adj" fmla="val 24000"/>
            </a:avLst>
          </a:prstGeom>
          <a:solidFill>
            <a:srgbClr val="EEF3FA"/>
          </a:solidFill>
          <a:ln/>
        </p:spPr>
      </p:sp>
      <p:sp>
        <p:nvSpPr>
          <p:cNvPr id="13" name="Text 11"/>
          <p:cNvSpPr/>
          <p:nvPr/>
        </p:nvSpPr>
        <p:spPr>
          <a:xfrm>
            <a:off x="594360" y="2642616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30’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508760" y="26426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2 · História não é documentação</a:t>
            </a:r>
            <a:pPr indent="0" marL="0">
              <a:buNone/>
            </a:pPr>
            <a:r>
              <a:rPr lang="en-US" sz="13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papéis, vida útil e o mito do “ágil não documenta”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94360" y="3268980"/>
            <a:ext cx="731520" cy="457200"/>
          </a:xfrm>
          <a:prstGeom prst="roundRect">
            <a:avLst>
              <a:gd name="adj" fmla="val 24000"/>
            </a:avLst>
          </a:prstGeom>
          <a:solidFill>
            <a:srgbClr val="E8A33D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26898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15’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508760" y="32689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Intervalo</a:t>
            </a:r>
            <a:pPr indent="0" marL="0">
              <a:buNone/>
            </a:pPr>
            <a:r>
              <a:rPr lang="en-US" sz="13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café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8942832" y="3250692"/>
            <a:ext cx="457200" cy="457200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19" name="Image 0" descr="/tmp/claude-0/-home-user-doc-template-engine/198c21fb-8b4a-5b3c-a787-7fafcb963965/scratchpad/workshop/icons/coffee-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66276" y="3374136"/>
            <a:ext cx="210312" cy="210312"/>
          </a:xfrm>
          <a:prstGeom prst="rect">
            <a:avLst/>
          </a:prstGeom>
        </p:spPr>
      </p:pic>
      <p:sp>
        <p:nvSpPr>
          <p:cNvPr id="20" name="Shape 17"/>
          <p:cNvSpPr/>
          <p:nvPr/>
        </p:nvSpPr>
        <p:spPr>
          <a:xfrm>
            <a:off x="594360" y="3895344"/>
            <a:ext cx="731520" cy="457200"/>
          </a:xfrm>
          <a:prstGeom prst="roundRect">
            <a:avLst>
              <a:gd name="adj" fmla="val 24000"/>
            </a:avLst>
          </a:prstGeom>
          <a:solidFill>
            <a:srgbClr val="EEF3FA"/>
          </a:solidFill>
          <a:ln/>
        </p:spPr>
      </p:sp>
      <p:sp>
        <p:nvSpPr>
          <p:cNvPr id="21" name="Text 18"/>
          <p:cNvSpPr/>
          <p:nvPr/>
        </p:nvSpPr>
        <p:spPr>
          <a:xfrm>
            <a:off x="594360" y="3895344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40’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1508760" y="3895344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3 · O que a documentação precisa ter</a:t>
            </a:r>
            <a:pPr indent="0" marL="0">
              <a:buNone/>
            </a:pPr>
            <a:r>
              <a:rPr lang="en-US" sz="13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engenharia de requisitos, 8 componentes, Gherkin, estados</a:t>
            </a:r>
            <a:endParaRPr lang="en-US" sz="1350" dirty="0"/>
          </a:p>
        </p:txBody>
      </p:sp>
      <p:sp>
        <p:nvSpPr>
          <p:cNvPr id="23" name="Shape 20"/>
          <p:cNvSpPr/>
          <p:nvPr/>
        </p:nvSpPr>
        <p:spPr>
          <a:xfrm>
            <a:off x="594360" y="4521708"/>
            <a:ext cx="731520" cy="457200"/>
          </a:xfrm>
          <a:prstGeom prst="roundRect">
            <a:avLst>
              <a:gd name="adj" fmla="val 24000"/>
            </a:avLst>
          </a:prstGeom>
          <a:solidFill>
            <a:srgbClr val="EEF3FA"/>
          </a:solidFill>
          <a:ln/>
        </p:spPr>
      </p:sp>
      <p:sp>
        <p:nvSpPr>
          <p:cNvPr id="24" name="Text 21"/>
          <p:cNvSpPr/>
          <p:nvPr/>
        </p:nvSpPr>
        <p:spPr>
          <a:xfrm>
            <a:off x="594360" y="452170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20’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1508760" y="452170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4 · O que não entra num card</a:t>
            </a:r>
            <a:pPr indent="0" marL="0">
              <a:buNone/>
            </a:pPr>
            <a:r>
              <a:rPr lang="en-US" sz="13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sete anti-padrões e os cheiros no Jira</a:t>
            </a:r>
            <a:endParaRPr lang="en-US" sz="1350" dirty="0"/>
          </a:p>
        </p:txBody>
      </p:sp>
      <p:sp>
        <p:nvSpPr>
          <p:cNvPr id="26" name="Shape 23"/>
          <p:cNvSpPr/>
          <p:nvPr/>
        </p:nvSpPr>
        <p:spPr>
          <a:xfrm>
            <a:off x="594360" y="5148072"/>
            <a:ext cx="731520" cy="457200"/>
          </a:xfrm>
          <a:prstGeom prst="roundRect">
            <a:avLst>
              <a:gd name="adj" fmla="val 24000"/>
            </a:avLst>
          </a:prstGeom>
          <a:solidFill>
            <a:srgbClr val="EEF3FA"/>
          </a:solidFill>
          <a:ln/>
        </p:spPr>
      </p:sp>
      <p:sp>
        <p:nvSpPr>
          <p:cNvPr id="27" name="Text 24"/>
          <p:cNvSpPr/>
          <p:nvPr/>
        </p:nvSpPr>
        <p:spPr>
          <a:xfrm>
            <a:off x="594360" y="5148072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35’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1508760" y="514807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5 · Estudo de caso e dinâmicas</a:t>
            </a:r>
            <a:pPr indent="0" marL="0">
              <a:buNone/>
            </a:pPr>
            <a:r>
              <a:rPr lang="en-US" sz="13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um documento real + duas dinâmicas em grupo</a:t>
            </a:r>
            <a:endParaRPr lang="en-US" sz="1350" dirty="0"/>
          </a:p>
        </p:txBody>
      </p:sp>
      <p:sp>
        <p:nvSpPr>
          <p:cNvPr id="29" name="Shape 26"/>
          <p:cNvSpPr/>
          <p:nvPr/>
        </p:nvSpPr>
        <p:spPr>
          <a:xfrm>
            <a:off x="594360" y="5774436"/>
            <a:ext cx="731520" cy="457200"/>
          </a:xfrm>
          <a:prstGeom prst="roundRect">
            <a:avLst>
              <a:gd name="adj" fmla="val 24000"/>
            </a:avLst>
          </a:prstGeom>
          <a:solidFill>
            <a:srgbClr val="EEF3FA"/>
          </a:solidFill>
          <a:ln/>
        </p:spPr>
      </p:sp>
      <p:sp>
        <p:nvSpPr>
          <p:cNvPr id="30" name="Text 27"/>
          <p:cNvSpPr/>
          <p:nvPr/>
        </p:nvSpPr>
        <p:spPr>
          <a:xfrm>
            <a:off x="594360" y="5774436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10’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1508760" y="577443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Síntese e acordo de trabalho</a:t>
            </a:r>
            <a:pPr indent="0" marL="0">
              <a:buNone/>
            </a:pPr>
            <a:r>
              <a:rPr lang="en-US" sz="13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DoR/DoD proposto e próximos passos</a:t>
            </a:r>
            <a:endParaRPr lang="en-US" sz="1350" dirty="0"/>
          </a:p>
        </p:txBody>
      </p:sp>
      <p:sp>
        <p:nvSpPr>
          <p:cNvPr id="32" name="Shape 29"/>
          <p:cNvSpPr/>
          <p:nvPr/>
        </p:nvSpPr>
        <p:spPr>
          <a:xfrm>
            <a:off x="9829800" y="1389888"/>
            <a:ext cx="1764792" cy="4846320"/>
          </a:xfrm>
          <a:prstGeom prst="roundRect">
            <a:avLst>
              <a:gd name="adj" fmla="val 5181"/>
            </a:avLst>
          </a:prstGeom>
          <a:solidFill>
            <a:srgbClr val="1B2A4A"/>
          </a:solidFill>
          <a:ln/>
        </p:spPr>
      </p:sp>
      <p:sp>
        <p:nvSpPr>
          <p:cNvPr id="33" name="Text 30"/>
          <p:cNvSpPr/>
          <p:nvPr/>
        </p:nvSpPr>
        <p:spPr>
          <a:xfrm>
            <a:off x="9829800" y="2103120"/>
            <a:ext cx="1764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3h</a:t>
            </a:r>
            <a:endParaRPr lang="en-US" sz="4000" dirty="0"/>
          </a:p>
        </p:txBody>
      </p:sp>
      <p:sp>
        <p:nvSpPr>
          <p:cNvPr id="34" name="Text 31"/>
          <p:cNvSpPr/>
          <p:nvPr/>
        </p:nvSpPr>
        <p:spPr>
          <a:xfrm>
            <a:off x="9829800" y="2971800"/>
            <a:ext cx="1764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intervalo</a:t>
            </a:r>
            <a:endParaRPr lang="en-US" sz="1150" dirty="0"/>
          </a:p>
        </p:txBody>
      </p:sp>
      <p:sp>
        <p:nvSpPr>
          <p:cNvPr id="35" name="Text 32"/>
          <p:cNvSpPr/>
          <p:nvPr/>
        </p:nvSpPr>
        <p:spPr>
          <a:xfrm>
            <a:off x="9921240" y="3977640"/>
            <a:ext cx="158191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Versão 2h: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encurte o Bloco 3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uma dinâmica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(ver notas)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</a:t>
            </a:r>
            <a:endParaRPr lang="en-US" sz="11000" dirty="0"/>
          </a:p>
        </p:txBody>
      </p:sp>
      <p:sp>
        <p:nvSpPr>
          <p:cNvPr id="3" name="Text 1"/>
          <p:cNvSpPr/>
          <p:nvPr/>
        </p:nvSpPr>
        <p:spPr>
          <a:xfrm>
            <a:off x="1554480" y="1234440"/>
            <a:ext cx="9326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história de usuário é um lembrete para uma conversa — não uma especificação em miniatura.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554480" y="3017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síntese de Alistair Cockburn e Ron Jeffries (XP, 2001)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554480" y="3977640"/>
            <a:ext cx="9098280" cy="1371600"/>
          </a:xfrm>
          <a:prstGeom prst="roundRect">
            <a:avLst>
              <a:gd name="adj" fmla="val 6667"/>
            </a:avLst>
          </a:prstGeom>
          <a:solidFill>
            <a:srgbClr val="24365E"/>
          </a:solidFill>
          <a:ln/>
        </p:spPr>
      </p:sp>
      <p:sp>
        <p:nvSpPr>
          <p:cNvPr id="6" name="Shape 4"/>
          <p:cNvSpPr/>
          <p:nvPr/>
        </p:nvSpPr>
        <p:spPr>
          <a:xfrm>
            <a:off x="1828800" y="4370832"/>
            <a:ext cx="566928" cy="566928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7" name="Image 0" descr="/tmp/claude-0/-home-user-doc-template-engine/198c21fb-8b4a-5b3c-a787-7fafcb963965/scratchpad/workshop/icons/help-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81871" y="4523903"/>
            <a:ext cx="260787" cy="260787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606040" y="4160520"/>
            <a:ext cx="7863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discutir agora: o que acontece quando tratamos um card do Jira como se fosse a especificação do sistema?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0515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640080" y="1280160"/>
            <a:ext cx="3291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7000" dirty="0"/>
          </a:p>
        </p:txBody>
      </p:sp>
      <p:sp>
        <p:nvSpPr>
          <p:cNvPr id="4" name="Text 2"/>
          <p:cNvSpPr/>
          <p:nvPr/>
        </p:nvSpPr>
        <p:spPr>
          <a:xfrm>
            <a:off x="4206240" y="1965960"/>
            <a:ext cx="7315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onde vêm as</a:t>
            </a:r>
            <a:endParaRPr lang="en-US" sz="3700" dirty="0"/>
          </a:p>
          <a:p>
            <a:pPr indent="0" marL="0">
              <a:buNone/>
            </a:pPr>
            <a:r>
              <a:rPr lang="en-US" sz="3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4251960" y="3794760"/>
            <a:ext cx="2291486" cy="402336"/>
          </a:xfrm>
          <a:prstGeom prst="roundRect">
            <a:avLst>
              <a:gd name="adj" fmla="val 50000"/>
            </a:avLst>
          </a:prstGeom>
          <a:solidFill>
            <a:srgbClr val="31497A"/>
          </a:solidFill>
          <a:ln/>
        </p:spPr>
      </p:sp>
      <p:sp>
        <p:nvSpPr>
          <p:cNvPr id="6" name="Text 4"/>
          <p:cNvSpPr/>
          <p:nvPr/>
        </p:nvSpPr>
        <p:spPr>
          <a:xfrm>
            <a:off x="4251960" y="3794760"/>
            <a:ext cx="229148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XP e o Jogo do Planejamento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689750" y="3794760"/>
            <a:ext cx="936346" cy="402336"/>
          </a:xfrm>
          <a:prstGeom prst="roundRect">
            <a:avLst>
              <a:gd name="adj" fmla="val 50000"/>
            </a:avLst>
          </a:prstGeom>
          <a:solidFill>
            <a:srgbClr val="31497A"/>
          </a:solidFill>
          <a:ln/>
        </p:spPr>
      </p:sp>
      <p:sp>
        <p:nvSpPr>
          <p:cNvPr id="8" name="Text 6"/>
          <p:cNvSpPr/>
          <p:nvPr/>
        </p:nvSpPr>
        <p:spPr>
          <a:xfrm>
            <a:off x="6689750" y="3794760"/>
            <a:ext cx="93634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3 C’s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7772400" y="3794760"/>
            <a:ext cx="1578254" cy="402336"/>
          </a:xfrm>
          <a:prstGeom prst="roundRect">
            <a:avLst>
              <a:gd name="adj" fmla="val 50000"/>
            </a:avLst>
          </a:prstGeom>
          <a:solidFill>
            <a:srgbClr val="31497A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0" y="3794760"/>
            <a:ext cx="15782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formato Connextra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9496958" y="3794760"/>
            <a:ext cx="793699" cy="402336"/>
          </a:xfrm>
          <a:prstGeom prst="roundRect">
            <a:avLst>
              <a:gd name="adj" fmla="val 50000"/>
            </a:avLst>
          </a:prstGeom>
          <a:solidFill>
            <a:srgbClr val="31497A"/>
          </a:solidFill>
          <a:ln/>
        </p:spPr>
      </p:sp>
      <p:sp>
        <p:nvSpPr>
          <p:cNvPr id="12" name="Text 10"/>
          <p:cNvSpPr/>
          <p:nvPr/>
        </p:nvSpPr>
        <p:spPr>
          <a:xfrm>
            <a:off x="9496958" y="3794760"/>
            <a:ext cx="79369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251960" y="4325112"/>
            <a:ext cx="2077517" cy="402336"/>
          </a:xfrm>
          <a:prstGeom prst="roundRect">
            <a:avLst>
              <a:gd name="adj" fmla="val 50000"/>
            </a:avLst>
          </a:prstGeom>
          <a:solidFill>
            <a:srgbClr val="31497A"/>
          </a:solidFill>
          <a:ln/>
        </p:spPr>
      </p:sp>
      <p:sp>
        <p:nvSpPr>
          <p:cNvPr id="14" name="Text 12"/>
          <p:cNvSpPr/>
          <p:nvPr/>
        </p:nvSpPr>
        <p:spPr>
          <a:xfrm>
            <a:off x="4251960" y="4325112"/>
            <a:ext cx="207751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épico e história no Jira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251960" y="4892040"/>
            <a:ext cx="1417320" cy="420624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/>
        </p:spPr>
      </p:sp>
      <p:sp>
        <p:nvSpPr>
          <p:cNvPr id="16" name="Text 14"/>
          <p:cNvSpPr/>
          <p:nvPr/>
        </p:nvSpPr>
        <p:spPr>
          <a:xfrm>
            <a:off x="4251960" y="4892040"/>
            <a:ext cx="1417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40 min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1 · ORIGEM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12064"/>
            <a:ext cx="11000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origem: Extreme Programming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6519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 — Workshop CNI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96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94360" y="1417320"/>
            <a:ext cx="512064" cy="512064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7" name="Image 0" descr="/tmp/claude-0/-home-user-doc-template-engine/198c21fb-8b4a-5b3c-a787-7fafcb963965/scratchpad/workshop/icons/flag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2617" y="1555577"/>
            <a:ext cx="235549" cy="235549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298448" y="1380744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1996–1999 · projeto C3, Chrysler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1298448" y="1709928"/>
            <a:ext cx="5577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Kent Beck lidera a folha de pagamento da Chrysler — o berço do XP.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94360" y="2624328"/>
            <a:ext cx="512064" cy="512064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11" name="Image 1" descr="/tmp/claude-0/-home-user-doc-template-engine/198c21fb-8b4a-5b3c-a787-7fafcb963965/scratchpad/workshop/icons/book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2617" y="2762585"/>
            <a:ext cx="235549" cy="23554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298448" y="2587752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1999 · Extreme Programming Explained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1298448" y="2916936"/>
            <a:ext cx="5577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Requisitos viram histórias no Jogo do Planejamento (Planning Game): o cliente escreve, o time estima, o negócio prioriza.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594360" y="3831336"/>
            <a:ext cx="512064" cy="512064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15" name="Image 2" descr="/tmp/claude-0/-home-user-doc-template-engine/198c21fb-8b4a-5b3c-a787-7fafcb963965/scratchpad/workshop/icons/users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617" y="3969593"/>
            <a:ext cx="235549" cy="23554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298448" y="3794760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Escrita pelo cliente, em linguagem de negócio</a:t>
            </a:r>
            <a:endParaRPr lang="en-US" sz="1450" dirty="0"/>
          </a:p>
        </p:txBody>
      </p:sp>
      <p:sp>
        <p:nvSpPr>
          <p:cNvPr id="17" name="Text 12"/>
          <p:cNvSpPr/>
          <p:nvPr/>
        </p:nvSpPr>
        <p:spPr>
          <a:xfrm>
            <a:off x="1298448" y="4123944"/>
            <a:ext cx="5577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história pertence a quem precisa do resultado — não ao programador.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594360" y="5038344"/>
            <a:ext cx="512064" cy="512064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19" name="Image 3" descr="/tmp/claude-0/-home-user-doc-template-engine/198c21fb-8b4a-5b3c-a787-7fafcb963965/scratchpad/workshop/icons/file-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2617" y="5176601"/>
            <a:ext cx="235549" cy="235549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1298448" y="5001768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Cabe num cartão de papel — de propósito</a:t>
            </a:r>
            <a:endParaRPr lang="en-US" sz="1450" dirty="0"/>
          </a:p>
        </p:txBody>
      </p:sp>
      <p:sp>
        <p:nvSpPr>
          <p:cNvPr id="21" name="Text 15"/>
          <p:cNvSpPr/>
          <p:nvPr/>
        </p:nvSpPr>
        <p:spPr>
          <a:xfrm>
            <a:off x="1298448" y="5330952"/>
            <a:ext cx="5577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cartão limita o detalhe fisicamente e força a conversa a acontecer.</a:t>
            </a:r>
            <a:endParaRPr lang="en-US" sz="1250" dirty="0"/>
          </a:p>
        </p:txBody>
      </p:sp>
      <p:sp>
        <p:nvSpPr>
          <p:cNvPr id="22" name="Shape 16"/>
          <p:cNvSpPr/>
          <p:nvPr/>
        </p:nvSpPr>
        <p:spPr>
          <a:xfrm>
            <a:off x="7360920" y="1554480"/>
            <a:ext cx="4251960" cy="3291840"/>
          </a:xfrm>
          <a:prstGeom prst="roundRect">
            <a:avLst>
              <a:gd name="adj" fmla="val 1667"/>
            </a:avLst>
          </a:prstGeom>
          <a:solidFill>
            <a:srgbClr val="FBF0DC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7635240" y="1783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77F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História nº 12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7635240" y="2212848"/>
            <a:ext cx="3703320" cy="0"/>
          </a:xfrm>
          <a:prstGeom prst="line">
            <a:avLst/>
          </a:prstGeom>
          <a:noFill/>
          <a:ln w="12700">
            <a:solidFill>
              <a:srgbClr val="E8A33D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7635240" y="237744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253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funcionário consulta o próprio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253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contracheque do mês.</a:t>
            </a:r>
            <a:endParaRPr lang="en-US" sz="1500" dirty="0"/>
          </a:p>
        </p:txBody>
      </p:sp>
      <p:sp>
        <p:nvSpPr>
          <p:cNvPr id="26" name="Shape 20"/>
          <p:cNvSpPr/>
          <p:nvPr/>
        </p:nvSpPr>
        <p:spPr>
          <a:xfrm>
            <a:off x="7635240" y="3429000"/>
            <a:ext cx="3703320" cy="0"/>
          </a:xfrm>
          <a:prstGeom prst="line">
            <a:avLst/>
          </a:prstGeom>
          <a:noFill/>
          <a:ln w="12700">
            <a:solidFill>
              <a:srgbClr val="E8A33D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7635240" y="356616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8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estimativa: 2 pontos  ·  prioridade: alta</a:t>
            </a:r>
            <a:endParaRPr lang="en-US" sz="1200" dirty="0"/>
          </a:p>
        </p:txBody>
      </p:sp>
      <p:sp>
        <p:nvSpPr>
          <p:cNvPr id="28" name="Text 22"/>
          <p:cNvSpPr/>
          <p:nvPr/>
        </p:nvSpPr>
        <p:spPr>
          <a:xfrm>
            <a:off x="7360920" y="5074920"/>
            <a:ext cx="4251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história cabia num cartão de 10 × 15 cm — e isso era o mecanismo, não uma limitação.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1 · CONCEITO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12064"/>
            <a:ext cx="11000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que serve uma história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6519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 — Workshop CNI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96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94360" y="1371600"/>
            <a:ext cx="110002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Planejar e conversar</a:t>
            </a:r>
            <a:pPr indent="0" marL="0">
              <a:buNone/>
            </a:pPr>
            <a:r>
              <a:rPr lang="en-US" sz="2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não registrar.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94360" y="2240280"/>
            <a:ext cx="3538728" cy="3108960"/>
          </a:xfrm>
          <a:prstGeom prst="roundRect">
            <a:avLst>
              <a:gd name="adj" fmla="val 2647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2459736"/>
            <a:ext cx="512064" cy="512064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9" name="Image 0" descr="/tmp/claude-0/-home-user-doc-template-engine/198c21fb-8b4a-5b3c-a787-7fafcb963965/scratchpad/workshop/icons/flag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1217" y="2597993"/>
            <a:ext cx="235549" cy="235549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490472" y="2459736"/>
            <a:ext cx="24414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de planejamento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850392" y="3108960"/>
            <a:ext cx="302666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o item que se estima, se prioriza e se negocia, sprint a sprint. A história existe para ordenar o trabalho por valor.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4325112" y="2240280"/>
            <a:ext cx="3538728" cy="3108960"/>
          </a:xfrm>
          <a:prstGeom prst="roundRect">
            <a:avLst>
              <a:gd name="adj" fmla="val 2647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553712" y="2459736"/>
            <a:ext cx="512064" cy="512064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14" name="Image 1" descr="/tmp/claude-0/-home-user-doc-template-engine/198c21fb-8b4a-5b3c-a787-7fafcb963965/scratchpad/workshop/icons/message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1969" y="2597993"/>
            <a:ext cx="235549" cy="235549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221224" y="2459736"/>
            <a:ext cx="24414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Convite à conversa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4581144" y="3108960"/>
            <a:ext cx="302666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texto é o começo, não o fim. “A promise for a conversation” (Cockburn): os detalhes surgem na conversa certa, na hora certa.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8055864" y="2240280"/>
            <a:ext cx="3538728" cy="3108960"/>
          </a:xfrm>
          <a:prstGeom prst="roundRect">
            <a:avLst>
              <a:gd name="adj" fmla="val 2647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8284464" y="2459736"/>
            <a:ext cx="512064" cy="512064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19" name="Image 2" descr="/tmp/claude-0/-home-user-doc-template-engine/198c21fb-8b4a-5b3c-a787-7fafcb963965/scratchpad/workshop/icons/target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2721" y="2597993"/>
            <a:ext cx="235549" cy="235549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951976" y="2459736"/>
            <a:ext cx="24414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Fatia fina de valor</a:t>
            </a:r>
            <a:endParaRPr lang="en-US" sz="1500" dirty="0"/>
          </a:p>
        </p:txBody>
      </p:sp>
      <p:sp>
        <p:nvSpPr>
          <p:cNvPr id="21" name="Text 16"/>
          <p:cNvSpPr/>
          <p:nvPr/>
        </p:nvSpPr>
        <p:spPr>
          <a:xfrm>
            <a:off x="8311896" y="3108960"/>
            <a:ext cx="302666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história entrega um resultado observável para alguém — nunca uma camada técnica ou uma tela pela metade.</a:t>
            </a:r>
            <a:endParaRPr lang="en-US" sz="1250" dirty="0"/>
          </a:p>
        </p:txBody>
      </p:sp>
      <p:sp>
        <p:nvSpPr>
          <p:cNvPr id="22" name="Text 17"/>
          <p:cNvSpPr/>
          <p:nvPr/>
        </p:nvSpPr>
        <p:spPr>
          <a:xfrm>
            <a:off x="594360" y="5669280"/>
            <a:ext cx="11000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C77F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 incompleta não é defeito da história — é a característica que a faz funcionar.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1 · FORMA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12064"/>
            <a:ext cx="11000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formato clássico — Connextra, 2001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6519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 — Workshop CNI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96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246120" y="1600200"/>
            <a:ext cx="566928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7E2EF"/>
            </a:solidFill>
            <a:prstDash val="solid"/>
          </a:ln>
          <a:effectLst>
            <a:outerShdw sx="100000" sy="100000" kx="0" ky="0" algn="bl" rotWithShape="0" blurRad="88900" dist="25400" dir="5400000">
              <a:srgbClr val="16223B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447288" y="1783080"/>
            <a:ext cx="420624" cy="420624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8" name="Image 0" descr="/tmp/claude-0/-home-user-doc-template-engine/198c21fb-8b4a-5b3c-a787-7fafcb963965/scratchpad/workshop/icons/file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60856" y="1896648"/>
            <a:ext cx="193487" cy="193487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023360" y="1764792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</a:t>
            </a:r>
            <a:pPr indent="0" marL="0">
              <a:buNone/>
            </a:pPr>
            <a:r>
              <a:rPr lang="en-US" sz="15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Comprador,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023360" y="2203704"/>
            <a:ext cx="4709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quero </a:t>
            </a:r>
            <a:pPr indent="0" marL="0">
              <a:buNone/>
            </a:pPr>
            <a:r>
              <a:rPr lang="en-US" sz="15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 a precificação de uma Solicitação de Compra,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4023360" y="3072384"/>
            <a:ext cx="4709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</a:t>
            </a:r>
            <a:pPr indent="0" marL="0">
              <a:buNone/>
            </a:pPr>
            <a:r>
              <a:rPr lang="en-US" sz="15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encaminhar o processo à aprovação com valores fundamentados.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594360" y="1600200"/>
            <a:ext cx="457200" cy="457200"/>
          </a:xfrm>
          <a:prstGeom prst="ellipse">
            <a:avLst/>
          </a:prstGeom>
          <a:solidFill>
            <a:srgbClr val="C77F1A"/>
          </a:solidFill>
          <a:ln/>
        </p:spPr>
      </p:sp>
      <p:pic>
        <p:nvPicPr>
          <p:cNvPr id="13" name="Image 1" descr="/tmp/claude-0/-home-user-doc-template-engine/198c21fb-8b4a-5b3c-a787-7fafcb963965/scratchpad/workshop/icons/users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804" y="1723644"/>
            <a:ext cx="210312" cy="21031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94360" y="210312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594360" y="2377440"/>
            <a:ext cx="2331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papel que recebe o valor — uma pessoa ou perfil, nunca “o sistema”.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9281160" y="1600200"/>
            <a:ext cx="457200" cy="457200"/>
          </a:xfrm>
          <a:prstGeom prst="ellipse">
            <a:avLst/>
          </a:prstGeom>
          <a:solidFill>
            <a:srgbClr val="C77F1A"/>
          </a:solidFill>
          <a:ln/>
        </p:spPr>
      </p:sp>
      <p:pic>
        <p:nvPicPr>
          <p:cNvPr id="17" name="Image 2" descr="/tmp/claude-0/-home-user-doc-template-engine/198c21fb-8b4a-5b3c-a787-7fafcb963965/scratchpad/workshop/icons/zap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04604" y="1723644"/>
            <a:ext cx="210312" cy="21031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9281160" y="210312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QUÊ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9281160" y="2377440"/>
            <a:ext cx="2331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ação de negócio: um verbo com resultado observável.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9281160" y="3657600"/>
            <a:ext cx="457200" cy="457200"/>
          </a:xfrm>
          <a:prstGeom prst="ellipse">
            <a:avLst/>
          </a:prstGeom>
          <a:solidFill>
            <a:srgbClr val="C77F1A"/>
          </a:solidFill>
          <a:ln/>
        </p:spPr>
      </p:sp>
      <p:pic>
        <p:nvPicPr>
          <p:cNvPr id="21" name="Image 3" descr="/tmp/claude-0/-home-user-doc-template-engine/198c21fb-8b4a-5b3c-a787-7fafcb963965/scratchpad/workshop/icons/compass-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4604" y="3781044"/>
            <a:ext cx="210312" cy="21031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9281160" y="416052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QUÊ</a:t>
            </a:r>
            <a:endParaRPr lang="en-US" sz="1300" dirty="0"/>
          </a:p>
        </p:txBody>
      </p:sp>
      <p:sp>
        <p:nvSpPr>
          <p:cNvPr id="23" name="Text 17"/>
          <p:cNvSpPr/>
          <p:nvPr/>
        </p:nvSpPr>
        <p:spPr>
          <a:xfrm>
            <a:off x="9281160" y="4434840"/>
            <a:ext cx="2331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benefício. É o que permite priorizar — e questionar se vale a pena.</a:t>
            </a:r>
            <a:endParaRPr lang="en-US" sz="1150" dirty="0"/>
          </a:p>
        </p:txBody>
      </p:sp>
      <p:sp>
        <p:nvSpPr>
          <p:cNvPr id="24" name="Shape 18"/>
          <p:cNvSpPr/>
          <p:nvPr/>
        </p:nvSpPr>
        <p:spPr>
          <a:xfrm>
            <a:off x="3017520" y="2057400"/>
            <a:ext cx="-502920" cy="0"/>
          </a:xfrm>
          <a:prstGeom prst="line">
            <a:avLst/>
          </a:prstGeom>
          <a:noFill/>
          <a:ln w="27940">
            <a:solidFill>
              <a:srgbClr val="E8A33D"/>
            </a:solidFill>
            <a:prstDash val="solid"/>
            <a:tailEnd type="triangle"/>
          </a:ln>
        </p:spPr>
      </p:sp>
      <p:sp>
        <p:nvSpPr>
          <p:cNvPr id="25" name="Shape 19"/>
          <p:cNvSpPr/>
          <p:nvPr/>
        </p:nvSpPr>
        <p:spPr>
          <a:xfrm>
            <a:off x="9144000" y="2057400"/>
            <a:ext cx="502920" cy="0"/>
          </a:xfrm>
          <a:prstGeom prst="line">
            <a:avLst/>
          </a:prstGeom>
          <a:noFill/>
          <a:ln w="27940">
            <a:solidFill>
              <a:srgbClr val="E8A33D"/>
            </a:solidFill>
            <a:prstDash val="solid"/>
            <a:tailEnd type="triangle"/>
          </a:ln>
        </p:spPr>
      </p:sp>
      <p:sp>
        <p:nvSpPr>
          <p:cNvPr id="26" name="Shape 20"/>
          <p:cNvSpPr/>
          <p:nvPr/>
        </p:nvSpPr>
        <p:spPr>
          <a:xfrm>
            <a:off x="9098280" y="3977640"/>
            <a:ext cx="502920" cy="0"/>
          </a:xfrm>
          <a:prstGeom prst="line">
            <a:avLst/>
          </a:prstGeom>
          <a:noFill/>
          <a:ln w="27940">
            <a:solidFill>
              <a:srgbClr val="E8A33D"/>
            </a:solidFill>
            <a:prstDash val="solid"/>
            <a:tailEnd type="triangle"/>
          </a:ln>
        </p:spPr>
      </p:sp>
      <p:sp>
        <p:nvSpPr>
          <p:cNvPr id="27" name="Shape 21"/>
          <p:cNvSpPr/>
          <p:nvPr/>
        </p:nvSpPr>
        <p:spPr>
          <a:xfrm>
            <a:off x="594360" y="4846320"/>
            <a:ext cx="8321040" cy="1188720"/>
          </a:xfrm>
          <a:prstGeom prst="roundRect">
            <a:avLst>
              <a:gd name="adj" fmla="val 6923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28" name="Text 22"/>
          <p:cNvSpPr/>
          <p:nvPr/>
        </p:nvSpPr>
        <p:spPr>
          <a:xfrm>
            <a:off x="868680" y="498348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Origem: </a:t>
            </a:r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equipe da Connextra, Londres, 2001 (Rachel Davies e colegas); difundido por Mike Cohn em “User Stories Applied” (2004). O formato é a embalagem — o que faz a história ser boa é o que vem nos próximos slides.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3 C’S — RON JEFFRIES, 2001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12064"/>
            <a:ext cx="11000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 — o cartão é um token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6519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 — Workshop CNI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96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94360" y="1298448"/>
            <a:ext cx="804672" cy="365760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298448"/>
            <a:ext cx="804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1536192" y="1298448"/>
            <a:ext cx="1499616" cy="365760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/>
        </p:spPr>
      </p:sp>
      <p:sp>
        <p:nvSpPr>
          <p:cNvPr id="9" name="Text 7"/>
          <p:cNvSpPr/>
          <p:nvPr/>
        </p:nvSpPr>
        <p:spPr>
          <a:xfrm>
            <a:off x="1536192" y="1298448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Conversation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172968" y="1298448"/>
            <a:ext cx="1499616" cy="365760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/>
        </p:spPr>
      </p:sp>
      <p:sp>
        <p:nvSpPr>
          <p:cNvPr id="11" name="Text 9"/>
          <p:cNvSpPr/>
          <p:nvPr/>
        </p:nvSpPr>
        <p:spPr>
          <a:xfrm>
            <a:off x="3172968" y="1298448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Confirmation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94360" y="2057400"/>
            <a:ext cx="960120" cy="960120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13" name="Image 0" descr="/tmp/claude-0/-home-user-doc-template-engine/198c21fb-8b4a-5b3c-a787-7fafcb963965/scratchpad/workshop/icons/file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3592" y="2316632"/>
            <a:ext cx="441655" cy="441655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594360" y="3246120"/>
            <a:ext cx="52120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cartão carrega o essencial: título, meia dúzia de linhas, o valor esperado.</a:t>
            </a:r>
            <a:endParaRPr lang="en-US" sz="1550" dirty="0"/>
          </a:p>
          <a:p>
            <a:pPr indent="0" marL="0">
              <a:lnSpc>
                <a:spcPct val="115000"/>
              </a:lnSpc>
              <a:buNone/>
            </a:pPr>
            <a:endParaRPr lang="en-US" sz="15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 não é a história completa — é um marcador: a promessa de que a conversa certa vai acontecer antes da construção.</a:t>
            </a:r>
            <a:endParaRPr lang="en-US" sz="1550" dirty="0"/>
          </a:p>
        </p:txBody>
      </p:sp>
      <p:sp>
        <p:nvSpPr>
          <p:cNvPr id="15" name="Shape 12"/>
          <p:cNvSpPr/>
          <p:nvPr/>
        </p:nvSpPr>
        <p:spPr>
          <a:xfrm>
            <a:off x="6263640" y="2057400"/>
            <a:ext cx="5349240" cy="3977640"/>
          </a:xfrm>
          <a:prstGeom prst="roundRect">
            <a:avLst>
              <a:gd name="adj" fmla="val 2299"/>
            </a:avLst>
          </a:prstGeom>
          <a:solidFill>
            <a:srgbClr val="1B2A4A"/>
          </a:solidFill>
          <a:ln/>
        </p:spPr>
      </p:sp>
      <p:sp>
        <p:nvSpPr>
          <p:cNvPr id="16" name="Shape 13"/>
          <p:cNvSpPr/>
          <p:nvPr/>
        </p:nvSpPr>
        <p:spPr>
          <a:xfrm>
            <a:off x="6537960" y="2331720"/>
            <a:ext cx="502920" cy="502920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17" name="Image 1" descr="/tmp/claude-0/-home-user-doc-template-engine/198c21fb-8b4a-5b3c-a787-7fafcb963965/scratchpad/workshop/icons/trello-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3748" y="2467508"/>
            <a:ext cx="231343" cy="231343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7178040" y="233172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Jira da CNI</a:t>
            </a:r>
            <a:endParaRPr lang="en-US" sz="1500" dirty="0"/>
          </a:p>
        </p:txBody>
      </p:sp>
      <p:sp>
        <p:nvSpPr>
          <p:cNvPr id="19" name="Text 15"/>
          <p:cNvSpPr/>
          <p:nvPr/>
        </p:nvSpPr>
        <p:spPr>
          <a:xfrm>
            <a:off x="6583680" y="3063240"/>
            <a:ext cx="47548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 no formato ator + ação + benefício</a:t>
            </a:r>
            <a:endParaRPr lang="en-US" sz="1250" dirty="0"/>
          </a:p>
          <a:p>
            <a:pPr marL="152400" indent="-1524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 curta: contexto e links — não especificação</a:t>
            </a:r>
            <a:endParaRPr lang="en-US" sz="1250" dirty="0"/>
          </a:p>
          <a:p>
            <a:pPr marL="152400" indent="-1524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o texto do card cresce sem parar, o sinal não é “card completo”: é conversa pendente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3 C’S — RON JEFFRIES, 2001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12064"/>
            <a:ext cx="11000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Conversation — o valor está na conversa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6519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 — Workshop CNI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96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94360" y="1298448"/>
            <a:ext cx="804672" cy="365760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298448"/>
            <a:ext cx="804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1536192" y="1298448"/>
            <a:ext cx="1499616" cy="365760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/>
        </p:spPr>
      </p:sp>
      <p:sp>
        <p:nvSpPr>
          <p:cNvPr id="9" name="Text 7"/>
          <p:cNvSpPr/>
          <p:nvPr/>
        </p:nvSpPr>
        <p:spPr>
          <a:xfrm>
            <a:off x="1536192" y="1298448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Conversation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172968" y="1298448"/>
            <a:ext cx="1499616" cy="365760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/>
        </p:spPr>
      </p:sp>
      <p:sp>
        <p:nvSpPr>
          <p:cNvPr id="11" name="Text 9"/>
          <p:cNvSpPr/>
          <p:nvPr/>
        </p:nvSpPr>
        <p:spPr>
          <a:xfrm>
            <a:off x="3172968" y="1298448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Confirmation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94360" y="2057400"/>
            <a:ext cx="960120" cy="960120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13" name="Image 0" descr="/tmp/claude-0/-home-user-doc-template-engine/198c21fb-8b4a-5b3c-a787-7fafcb963965/scratchpad/workshop/icons/message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3592" y="2316632"/>
            <a:ext cx="441655" cy="441655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594360" y="3246120"/>
            <a:ext cx="52120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detalhes da história são descobertos em conversas contínuas entre negócio, desenvolvimento e teste — no refinamento, no planejamento e durante a sprint.</a:t>
            </a:r>
            <a:endParaRPr lang="en-US" sz="1550" dirty="0"/>
          </a:p>
          <a:p>
            <a:pPr indent="0" marL="0">
              <a:lnSpc>
                <a:spcPct val="115000"/>
              </a:lnSpc>
              <a:buNone/>
            </a:pPr>
            <a:endParaRPr lang="en-US" sz="15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escrita registra; a conversa esclarece. Nenhum texto substitui a segunda.</a:t>
            </a:r>
            <a:endParaRPr lang="en-US" sz="1550" dirty="0"/>
          </a:p>
        </p:txBody>
      </p:sp>
      <p:sp>
        <p:nvSpPr>
          <p:cNvPr id="15" name="Shape 12"/>
          <p:cNvSpPr/>
          <p:nvPr/>
        </p:nvSpPr>
        <p:spPr>
          <a:xfrm>
            <a:off x="6263640" y="2057400"/>
            <a:ext cx="5349240" cy="3977640"/>
          </a:xfrm>
          <a:prstGeom prst="roundRect">
            <a:avLst>
              <a:gd name="adj" fmla="val 2299"/>
            </a:avLst>
          </a:prstGeom>
          <a:solidFill>
            <a:srgbClr val="1B2A4A"/>
          </a:solidFill>
          <a:ln/>
        </p:spPr>
      </p:sp>
      <p:sp>
        <p:nvSpPr>
          <p:cNvPr id="16" name="Shape 13"/>
          <p:cNvSpPr/>
          <p:nvPr/>
        </p:nvSpPr>
        <p:spPr>
          <a:xfrm>
            <a:off x="6537960" y="2331720"/>
            <a:ext cx="502920" cy="502920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17" name="Image 1" descr="/tmp/claude-0/-home-user-doc-template-engine/198c21fb-8b4a-5b3c-a787-7fafcb963965/scratchpad/workshop/icons/trello-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3748" y="2467508"/>
            <a:ext cx="231343" cy="231343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7178040" y="233172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Jira da CNI</a:t>
            </a:r>
            <a:endParaRPr lang="en-US" sz="1500" dirty="0"/>
          </a:p>
        </p:txBody>
      </p:sp>
      <p:sp>
        <p:nvSpPr>
          <p:cNvPr id="19" name="Text 15"/>
          <p:cNvSpPr/>
          <p:nvPr/>
        </p:nvSpPr>
        <p:spPr>
          <a:xfrm>
            <a:off x="6583680" y="3063240"/>
            <a:ext cx="47548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Refinamento agendado e com as pessoas certas — não um fio de 40 comentários</a:t>
            </a:r>
            <a:endParaRPr lang="en-US" sz="1250" dirty="0"/>
          </a:p>
          <a:p>
            <a:pPr marL="152400" indent="-1524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Decisão tomada na conversa é promovida a critério de aceite ou à especificação no mesmo dia</a:t>
            </a:r>
            <a:endParaRPr lang="en-US" sz="1250" dirty="0"/>
          </a:p>
          <a:p>
            <a:pPr marL="152400" indent="-1524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lê o card meses depois não estava lá: o que precisa durar tem que sair da conversa e ir para a especificação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3 C’S — RON JEFFRIES, 2001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12064"/>
            <a:ext cx="11000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Confirmation — como saberemos que está pronto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6519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 — Workshop CNI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96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94360" y="1298448"/>
            <a:ext cx="804672" cy="365760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298448"/>
            <a:ext cx="804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1536192" y="1298448"/>
            <a:ext cx="1499616" cy="365760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/>
        </p:spPr>
      </p:sp>
      <p:sp>
        <p:nvSpPr>
          <p:cNvPr id="9" name="Text 7"/>
          <p:cNvSpPr/>
          <p:nvPr/>
        </p:nvSpPr>
        <p:spPr>
          <a:xfrm>
            <a:off x="1536192" y="1298448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Conversation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172968" y="1298448"/>
            <a:ext cx="1499616" cy="365760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3172968" y="1298448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Confirmation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94360" y="2057400"/>
            <a:ext cx="960120" cy="960120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13" name="Image 0" descr="/tmp/claude-0/-home-user-doc-template-engine/198c21fb-8b4a-5b3c-a787-7fafcb963965/scratchpad/workshop/icons/check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3592" y="2316632"/>
            <a:ext cx="441655" cy="441655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594360" y="3246120"/>
            <a:ext cx="52120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história carrega critérios de aceite: condições objetivas, que passam ou falham.</a:t>
            </a:r>
            <a:endParaRPr lang="en-US" sz="1550" dirty="0"/>
          </a:p>
          <a:p>
            <a:pPr indent="0" marL="0">
              <a:lnSpc>
                <a:spcPct val="115000"/>
              </a:lnSpc>
              <a:buNone/>
            </a:pPr>
            <a:endParaRPr lang="en-US" sz="15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São eles que transformam intenção em algo verificável — e que alimentam o teste e a homologação.</a:t>
            </a:r>
            <a:endParaRPr lang="en-US" sz="1550" dirty="0"/>
          </a:p>
        </p:txBody>
      </p:sp>
      <p:sp>
        <p:nvSpPr>
          <p:cNvPr id="15" name="Shape 12"/>
          <p:cNvSpPr/>
          <p:nvPr/>
        </p:nvSpPr>
        <p:spPr>
          <a:xfrm>
            <a:off x="6263640" y="2057400"/>
            <a:ext cx="5349240" cy="3977640"/>
          </a:xfrm>
          <a:prstGeom prst="roundRect">
            <a:avLst>
              <a:gd name="adj" fmla="val 2299"/>
            </a:avLst>
          </a:prstGeom>
          <a:solidFill>
            <a:srgbClr val="1B2A4A"/>
          </a:solidFill>
          <a:ln/>
        </p:spPr>
      </p:sp>
      <p:sp>
        <p:nvSpPr>
          <p:cNvPr id="16" name="Shape 13"/>
          <p:cNvSpPr/>
          <p:nvPr/>
        </p:nvSpPr>
        <p:spPr>
          <a:xfrm>
            <a:off x="6537960" y="2331720"/>
            <a:ext cx="502920" cy="502920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17" name="Image 1" descr="/tmp/claude-0/-home-user-doc-template-engine/198c21fb-8b4a-5b3c-a787-7fafcb963965/scratchpad/workshop/icons/trello-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3748" y="2467508"/>
            <a:ext cx="231343" cy="231343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7178040" y="233172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Jira da CNI</a:t>
            </a:r>
            <a:endParaRPr lang="en-US" sz="1500" dirty="0"/>
          </a:p>
        </p:txBody>
      </p:sp>
      <p:sp>
        <p:nvSpPr>
          <p:cNvPr id="19" name="Text 15"/>
          <p:cNvSpPr/>
          <p:nvPr/>
        </p:nvSpPr>
        <p:spPr>
          <a:xfrm>
            <a:off x="6583680" y="3063240"/>
            <a:ext cx="47548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no card, em lista curta e testável</a:t>
            </a:r>
            <a:endParaRPr lang="en-US" sz="1250" dirty="0"/>
          </a:p>
          <a:p>
            <a:pPr marL="152400" indent="-1524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Exemplo: “não é possível encaminhar SC com item sem valor unitário”</a:t>
            </a:r>
            <a:endParaRPr lang="en-US" sz="1250" dirty="0"/>
          </a:p>
          <a:p>
            <a:pPr marL="152400" indent="-1524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 que não dá para testar não é critério — é desejo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 WAKE, 2003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12064"/>
            <a:ext cx="11000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 — o teste de qualidade de uma história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6519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 — Workshop CNI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96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94360" y="1417320"/>
            <a:ext cx="3538728" cy="2194560"/>
          </a:xfrm>
          <a:prstGeom prst="roundRect">
            <a:avLst>
              <a:gd name="adj" fmla="val 3750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581912"/>
            <a:ext cx="777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C77F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1554480" y="170992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50392" y="246888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Pode ser priorizada e entregue sem esperar outra história na fila.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25112" y="1417320"/>
            <a:ext cx="3538728" cy="2194560"/>
          </a:xfrm>
          <a:prstGeom prst="roundRect">
            <a:avLst>
              <a:gd name="adj" fmla="val 3750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26280" y="1581912"/>
            <a:ext cx="777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C77F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5285232" y="170992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Negotiable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581144" y="246888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ponto de partida da conversa — não um contrato fechado de escopo.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055864" y="1417320"/>
            <a:ext cx="3538728" cy="2194560"/>
          </a:xfrm>
          <a:prstGeom prst="roundRect">
            <a:avLst>
              <a:gd name="adj" fmla="val 3750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57032" y="1581912"/>
            <a:ext cx="777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C77F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9015984" y="170992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Valuable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311896" y="246888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 valor percebível a alguém. “Criar tabela no banco” não passa.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94360" y="3840480"/>
            <a:ext cx="3538728" cy="2194560"/>
          </a:xfrm>
          <a:prstGeom prst="roundRect">
            <a:avLst>
              <a:gd name="adj" fmla="val 3750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95528" y="4005072"/>
            <a:ext cx="777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C77F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</a:t>
            </a:r>
            <a:endParaRPr lang="en-US" sz="4400" dirty="0"/>
          </a:p>
        </p:txBody>
      </p:sp>
      <p:sp>
        <p:nvSpPr>
          <p:cNvPr id="20" name="Text 18"/>
          <p:cNvSpPr/>
          <p:nvPr/>
        </p:nvSpPr>
        <p:spPr>
          <a:xfrm>
            <a:off x="1554480" y="413308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Estimable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50392" y="489204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time consegue estimar. Se não consegue: falta conversa ou sobra tamanho.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325112" y="3840480"/>
            <a:ext cx="3538728" cy="2194560"/>
          </a:xfrm>
          <a:prstGeom prst="roundRect">
            <a:avLst>
              <a:gd name="adj" fmla="val 3750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26280" y="4005072"/>
            <a:ext cx="777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C77F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</a:t>
            </a:r>
            <a:endParaRPr lang="en-US" sz="4400" dirty="0"/>
          </a:p>
        </p:txBody>
      </p:sp>
      <p:sp>
        <p:nvSpPr>
          <p:cNvPr id="24" name="Text 22"/>
          <p:cNvSpPr/>
          <p:nvPr/>
        </p:nvSpPr>
        <p:spPr>
          <a:xfrm>
            <a:off x="5285232" y="413308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4581144" y="489204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Cabe na sprint. Se não cabe, é épico — divida em fatias de valor.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8055864" y="3840480"/>
            <a:ext cx="3538728" cy="2194560"/>
          </a:xfrm>
          <a:prstGeom prst="roundRect">
            <a:avLst>
              <a:gd name="adj" fmla="val 3750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257032" y="4005072"/>
            <a:ext cx="777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C77F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endParaRPr lang="en-US" sz="4400" dirty="0"/>
          </a:p>
        </p:txBody>
      </p:sp>
      <p:sp>
        <p:nvSpPr>
          <p:cNvPr id="28" name="Text 26"/>
          <p:cNvSpPr/>
          <p:nvPr/>
        </p:nvSpPr>
        <p:spPr>
          <a:xfrm>
            <a:off x="9015984" y="413308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Testable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8311896" y="489204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Dá para escrever um teste que passa ou falha. Sem isso, não há “pronto”.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1 · PRÁTICA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12064"/>
            <a:ext cx="11000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 na prática — antes e depois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6519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 — Workshop CNI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96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94360" y="1417320"/>
            <a:ext cx="4983480" cy="1444752"/>
          </a:xfrm>
          <a:prstGeom prst="roundRect">
            <a:avLst>
              <a:gd name="adj" fmla="val 5696"/>
            </a:avLst>
          </a:prstGeom>
          <a:solidFill>
            <a:srgbClr val="F9ECE7"/>
          </a:solidFill>
          <a:ln w="12700">
            <a:solidFill>
              <a:srgbClr val="E8C4B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5528" y="1600200"/>
            <a:ext cx="365760" cy="365760"/>
          </a:xfrm>
          <a:prstGeom prst="ellipse">
            <a:avLst/>
          </a:prstGeom>
          <a:solidFill>
            <a:srgbClr val="B2492F"/>
          </a:solidFill>
          <a:ln/>
        </p:spPr>
      </p:sp>
      <p:pic>
        <p:nvPicPr>
          <p:cNvPr id="8" name="Image 0" descr="/tmp/claude-0/-home-user-doc-template-engine/198c21fb-8b4a-5b3c-a787-7fafcb963965/scratchpad/workshop/icons/x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4283" y="1698955"/>
            <a:ext cx="168250" cy="16825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298448" y="1527048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“Desenvolver a tela de revisão da precificação.”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98448" y="249631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i="1" dirty="0">
                <a:solidFill>
                  <a:srgbClr val="B24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viola V e T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5715000" y="2139696"/>
            <a:ext cx="457200" cy="0"/>
          </a:xfrm>
          <a:prstGeom prst="line">
            <a:avLst/>
          </a:prstGeom>
          <a:noFill/>
          <a:ln w="27940">
            <a:solidFill>
              <a:srgbClr val="C77F1A"/>
            </a:solidFill>
            <a:prstDash val="solid"/>
            <a:tailEnd type="triangle"/>
          </a:ln>
        </p:spPr>
      </p:sp>
      <p:sp>
        <p:nvSpPr>
          <p:cNvPr id="12" name="Shape 9"/>
          <p:cNvSpPr/>
          <p:nvPr/>
        </p:nvSpPr>
        <p:spPr>
          <a:xfrm>
            <a:off x="6309360" y="1417320"/>
            <a:ext cx="5303520" cy="1444752"/>
          </a:xfrm>
          <a:prstGeom prst="roundRect">
            <a:avLst>
              <a:gd name="adj" fmla="val 5696"/>
            </a:avLst>
          </a:prstGeom>
          <a:solidFill>
            <a:srgbClr val="E9F3EE"/>
          </a:solidFill>
          <a:ln w="12700">
            <a:solidFill>
              <a:srgbClr val="BCD9C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510528" y="1600200"/>
            <a:ext cx="365760" cy="365760"/>
          </a:xfrm>
          <a:prstGeom prst="ellipse">
            <a:avLst/>
          </a:prstGeom>
          <a:solidFill>
            <a:srgbClr val="2E7D5B"/>
          </a:solidFill>
          <a:ln/>
        </p:spPr>
      </p:sp>
      <p:pic>
        <p:nvPicPr>
          <p:cNvPr id="14" name="Image 1" descr="/tmp/claude-0/-home-user-doc-template-engine/198c21fb-8b4a-5b3c-a787-7fafcb963965/scratchpad/workshop/icons/checkmini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9283" y="1698955"/>
            <a:ext cx="168250" cy="16825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013448" y="1527048"/>
            <a:ext cx="4434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“Como Gerente de Suprimentos, quero revisar a precificação encaminhada, para validar o processo antes da aprovação.”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594360" y="3044952"/>
            <a:ext cx="4983480" cy="1444752"/>
          </a:xfrm>
          <a:prstGeom prst="roundRect">
            <a:avLst>
              <a:gd name="adj" fmla="val 5696"/>
            </a:avLst>
          </a:prstGeom>
          <a:solidFill>
            <a:srgbClr val="F9ECE7"/>
          </a:solidFill>
          <a:ln w="12700">
            <a:solidFill>
              <a:srgbClr val="E8C4B5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795528" y="3227832"/>
            <a:ext cx="365760" cy="365760"/>
          </a:xfrm>
          <a:prstGeom prst="ellipse">
            <a:avLst/>
          </a:prstGeom>
          <a:solidFill>
            <a:srgbClr val="B2492F"/>
          </a:solidFill>
          <a:ln/>
        </p:spPr>
      </p:sp>
      <p:pic>
        <p:nvPicPr>
          <p:cNvPr id="18" name="Image 2" descr="/tmp/claude-0/-home-user-doc-template-engine/198c21fb-8b4a-5b3c-a787-7fafcb963965/scratchpad/workshop/icons/x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283" y="3326587"/>
            <a:ext cx="168250" cy="16825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298448" y="315468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“O sistema deve permitir gerenciar precificações.”</a:t>
            </a:r>
            <a:endParaRPr lang="en-US" sz="1200" dirty="0"/>
          </a:p>
        </p:txBody>
      </p:sp>
      <p:sp>
        <p:nvSpPr>
          <p:cNvPr id="20" name="Text 15"/>
          <p:cNvSpPr/>
          <p:nvPr/>
        </p:nvSpPr>
        <p:spPr>
          <a:xfrm>
            <a:off x="1298448" y="4123944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i="1" dirty="0">
                <a:solidFill>
                  <a:srgbClr val="B24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viola S e E</a:t>
            </a:r>
            <a:endParaRPr lang="en-US" sz="1050" dirty="0"/>
          </a:p>
        </p:txBody>
      </p:sp>
      <p:sp>
        <p:nvSpPr>
          <p:cNvPr id="21" name="Shape 16"/>
          <p:cNvSpPr/>
          <p:nvPr/>
        </p:nvSpPr>
        <p:spPr>
          <a:xfrm>
            <a:off x="5715000" y="3767328"/>
            <a:ext cx="457200" cy="0"/>
          </a:xfrm>
          <a:prstGeom prst="line">
            <a:avLst/>
          </a:prstGeom>
          <a:noFill/>
          <a:ln w="27940">
            <a:solidFill>
              <a:srgbClr val="C77F1A"/>
            </a:solidFill>
            <a:prstDash val="solid"/>
            <a:tailEnd type="triangle"/>
          </a:ln>
        </p:spPr>
      </p:sp>
      <p:sp>
        <p:nvSpPr>
          <p:cNvPr id="22" name="Shape 17"/>
          <p:cNvSpPr/>
          <p:nvPr/>
        </p:nvSpPr>
        <p:spPr>
          <a:xfrm>
            <a:off x="6309360" y="3044952"/>
            <a:ext cx="5303520" cy="1444752"/>
          </a:xfrm>
          <a:prstGeom prst="roundRect">
            <a:avLst>
              <a:gd name="adj" fmla="val 5696"/>
            </a:avLst>
          </a:prstGeom>
          <a:solidFill>
            <a:srgbClr val="E9F3EE"/>
          </a:solidFill>
          <a:ln w="12700">
            <a:solidFill>
              <a:srgbClr val="BCD9C9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6510528" y="3227832"/>
            <a:ext cx="365760" cy="365760"/>
          </a:xfrm>
          <a:prstGeom prst="ellipse">
            <a:avLst/>
          </a:prstGeom>
          <a:solidFill>
            <a:srgbClr val="2E7D5B"/>
          </a:solidFill>
          <a:ln/>
        </p:spPr>
      </p:sp>
      <p:pic>
        <p:nvPicPr>
          <p:cNvPr id="24" name="Image 3" descr="/tmp/claude-0/-home-user-doc-template-engine/198c21fb-8b4a-5b3c-a787-7fafcb963965/scratchpad/workshop/icons/checkmini-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9283" y="3326587"/>
            <a:ext cx="168250" cy="16825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7013448" y="3154680"/>
            <a:ext cx="4434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Dividir em ações: registrar · revisar · devolver · consultar — uma história por ação, cada uma com valor próprio.</a:t>
            </a:r>
            <a:endParaRPr lang="en-US" sz="1200" dirty="0"/>
          </a:p>
        </p:txBody>
      </p:sp>
      <p:sp>
        <p:nvSpPr>
          <p:cNvPr id="26" name="Shape 20"/>
          <p:cNvSpPr/>
          <p:nvPr/>
        </p:nvSpPr>
        <p:spPr>
          <a:xfrm>
            <a:off x="594360" y="4672584"/>
            <a:ext cx="4983480" cy="1444752"/>
          </a:xfrm>
          <a:prstGeom prst="roundRect">
            <a:avLst>
              <a:gd name="adj" fmla="val 5696"/>
            </a:avLst>
          </a:prstGeom>
          <a:solidFill>
            <a:srgbClr val="F9ECE7"/>
          </a:solidFill>
          <a:ln w="12700">
            <a:solidFill>
              <a:srgbClr val="E8C4B5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795528" y="4855464"/>
            <a:ext cx="365760" cy="365760"/>
          </a:xfrm>
          <a:prstGeom prst="ellipse">
            <a:avLst/>
          </a:prstGeom>
          <a:solidFill>
            <a:srgbClr val="B2492F"/>
          </a:solidFill>
          <a:ln/>
        </p:spPr>
      </p:sp>
      <p:pic>
        <p:nvPicPr>
          <p:cNvPr id="28" name="Image 4" descr="/tmp/claude-0/-home-user-doc-template-engine/198c21fb-8b4a-5b3c-a787-7fafcb963965/scratchpad/workshop/icons/x-whi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4283" y="4954219"/>
            <a:ext cx="168250" cy="168250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1298448" y="4782312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 de aceite: “a tela deve funcionar corretamente.”</a:t>
            </a:r>
            <a:endParaRPr lang="en-US" sz="1200" dirty="0"/>
          </a:p>
        </p:txBody>
      </p:sp>
      <p:sp>
        <p:nvSpPr>
          <p:cNvPr id="30" name="Text 23"/>
          <p:cNvSpPr/>
          <p:nvPr/>
        </p:nvSpPr>
        <p:spPr>
          <a:xfrm>
            <a:off x="1298448" y="5751576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i="1" dirty="0">
                <a:solidFill>
                  <a:srgbClr val="B24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viola T</a:t>
            </a:r>
            <a:endParaRPr lang="en-US" sz="1050" dirty="0"/>
          </a:p>
        </p:txBody>
      </p:sp>
      <p:sp>
        <p:nvSpPr>
          <p:cNvPr id="31" name="Shape 24"/>
          <p:cNvSpPr/>
          <p:nvPr/>
        </p:nvSpPr>
        <p:spPr>
          <a:xfrm>
            <a:off x="5715000" y="5394960"/>
            <a:ext cx="457200" cy="0"/>
          </a:xfrm>
          <a:prstGeom prst="line">
            <a:avLst/>
          </a:prstGeom>
          <a:noFill/>
          <a:ln w="27940">
            <a:solidFill>
              <a:srgbClr val="C77F1A"/>
            </a:solidFill>
            <a:prstDash val="solid"/>
            <a:tailEnd type="triangle"/>
          </a:ln>
        </p:spPr>
      </p:sp>
      <p:sp>
        <p:nvSpPr>
          <p:cNvPr id="32" name="Shape 25"/>
          <p:cNvSpPr/>
          <p:nvPr/>
        </p:nvSpPr>
        <p:spPr>
          <a:xfrm>
            <a:off x="6309360" y="4672584"/>
            <a:ext cx="5303520" cy="1444752"/>
          </a:xfrm>
          <a:prstGeom prst="roundRect">
            <a:avLst>
              <a:gd name="adj" fmla="val 5696"/>
            </a:avLst>
          </a:prstGeom>
          <a:solidFill>
            <a:srgbClr val="E9F3EE"/>
          </a:solidFill>
          <a:ln w="12700">
            <a:solidFill>
              <a:srgbClr val="BCD9C9"/>
            </a:solidFill>
            <a:prstDash val="solid"/>
          </a:ln>
        </p:spPr>
      </p:sp>
      <p:sp>
        <p:nvSpPr>
          <p:cNvPr id="33" name="Shape 26"/>
          <p:cNvSpPr/>
          <p:nvPr/>
        </p:nvSpPr>
        <p:spPr>
          <a:xfrm>
            <a:off x="6510528" y="4855464"/>
            <a:ext cx="365760" cy="365760"/>
          </a:xfrm>
          <a:prstGeom prst="ellipse">
            <a:avLst/>
          </a:prstGeom>
          <a:solidFill>
            <a:srgbClr val="2E7D5B"/>
          </a:solidFill>
          <a:ln/>
        </p:spPr>
      </p:sp>
      <p:pic>
        <p:nvPicPr>
          <p:cNvPr id="34" name="Image 5" descr="/tmp/claude-0/-home-user-doc-template-engine/198c21fb-8b4a-5b3c-a787-7fafcb963965/scratchpad/workshop/icons/checkmini-whit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09283" y="4954219"/>
            <a:ext cx="168250" cy="168250"/>
          </a:xfrm>
          <a:prstGeom prst="rect">
            <a:avLst/>
          </a:prstGeom>
        </p:spPr>
      </p:pic>
      <p:sp>
        <p:nvSpPr>
          <p:cNvPr id="35" name="Text 27"/>
          <p:cNvSpPr/>
          <p:nvPr/>
        </p:nvSpPr>
        <p:spPr>
          <a:xfrm>
            <a:off x="7013448" y="4782312"/>
            <a:ext cx="4434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 testável: “não é possível encaminhar SC com item sem valor unitário — o sistema aponta os itens pendentes.”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1 · FERRAMENTA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12064"/>
            <a:ext cx="11000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Épico, história e sub-tarefa no Jira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6519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 — Workshop CNI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96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94360" y="2743200"/>
            <a:ext cx="1783080" cy="777240"/>
          </a:xfrm>
          <a:prstGeom prst="roundRect">
            <a:avLst>
              <a:gd name="adj" fmla="val 8235"/>
            </a:avLst>
          </a:prstGeom>
          <a:solidFill>
            <a:srgbClr val="1B2A4A"/>
          </a:solidFill>
          <a:ln/>
        </p:spPr>
      </p:sp>
      <p:sp>
        <p:nvSpPr>
          <p:cNvPr id="7" name="Text 5"/>
          <p:cNvSpPr/>
          <p:nvPr/>
        </p:nvSpPr>
        <p:spPr>
          <a:xfrm>
            <a:off x="649224" y="2743200"/>
            <a:ext cx="16733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ÉPICO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Precificação de SC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063240" y="1417320"/>
            <a:ext cx="2286000" cy="658368"/>
          </a:xfrm>
          <a:prstGeom prst="roundRect">
            <a:avLst>
              <a:gd name="adj" fmla="val 9722"/>
            </a:avLst>
          </a:prstGeom>
          <a:solidFill>
            <a:srgbClr val="FBF0DC"/>
          </a:solidFill>
          <a:ln/>
        </p:spPr>
      </p:sp>
      <p:sp>
        <p:nvSpPr>
          <p:cNvPr id="9" name="Text 7"/>
          <p:cNvSpPr/>
          <p:nvPr/>
        </p:nvSpPr>
        <p:spPr>
          <a:xfrm>
            <a:off x="3118104" y="1417320"/>
            <a:ext cx="21762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 precificação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377440" y="3127248"/>
            <a:ext cx="658368" cy="-1380744"/>
          </a:xfrm>
          <a:prstGeom prst="line">
            <a:avLst/>
          </a:prstGeom>
          <a:noFill/>
          <a:ln w="27940">
            <a:solidFill>
              <a:srgbClr val="5B6B84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3063240" y="2258568"/>
            <a:ext cx="2286000" cy="658368"/>
          </a:xfrm>
          <a:prstGeom prst="roundRect">
            <a:avLst>
              <a:gd name="adj" fmla="val 9722"/>
            </a:avLst>
          </a:prstGeom>
          <a:solidFill>
            <a:srgbClr val="FBF0DC"/>
          </a:solidFill>
          <a:ln/>
        </p:spPr>
      </p:sp>
      <p:sp>
        <p:nvSpPr>
          <p:cNvPr id="12" name="Text 10"/>
          <p:cNvSpPr/>
          <p:nvPr/>
        </p:nvSpPr>
        <p:spPr>
          <a:xfrm>
            <a:off x="3118104" y="2258568"/>
            <a:ext cx="21762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Revisar precificação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377440" y="3127248"/>
            <a:ext cx="658368" cy="-539496"/>
          </a:xfrm>
          <a:prstGeom prst="line">
            <a:avLst/>
          </a:prstGeom>
          <a:noFill/>
          <a:ln w="27940">
            <a:solidFill>
              <a:srgbClr val="5B6B84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3063240" y="3099816"/>
            <a:ext cx="2286000" cy="658368"/>
          </a:xfrm>
          <a:prstGeom prst="roundRect">
            <a:avLst>
              <a:gd name="adj" fmla="val 9722"/>
            </a:avLst>
          </a:prstGeom>
          <a:solidFill>
            <a:srgbClr val="FBF0DC"/>
          </a:solidFill>
          <a:ln/>
        </p:spPr>
      </p:sp>
      <p:sp>
        <p:nvSpPr>
          <p:cNvPr id="15" name="Text 13"/>
          <p:cNvSpPr/>
          <p:nvPr/>
        </p:nvSpPr>
        <p:spPr>
          <a:xfrm>
            <a:off x="3118104" y="3099816"/>
            <a:ext cx="21762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Devolver ao comprador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377440" y="3127248"/>
            <a:ext cx="658368" cy="301752"/>
          </a:xfrm>
          <a:prstGeom prst="line">
            <a:avLst/>
          </a:prstGeom>
          <a:noFill/>
          <a:ln w="27940">
            <a:solidFill>
              <a:srgbClr val="5B6B84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3063240" y="3941064"/>
            <a:ext cx="2286000" cy="658368"/>
          </a:xfrm>
          <a:prstGeom prst="roundRect">
            <a:avLst>
              <a:gd name="adj" fmla="val 9722"/>
            </a:avLst>
          </a:prstGeom>
          <a:solidFill>
            <a:srgbClr val="FBF0DC"/>
          </a:solidFill>
          <a:ln/>
        </p:spPr>
      </p:sp>
      <p:sp>
        <p:nvSpPr>
          <p:cNvPr id="18" name="Text 16"/>
          <p:cNvSpPr/>
          <p:nvPr/>
        </p:nvSpPr>
        <p:spPr>
          <a:xfrm>
            <a:off x="3118104" y="3941064"/>
            <a:ext cx="21762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Consultar SCs p/ revisão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377440" y="3127248"/>
            <a:ext cx="658368" cy="1143000"/>
          </a:xfrm>
          <a:prstGeom prst="line">
            <a:avLst/>
          </a:prstGeom>
          <a:noFill/>
          <a:ln w="27940">
            <a:solidFill>
              <a:srgbClr val="5B6B84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5943600" y="1280160"/>
            <a:ext cx="1481328" cy="457200"/>
          </a:xfrm>
          <a:prstGeom prst="roundRect">
            <a:avLst>
              <a:gd name="adj" fmla="val 14000"/>
            </a:avLst>
          </a:prstGeom>
          <a:solidFill>
            <a:srgbClr val="EEF3FA"/>
          </a:solidFill>
          <a:ln/>
        </p:spPr>
      </p:sp>
      <p:sp>
        <p:nvSpPr>
          <p:cNvPr id="21" name="Text 19"/>
          <p:cNvSpPr/>
          <p:nvPr/>
        </p:nvSpPr>
        <p:spPr>
          <a:xfrm>
            <a:off x="5998464" y="12801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ajustar consulta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349240" y="1746504"/>
            <a:ext cx="566928" cy="-237744"/>
          </a:xfrm>
          <a:prstGeom prst="line">
            <a:avLst/>
          </a:prstGeom>
          <a:noFill/>
          <a:ln w="27940">
            <a:solidFill>
              <a:srgbClr val="AABBD0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5943600" y="1847088"/>
            <a:ext cx="1481328" cy="457200"/>
          </a:xfrm>
          <a:prstGeom prst="roundRect">
            <a:avLst>
              <a:gd name="adj" fmla="val 14000"/>
            </a:avLst>
          </a:prstGeom>
          <a:solidFill>
            <a:srgbClr val="EEF3FA"/>
          </a:solidFill>
          <a:ln/>
        </p:spPr>
      </p:sp>
      <p:sp>
        <p:nvSpPr>
          <p:cNvPr id="24" name="Text 22"/>
          <p:cNvSpPr/>
          <p:nvPr/>
        </p:nvSpPr>
        <p:spPr>
          <a:xfrm>
            <a:off x="5998464" y="184708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criar tela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5349240" y="1746504"/>
            <a:ext cx="566928" cy="329184"/>
          </a:xfrm>
          <a:prstGeom prst="line">
            <a:avLst/>
          </a:prstGeom>
          <a:noFill/>
          <a:ln w="27940">
            <a:solidFill>
              <a:srgbClr val="AABBD0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5943600" y="2414016"/>
            <a:ext cx="1481328" cy="457200"/>
          </a:xfrm>
          <a:prstGeom prst="roundRect">
            <a:avLst>
              <a:gd name="adj" fmla="val 14000"/>
            </a:avLst>
          </a:prstGeom>
          <a:solidFill>
            <a:srgbClr val="EEF3FA"/>
          </a:solidFill>
          <a:ln/>
        </p:spPr>
      </p:sp>
      <p:sp>
        <p:nvSpPr>
          <p:cNvPr id="27" name="Text 25"/>
          <p:cNvSpPr/>
          <p:nvPr/>
        </p:nvSpPr>
        <p:spPr>
          <a:xfrm>
            <a:off x="5998464" y="2414016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 automatizado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5349240" y="1746504"/>
            <a:ext cx="566928" cy="896112"/>
          </a:xfrm>
          <a:prstGeom prst="line">
            <a:avLst/>
          </a:prstGeom>
          <a:noFill/>
          <a:ln w="27940">
            <a:solidFill>
              <a:srgbClr val="AABBD0"/>
            </a:solidFill>
            <a:prstDash val="solid"/>
            <a:tailEnd type="triangle"/>
          </a:ln>
        </p:spPr>
      </p:sp>
      <p:sp>
        <p:nvSpPr>
          <p:cNvPr id="29" name="Text 27"/>
          <p:cNvSpPr/>
          <p:nvPr/>
        </p:nvSpPr>
        <p:spPr>
          <a:xfrm>
            <a:off x="5852160" y="3063240"/>
            <a:ext cx="1783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sub-tarefas técnicas</a:t>
            </a:r>
            <a:endParaRPr lang="en-US" sz="9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(do time, sem formato de história)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8001000" y="1463040"/>
            <a:ext cx="36118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10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Épico agrupa um objetivo grande; não entra na sprint como item único.</a:t>
            </a:r>
            <a:endParaRPr lang="en-US" sz="1250" dirty="0"/>
          </a:p>
          <a:p>
            <a:pPr marL="177800" indent="-177800">
              <a:lnSpc>
                <a:spcPct val="110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 é a fatia fina que entrega valor — é o que se prioriza e se aceita.</a:t>
            </a:r>
            <a:endParaRPr lang="en-US" sz="1250" dirty="0"/>
          </a:p>
          <a:p>
            <a:pPr marL="177800" indent="-177800">
              <a:lnSpc>
                <a:spcPct val="110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Sub-tarefa é organização interna do time; não precisa de ator/benefício.</a:t>
            </a:r>
            <a:endParaRPr lang="en-US" sz="1250" dirty="0"/>
          </a:p>
          <a:p>
            <a:pPr marL="177800" indent="-177800">
              <a:lnSpc>
                <a:spcPct val="110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card carrega: resumo, critérios de aceite e o link para a especificação.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594360" y="5257800"/>
            <a:ext cx="7223760" cy="868680"/>
          </a:xfrm>
          <a:prstGeom prst="roundRect">
            <a:avLst>
              <a:gd name="adj" fmla="val 9474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68680" y="5376672"/>
            <a:ext cx="6720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 prática:  </a:t>
            </a:r>
            <a:pPr indent="0" marL="0">
              <a:buNone/>
            </a:pPr>
            <a:r>
              <a:rPr lang="en-US" sz="12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não dá para demonstrar ao negócio no fim da sprint, provavelmente não é uma história — é épico ou é sub-tarefa.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0515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640080" y="1280160"/>
            <a:ext cx="3291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7000" dirty="0"/>
          </a:p>
        </p:txBody>
      </p:sp>
      <p:sp>
        <p:nvSpPr>
          <p:cNvPr id="4" name="Text 2"/>
          <p:cNvSpPr/>
          <p:nvPr/>
        </p:nvSpPr>
        <p:spPr>
          <a:xfrm>
            <a:off x="4206240" y="1965960"/>
            <a:ext cx="7315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 não é</a:t>
            </a:r>
            <a:endParaRPr lang="en-US" sz="3700" dirty="0"/>
          </a:p>
          <a:p>
            <a:pPr indent="0" marL="0">
              <a:buNone/>
            </a:pPr>
            <a:r>
              <a:rPr lang="en-US" sz="3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documentação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4251960" y="3794760"/>
            <a:ext cx="1649578" cy="402336"/>
          </a:xfrm>
          <a:prstGeom prst="roundRect">
            <a:avLst>
              <a:gd name="adj" fmla="val 50000"/>
            </a:avLst>
          </a:prstGeom>
          <a:solidFill>
            <a:srgbClr val="31497A"/>
          </a:solidFill>
          <a:ln/>
        </p:spPr>
      </p:sp>
      <p:sp>
        <p:nvSpPr>
          <p:cNvPr id="6" name="Text 4"/>
          <p:cNvSpPr/>
          <p:nvPr/>
        </p:nvSpPr>
        <p:spPr>
          <a:xfrm>
            <a:off x="4251960" y="3794760"/>
            <a:ext cx="164957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a história é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047842" y="3794760"/>
            <a:ext cx="1435608" cy="402336"/>
          </a:xfrm>
          <a:prstGeom prst="roundRect">
            <a:avLst>
              <a:gd name="adj" fmla="val 50000"/>
            </a:avLst>
          </a:prstGeom>
          <a:solidFill>
            <a:srgbClr val="31497A"/>
          </a:solidFill>
          <a:ln/>
        </p:spPr>
      </p:sp>
      <p:sp>
        <p:nvSpPr>
          <p:cNvPr id="8" name="Text 6"/>
          <p:cNvSpPr/>
          <p:nvPr/>
        </p:nvSpPr>
        <p:spPr>
          <a:xfrm>
            <a:off x="6047842" y="3794760"/>
            <a:ext cx="1435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ela não é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7629754" y="3794760"/>
            <a:ext cx="2291486" cy="402336"/>
          </a:xfrm>
          <a:prstGeom prst="roundRect">
            <a:avLst>
              <a:gd name="adj" fmla="val 50000"/>
            </a:avLst>
          </a:prstGeom>
          <a:solidFill>
            <a:srgbClr val="31497A"/>
          </a:solidFill>
          <a:ln/>
        </p:spPr>
      </p:sp>
      <p:sp>
        <p:nvSpPr>
          <p:cNvPr id="10" name="Text 8"/>
          <p:cNvSpPr/>
          <p:nvPr/>
        </p:nvSpPr>
        <p:spPr>
          <a:xfrm>
            <a:off x="7629754" y="3794760"/>
            <a:ext cx="229148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artefatos, três papéis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251960" y="4325112"/>
            <a:ext cx="2505456" cy="402336"/>
          </a:xfrm>
          <a:prstGeom prst="roundRect">
            <a:avLst>
              <a:gd name="adj" fmla="val 50000"/>
            </a:avLst>
          </a:prstGeom>
          <a:solidFill>
            <a:srgbClr val="31497A"/>
          </a:solidFill>
          <a:ln/>
        </p:spPr>
      </p:sp>
      <p:sp>
        <p:nvSpPr>
          <p:cNvPr id="12" name="Text 10"/>
          <p:cNvSpPr/>
          <p:nvPr/>
        </p:nvSpPr>
        <p:spPr>
          <a:xfrm>
            <a:off x="4251960" y="4325112"/>
            <a:ext cx="25054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mito do “ágil não documenta”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903720" y="4325112"/>
            <a:ext cx="1506931" cy="402336"/>
          </a:xfrm>
          <a:prstGeom prst="roundRect">
            <a:avLst>
              <a:gd name="adj" fmla="val 50000"/>
            </a:avLst>
          </a:prstGeom>
          <a:solidFill>
            <a:srgbClr val="31497A"/>
          </a:solidFill>
          <a:ln/>
        </p:spPr>
      </p:sp>
      <p:sp>
        <p:nvSpPr>
          <p:cNvPr id="14" name="Text 12"/>
          <p:cNvSpPr/>
          <p:nvPr/>
        </p:nvSpPr>
        <p:spPr>
          <a:xfrm>
            <a:off x="6903720" y="4325112"/>
            <a:ext cx="1506931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ciclo saudável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556955" y="4325112"/>
            <a:ext cx="1506931" cy="402336"/>
          </a:xfrm>
          <a:prstGeom prst="roundRect">
            <a:avLst>
              <a:gd name="adj" fmla="val 50000"/>
            </a:avLst>
          </a:prstGeom>
          <a:solidFill>
            <a:srgbClr val="31497A"/>
          </a:solidFill>
          <a:ln/>
        </p:spPr>
      </p:sp>
      <p:sp>
        <p:nvSpPr>
          <p:cNvPr id="16" name="Text 14"/>
          <p:cNvSpPr/>
          <p:nvPr/>
        </p:nvSpPr>
        <p:spPr>
          <a:xfrm>
            <a:off x="8556955" y="4325112"/>
            <a:ext cx="1506931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linha do tempo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251960" y="4892040"/>
            <a:ext cx="1417320" cy="420624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/>
        </p:spPr>
      </p:sp>
      <p:sp>
        <p:nvSpPr>
          <p:cNvPr id="18" name="Text 16"/>
          <p:cNvSpPr/>
          <p:nvPr/>
        </p:nvSpPr>
        <p:spPr>
          <a:xfrm>
            <a:off x="4251960" y="4892040"/>
            <a:ext cx="1417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30 min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12064"/>
            <a:ext cx="11000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uma história é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6519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 — Workshop CNI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96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94360" y="1463040"/>
            <a:ext cx="5394960" cy="2057400"/>
          </a:xfrm>
          <a:prstGeom prst="roundRect">
            <a:avLst>
              <a:gd name="adj" fmla="val 4000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682496"/>
            <a:ext cx="512064" cy="512064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8" name="Image 0" descr="/tmp/claude-0/-home-user-doc-template-engine/198c21fb-8b4a-5b3c-a787-7fafcb963965/scratchpad/workshop/icons/message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1217" y="1820753"/>
            <a:ext cx="235549" cy="235549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490472" y="1682496"/>
            <a:ext cx="4297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Lembrete de conversa</a:t>
            </a:r>
            <a:endParaRPr lang="en-US" sz="1550" dirty="0"/>
          </a:p>
        </p:txBody>
      </p:sp>
      <p:sp>
        <p:nvSpPr>
          <p:cNvPr id="10" name="Text 7"/>
          <p:cNvSpPr/>
          <p:nvPr/>
        </p:nvSpPr>
        <p:spPr>
          <a:xfrm>
            <a:off x="850392" y="2331720"/>
            <a:ext cx="48828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token que garante que a conversa certa vai acontecer antes da construção.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208776" y="1463040"/>
            <a:ext cx="5394960" cy="2057400"/>
          </a:xfrm>
          <a:prstGeom prst="roundRect">
            <a:avLst>
              <a:gd name="adj" fmla="val 4000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437376" y="1682496"/>
            <a:ext cx="512064" cy="512064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13" name="Image 1" descr="/tmp/claude-0/-home-user-doc-template-engine/198c21fb-8b4a-5b3c-a787-7fafcb963965/scratchpad/workshop/icons/flag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5633" y="1820753"/>
            <a:ext cx="235549" cy="235549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104888" y="1682496"/>
            <a:ext cx="4297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de priorização</a:t>
            </a:r>
            <a:endParaRPr lang="en-US" sz="1550" dirty="0"/>
          </a:p>
        </p:txBody>
      </p:sp>
      <p:sp>
        <p:nvSpPr>
          <p:cNvPr id="15" name="Text 11"/>
          <p:cNvSpPr/>
          <p:nvPr/>
        </p:nvSpPr>
        <p:spPr>
          <a:xfrm>
            <a:off x="6464808" y="2331720"/>
            <a:ext cx="48828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item que o negócio ordena por valor no backlog — e que o time estima.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594360" y="3794760"/>
            <a:ext cx="5394960" cy="2057400"/>
          </a:xfrm>
          <a:prstGeom prst="roundRect">
            <a:avLst>
              <a:gd name="adj" fmla="val 4000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822960" y="4014216"/>
            <a:ext cx="512064" cy="512064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18" name="Image 2" descr="/tmp/claude-0/-home-user-doc-template-engine/198c21fb-8b4a-5b3c-a787-7fafcb963965/scratchpad/workshop/icons/clock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1217" y="4152473"/>
            <a:ext cx="235549" cy="235549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490472" y="4014216"/>
            <a:ext cx="4297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Acordo temporário</a:t>
            </a:r>
            <a:endParaRPr lang="en-US" sz="1550" dirty="0"/>
          </a:p>
        </p:txBody>
      </p:sp>
      <p:sp>
        <p:nvSpPr>
          <p:cNvPr id="20" name="Text 15"/>
          <p:cNvSpPr/>
          <p:nvPr/>
        </p:nvSpPr>
        <p:spPr>
          <a:xfrm>
            <a:off x="850392" y="4663440"/>
            <a:ext cx="48828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Negociável até entrar na sprint; congelar cedo demais desperdiça aprendizado.</a:t>
            </a:r>
            <a:endParaRPr lang="en-US" sz="1250" dirty="0"/>
          </a:p>
        </p:txBody>
      </p:sp>
      <p:sp>
        <p:nvSpPr>
          <p:cNvPr id="21" name="Shape 16"/>
          <p:cNvSpPr/>
          <p:nvPr/>
        </p:nvSpPr>
        <p:spPr>
          <a:xfrm>
            <a:off x="6208776" y="3794760"/>
            <a:ext cx="5394960" cy="2057400"/>
          </a:xfrm>
          <a:prstGeom prst="roundRect">
            <a:avLst>
              <a:gd name="adj" fmla="val 4000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6437376" y="4014216"/>
            <a:ext cx="512064" cy="512064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23" name="Image 3" descr="/tmp/claude-0/-home-user-doc-template-engine/198c21fb-8b4a-5b3c-a787-7fafcb963965/scratchpad/workshop/icons/archive-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5633" y="4152473"/>
            <a:ext cx="235549" cy="235549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7104888" y="4014216"/>
            <a:ext cx="4297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Artefato transitório</a:t>
            </a:r>
            <a:endParaRPr lang="en-US" sz="1550" dirty="0"/>
          </a:p>
        </p:txBody>
      </p:sp>
      <p:sp>
        <p:nvSpPr>
          <p:cNvPr id="25" name="Text 19"/>
          <p:cNvSpPr/>
          <p:nvPr/>
        </p:nvSpPr>
        <p:spPr>
          <a:xfrm>
            <a:off x="6464808" y="4663440"/>
            <a:ext cx="48828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Cumpre o papel e é arquivada na entrega. Histórias nascem para morrer.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12064"/>
            <a:ext cx="11000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uma história não é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6519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 — Workshop CNI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96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94360" y="1417320"/>
            <a:ext cx="5394960" cy="1965960"/>
          </a:xfrm>
          <a:prstGeom prst="roundRect">
            <a:avLst>
              <a:gd name="adj" fmla="val 4186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636776"/>
            <a:ext cx="512064" cy="512064"/>
          </a:xfrm>
          <a:prstGeom prst="ellipse">
            <a:avLst/>
          </a:prstGeom>
          <a:solidFill>
            <a:srgbClr val="B2492F"/>
          </a:solidFill>
          <a:ln/>
        </p:spPr>
      </p:sp>
      <p:pic>
        <p:nvPicPr>
          <p:cNvPr id="8" name="Image 0" descr="/tmp/claude-0/-home-user-doc-template-engine/198c21fb-8b4a-5b3c-a787-7fafcb963965/scratchpad/workshop/icons/lock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1217" y="1775033"/>
            <a:ext cx="235549" cy="235549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490472" y="1636776"/>
            <a:ext cx="4297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de escopo</a:t>
            </a:r>
            <a:endParaRPr lang="en-US" sz="1550" dirty="0"/>
          </a:p>
        </p:txBody>
      </p:sp>
      <p:sp>
        <p:nvSpPr>
          <p:cNvPr id="10" name="Text 7"/>
          <p:cNvSpPr/>
          <p:nvPr/>
        </p:nvSpPr>
        <p:spPr>
          <a:xfrm>
            <a:off x="850392" y="2286000"/>
            <a:ext cx="4882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 é negociável por definição (INVEST). Contrato se faz com critérios aceitos, não com o texto do card.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208776" y="1417320"/>
            <a:ext cx="5394960" cy="1965960"/>
          </a:xfrm>
          <a:prstGeom prst="roundRect">
            <a:avLst>
              <a:gd name="adj" fmla="val 4186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437376" y="1636776"/>
            <a:ext cx="512064" cy="512064"/>
          </a:xfrm>
          <a:prstGeom prst="ellipse">
            <a:avLst/>
          </a:prstGeom>
          <a:solidFill>
            <a:srgbClr val="B2492F"/>
          </a:solidFill>
          <a:ln/>
        </p:spPr>
      </p:sp>
      <p:pic>
        <p:nvPicPr>
          <p:cNvPr id="13" name="Image 1" descr="/tmp/claude-0/-home-user-doc-template-engine/198c21fb-8b4a-5b3c-a787-7fafcb963965/scratchpad/workshop/icons/layers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5633" y="1775033"/>
            <a:ext cx="235549" cy="235549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104888" y="1636776"/>
            <a:ext cx="4297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Especificação</a:t>
            </a:r>
            <a:endParaRPr lang="en-US" sz="1550" dirty="0"/>
          </a:p>
        </p:txBody>
      </p:sp>
      <p:sp>
        <p:nvSpPr>
          <p:cNvPr id="15" name="Text 11"/>
          <p:cNvSpPr/>
          <p:nvPr/>
        </p:nvSpPr>
        <p:spPr>
          <a:xfrm>
            <a:off x="6464808" y="2286000"/>
            <a:ext cx="4882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Campos, regras, estados, erros e permissões não cabem — nem devem caber — num card.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594360" y="3611880"/>
            <a:ext cx="5394960" cy="1965960"/>
          </a:xfrm>
          <a:prstGeom prst="roundRect">
            <a:avLst>
              <a:gd name="adj" fmla="val 4186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822960" y="3831336"/>
            <a:ext cx="512064" cy="512064"/>
          </a:xfrm>
          <a:prstGeom prst="ellipse">
            <a:avLst/>
          </a:prstGeom>
          <a:solidFill>
            <a:srgbClr val="B2492F"/>
          </a:solidFill>
          <a:ln/>
        </p:spPr>
      </p:sp>
      <p:pic>
        <p:nvPicPr>
          <p:cNvPr id="18" name="Image 2" descr="/tmp/claude-0/-home-user-doc-template-engine/198c21fb-8b4a-5b3c-a787-7fafcb963965/scratchpad/workshop/icons/book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1217" y="3969593"/>
            <a:ext cx="235549" cy="235549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490472" y="3831336"/>
            <a:ext cx="4297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do sistema</a:t>
            </a:r>
            <a:endParaRPr lang="en-US" sz="1550" dirty="0"/>
          </a:p>
        </p:txBody>
      </p:sp>
      <p:sp>
        <p:nvSpPr>
          <p:cNvPr id="20" name="Text 15"/>
          <p:cNvSpPr/>
          <p:nvPr/>
        </p:nvSpPr>
        <p:spPr>
          <a:xfrm>
            <a:off x="850392" y="4480560"/>
            <a:ext cx="4882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Ninguém opera ou mantém um sistema lendo cards fechados de três anos atrás.</a:t>
            </a:r>
            <a:endParaRPr lang="en-US" sz="1250" dirty="0"/>
          </a:p>
        </p:txBody>
      </p:sp>
      <p:sp>
        <p:nvSpPr>
          <p:cNvPr id="21" name="Shape 16"/>
          <p:cNvSpPr/>
          <p:nvPr/>
        </p:nvSpPr>
        <p:spPr>
          <a:xfrm>
            <a:off x="6208776" y="3611880"/>
            <a:ext cx="5394960" cy="1965960"/>
          </a:xfrm>
          <a:prstGeom prst="roundRect">
            <a:avLst>
              <a:gd name="adj" fmla="val 4186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6437376" y="3831336"/>
            <a:ext cx="512064" cy="512064"/>
          </a:xfrm>
          <a:prstGeom prst="ellipse">
            <a:avLst/>
          </a:prstGeom>
          <a:solidFill>
            <a:srgbClr val="B2492F"/>
          </a:solidFill>
          <a:ln/>
        </p:spPr>
      </p:sp>
      <p:pic>
        <p:nvPicPr>
          <p:cNvPr id="23" name="Image 3" descr="/tmp/claude-0/-home-user-doc-template-engine/198c21fb-8b4a-5b3c-a787-7fafcb963965/scratchpad/workshop/icons/database-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5633" y="3969593"/>
            <a:ext cx="235549" cy="235549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7104888" y="3831336"/>
            <a:ext cx="4297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Memória de requisitos</a:t>
            </a:r>
            <a:endParaRPr lang="en-US" sz="1550" dirty="0"/>
          </a:p>
        </p:txBody>
      </p:sp>
      <p:sp>
        <p:nvSpPr>
          <p:cNvPr id="25" name="Text 19"/>
          <p:cNvSpPr/>
          <p:nvPr/>
        </p:nvSpPr>
        <p:spPr>
          <a:xfrm>
            <a:off x="6464808" y="4480560"/>
            <a:ext cx="4882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 fechado não se atualiza. Requisito vivo em card morto é requisito perdido.</a:t>
            </a:r>
            <a:endParaRPr lang="en-US" sz="1250" dirty="0"/>
          </a:p>
        </p:txBody>
      </p:sp>
      <p:sp>
        <p:nvSpPr>
          <p:cNvPr id="26" name="Shape 20"/>
          <p:cNvSpPr/>
          <p:nvPr/>
        </p:nvSpPr>
        <p:spPr>
          <a:xfrm>
            <a:off x="594360" y="5897880"/>
            <a:ext cx="11000232" cy="566928"/>
          </a:xfrm>
          <a:prstGeom prst="roundRect">
            <a:avLst>
              <a:gd name="adj" fmla="val 12903"/>
            </a:avLst>
          </a:prstGeom>
          <a:solidFill>
            <a:srgbClr val="1B2A4A"/>
          </a:solidFill>
          <a:ln/>
        </p:spPr>
      </p:sp>
      <p:sp>
        <p:nvSpPr>
          <p:cNvPr id="27" name="Text 21"/>
          <p:cNvSpPr/>
          <p:nvPr/>
        </p:nvSpPr>
        <p:spPr>
          <a:xfrm>
            <a:off x="868680" y="5897880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a resposta para “onde está definido o comportamento do sistema?” for “no Jira”… não há especificação.</a:t>
            </a:r>
            <a:endParaRPr lang="en-US" sz="14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2 · O SLIDE PARA IMPRIMIR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12064"/>
            <a:ext cx="11000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artefatos, três papéis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6519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 — Workshop CNI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96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417320"/>
          <a:ext cx="1100023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3063240"/>
                <a:gridCol w="3310128"/>
                <a:gridCol w="3209544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História (card no Jira)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Especificação funcional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Documentação de sistema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 quê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532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Planejar, priorizar e conversar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532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Definir comportamento verificável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532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Operar, manter e integrar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Responde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532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“O que vamos fazer e por quê?”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532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“Como o sistema se comporta, exatamente?”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532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“Como o sistema funciona hoje, como um todo?”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Vida útil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532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Dias a semanas — morre na entrega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532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Vida da funcionalidade — atualizada a cada mudança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532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Vida do produto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Quem consome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532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PO, time, gestão do backlog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532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Desenvolvimento, QA, negócio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532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Sustentação, novos times, auditoria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Onde vive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532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Jira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532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Repositório de especificações (versionado)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532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Portal / repositório do produto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2 · MAL-ENTENDIDO CLÁSSICO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12064"/>
            <a:ext cx="11000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“Ágil não documenta” — o mito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6519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 — Workshop CNI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96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94360" y="1463040"/>
            <a:ext cx="5257800" cy="3657600"/>
          </a:xfrm>
          <a:prstGeom prst="roundRect">
            <a:avLst>
              <a:gd name="adj" fmla="val 2250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417320"/>
            <a:ext cx="82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</a:t>
            </a:r>
            <a:endParaRPr lang="en-US" sz="7000" dirty="0"/>
          </a:p>
        </p:txBody>
      </p:sp>
      <p:sp>
        <p:nvSpPr>
          <p:cNvPr id="8" name="Text 6"/>
          <p:cNvSpPr/>
          <p:nvPr/>
        </p:nvSpPr>
        <p:spPr>
          <a:xfrm>
            <a:off x="1234440" y="2057400"/>
            <a:ext cx="4297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Software em funcionamento mais que documentação abrangente.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1234440" y="3383280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“Ou seja: embora haja valor nos itens à direita, valorizamos mais os itens à esquerda.”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1234440" y="443484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Manifesto Ágil, 2001 (texto integral)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63640" y="1463040"/>
            <a:ext cx="457200" cy="457200"/>
          </a:xfrm>
          <a:prstGeom prst="ellipse">
            <a:avLst/>
          </a:prstGeom>
          <a:solidFill>
            <a:srgbClr val="2E7D5B"/>
          </a:solidFill>
          <a:ln/>
        </p:spPr>
      </p:sp>
      <p:pic>
        <p:nvPicPr>
          <p:cNvPr id="12" name="Image 0" descr="/tmp/claude-0/-home-user-doc-template-engine/198c21fb-8b4a-5b3c-a787-7fafcb963965/scratchpad/workshop/icons/checkmini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87084" y="1586484"/>
            <a:ext cx="210312" cy="210312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6858000" y="1426464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“Mais que” não é “em vez de”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858000" y="173736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documentação necessária continua necessária. O manifesto compara valores; não anula o da direita.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263640" y="2761488"/>
            <a:ext cx="457200" cy="457200"/>
          </a:xfrm>
          <a:prstGeom prst="ellipse">
            <a:avLst/>
          </a:prstGeom>
          <a:solidFill>
            <a:srgbClr val="B2492F"/>
          </a:solidFill>
          <a:ln/>
        </p:spPr>
      </p:sp>
      <p:pic>
        <p:nvPicPr>
          <p:cNvPr id="16" name="Image 1" descr="/tmp/claude-0/-home-user-doc-template-engine/198c21fb-8b4a-5b3c-a787-7fafcb963965/scratchpad/workshop/icons/x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7084" y="2884932"/>
            <a:ext cx="210312" cy="210312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6858000" y="2724912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o ágil eliminou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6858000" y="3035808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documento que ninguém lê: escrito cedo demais, detalhado demais, desatualizado no dia seguinte.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6263640" y="4059936"/>
            <a:ext cx="457200" cy="457200"/>
          </a:xfrm>
          <a:prstGeom prst="ellipse">
            <a:avLst/>
          </a:prstGeom>
          <a:solidFill>
            <a:srgbClr val="C77F1A"/>
          </a:solidFill>
          <a:ln/>
        </p:spPr>
      </p:sp>
      <p:pic>
        <p:nvPicPr>
          <p:cNvPr id="20" name="Image 2" descr="/tmp/claude-0/-home-user-doc-template-engine/198c21fb-8b4a-5b3c-a787-7fafcb963965/scratchpad/workshop/icons/clock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7084" y="4183380"/>
            <a:ext cx="210312" cy="210312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6858000" y="4023360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a história faz</a:t>
            </a:r>
            <a:endParaRPr lang="en-US" sz="1400" dirty="0"/>
          </a:p>
        </p:txBody>
      </p:sp>
      <p:sp>
        <p:nvSpPr>
          <p:cNvPr id="22" name="Text 17"/>
          <p:cNvSpPr/>
          <p:nvPr/>
        </p:nvSpPr>
        <p:spPr>
          <a:xfrm>
            <a:off x="6858000" y="4334256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Adia o detalhe para o momento certo (just in time) e para o lugar certo — ela não o cancela.</a:t>
            </a:r>
            <a:endParaRPr lang="en-US" sz="1200" dirty="0"/>
          </a:p>
        </p:txBody>
      </p:sp>
      <p:sp>
        <p:nvSpPr>
          <p:cNvPr id="23" name="Text 18"/>
          <p:cNvSpPr/>
          <p:nvPr/>
        </p:nvSpPr>
        <p:spPr>
          <a:xfrm>
            <a:off x="594360" y="5486400"/>
            <a:ext cx="11000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77F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 ambiente com auditoria e conformidade — como o Sistema Indústria — documentação não é opcional: é requisito.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2 · COMO AS PEÇAS SE ENCAIXAM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12064"/>
            <a:ext cx="11000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ciclo saudável do requisito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6519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 — Workshop CNI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96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94360" y="1463040"/>
            <a:ext cx="3337560" cy="1371600"/>
          </a:xfrm>
          <a:prstGeom prst="roundRect">
            <a:avLst>
              <a:gd name="adj" fmla="val 6000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240" y="1645920"/>
            <a:ext cx="457200" cy="45720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371600" y="162763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Necessidade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868680" y="214884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alguém precisa de algo novo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977640" y="2148840"/>
            <a:ext cx="457200" cy="0"/>
          </a:xfrm>
          <a:prstGeom prst="line">
            <a:avLst/>
          </a:prstGeom>
          <a:noFill/>
          <a:ln w="27940">
            <a:solidFill>
              <a:srgbClr val="C77F1A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480560" y="1463040"/>
            <a:ext cx="3337560" cy="1371600"/>
          </a:xfrm>
          <a:prstGeom prst="roundRect">
            <a:avLst>
              <a:gd name="adj" fmla="val 6000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63440" y="1645920"/>
            <a:ext cx="457200" cy="45720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4" name="Text 12"/>
          <p:cNvSpPr/>
          <p:nvPr/>
        </p:nvSpPr>
        <p:spPr>
          <a:xfrm>
            <a:off x="466344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257800" y="162763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 no Jira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754880" y="214884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história: planejar e priorizar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7863840" y="2148840"/>
            <a:ext cx="457200" cy="0"/>
          </a:xfrm>
          <a:prstGeom prst="line">
            <a:avLst/>
          </a:prstGeom>
          <a:noFill/>
          <a:ln w="27940">
            <a:solidFill>
              <a:srgbClr val="C77F1A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8366760" y="1463040"/>
            <a:ext cx="3337560" cy="1371600"/>
          </a:xfrm>
          <a:prstGeom prst="roundRect">
            <a:avLst>
              <a:gd name="adj" fmla="val 6000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549640" y="1645920"/>
            <a:ext cx="457200" cy="45720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20" name="Text 18"/>
          <p:cNvSpPr/>
          <p:nvPr/>
        </p:nvSpPr>
        <p:spPr>
          <a:xfrm>
            <a:off x="854964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144000" y="162763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8641080" y="214884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refinamento com negócio, dev e QA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94360" y="3246120"/>
            <a:ext cx="3337560" cy="1371600"/>
          </a:xfrm>
          <a:prstGeom prst="roundRect">
            <a:avLst>
              <a:gd name="adj" fmla="val 6000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77240" y="3429000"/>
            <a:ext cx="457200" cy="45720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25" name="Text 23"/>
          <p:cNvSpPr/>
          <p:nvPr/>
        </p:nvSpPr>
        <p:spPr>
          <a:xfrm>
            <a:off x="777240" y="3429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1371600" y="341071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de aceite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868680" y="393192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condições que passam ou falham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3977640" y="3931920"/>
            <a:ext cx="457200" cy="0"/>
          </a:xfrm>
          <a:prstGeom prst="line">
            <a:avLst/>
          </a:prstGeom>
          <a:noFill/>
          <a:ln w="27940">
            <a:solidFill>
              <a:srgbClr val="C77F1A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4480560" y="3246120"/>
            <a:ext cx="3337560" cy="1371600"/>
          </a:xfrm>
          <a:prstGeom prst="roundRect">
            <a:avLst>
              <a:gd name="adj" fmla="val 6000"/>
            </a:avLst>
          </a:prstGeom>
          <a:solidFill>
            <a:srgbClr val="FBF0DC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663440" y="3429000"/>
            <a:ext cx="457200" cy="45720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31" name="Text 29"/>
          <p:cNvSpPr/>
          <p:nvPr/>
        </p:nvSpPr>
        <p:spPr>
          <a:xfrm>
            <a:off x="4663440" y="3429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5257800" y="341071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Especificação viva</a:t>
            </a:r>
            <a:endParaRPr lang="en-US" sz="1450" dirty="0"/>
          </a:p>
        </p:txBody>
      </p:sp>
      <p:sp>
        <p:nvSpPr>
          <p:cNvPr id="33" name="Text 31"/>
          <p:cNvSpPr/>
          <p:nvPr/>
        </p:nvSpPr>
        <p:spPr>
          <a:xfrm>
            <a:off x="4754880" y="393192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campos, regras, estados, erros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7863840" y="3931920"/>
            <a:ext cx="457200" cy="0"/>
          </a:xfrm>
          <a:prstGeom prst="line">
            <a:avLst/>
          </a:prstGeom>
          <a:noFill/>
          <a:ln w="27940">
            <a:solidFill>
              <a:srgbClr val="C77F1A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8366760" y="3246120"/>
            <a:ext cx="3337560" cy="1371600"/>
          </a:xfrm>
          <a:prstGeom prst="roundRect">
            <a:avLst>
              <a:gd name="adj" fmla="val 6000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549640" y="3429000"/>
            <a:ext cx="457200" cy="45720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37" name="Text 35"/>
          <p:cNvSpPr/>
          <p:nvPr/>
        </p:nvSpPr>
        <p:spPr>
          <a:xfrm>
            <a:off x="8549640" y="3429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9144000" y="341071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</a:t>
            </a:r>
            <a:endParaRPr lang="en-US" sz="1450" dirty="0"/>
          </a:p>
        </p:txBody>
      </p:sp>
      <p:sp>
        <p:nvSpPr>
          <p:cNvPr id="39" name="Text 37"/>
          <p:cNvSpPr/>
          <p:nvPr/>
        </p:nvSpPr>
        <p:spPr>
          <a:xfrm>
            <a:off x="8641080" y="393192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passam; documentação atualizada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10035540" y="2852928"/>
            <a:ext cx="0" cy="210312"/>
          </a:xfrm>
          <a:prstGeom prst="line">
            <a:avLst/>
          </a:prstGeom>
          <a:noFill/>
          <a:ln w="22225">
            <a:solidFill>
              <a:srgbClr val="C77F1A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2263140" y="3063240"/>
            <a:ext cx="7772400" cy="0"/>
          </a:xfrm>
          <a:prstGeom prst="line">
            <a:avLst/>
          </a:prstGeom>
          <a:noFill/>
          <a:ln w="22225">
            <a:solidFill>
              <a:srgbClr val="C77F1A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>
            <a:off x="2263140" y="3063240"/>
            <a:ext cx="0" cy="164592"/>
          </a:xfrm>
          <a:prstGeom prst="line">
            <a:avLst/>
          </a:prstGeom>
          <a:noFill/>
          <a:ln w="27940">
            <a:solidFill>
              <a:srgbClr val="C77F1A"/>
            </a:solidFill>
            <a:prstDash val="dash"/>
            <a:tailEnd type="triangle"/>
          </a:ln>
        </p:spPr>
      </p:sp>
      <p:sp>
        <p:nvSpPr>
          <p:cNvPr id="43" name="Text 41"/>
          <p:cNvSpPr/>
          <p:nvPr/>
        </p:nvSpPr>
        <p:spPr>
          <a:xfrm>
            <a:off x="594360" y="5257800"/>
            <a:ext cx="11000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mudou o requisito?  novo card (passos 2–4)  →  a MESMA especificação é atualizada (passo 5)</a:t>
            </a:r>
            <a:endParaRPr lang="en-US" sz="1250" dirty="0"/>
          </a:p>
        </p:txBody>
      </p:sp>
      <p:sp>
        <p:nvSpPr>
          <p:cNvPr id="44" name="Shape 42"/>
          <p:cNvSpPr/>
          <p:nvPr/>
        </p:nvSpPr>
        <p:spPr>
          <a:xfrm>
            <a:off x="2103120" y="5760720"/>
            <a:ext cx="7955280" cy="621792"/>
          </a:xfrm>
          <a:prstGeom prst="roundRect">
            <a:avLst>
              <a:gd name="adj" fmla="val 11765"/>
            </a:avLst>
          </a:prstGeom>
          <a:solidFill>
            <a:srgbClr val="1B2A4A"/>
          </a:solidFill>
          <a:ln/>
        </p:spPr>
      </p:sp>
      <p:sp>
        <p:nvSpPr>
          <p:cNvPr id="45" name="Text 43"/>
          <p:cNvSpPr/>
          <p:nvPr/>
        </p:nvSpPr>
        <p:spPr>
          <a:xfrm>
            <a:off x="2103120" y="5760720"/>
            <a:ext cx="7955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card fecha. A especificação e a documentação ficam.</a:t>
            </a:r>
            <a:endParaRPr lang="en-US" sz="15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2 · MUITAS HISTÓRIAS, UMA FUNCIONALIDADE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12064"/>
            <a:ext cx="11000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linha do tempo: histórias passam, a documentação cresce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94360" y="6519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 — Workshop CNI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96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94360" y="1847088"/>
            <a:ext cx="365760" cy="365760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7" name="Image 0" descr="/tmp/claude-0/-home-user-doc-template-engine/198c21fb-8b4a-5b3c-a787-7fafcb963965/scratchpad/workshop/icons/trello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3115" y="1945843"/>
            <a:ext cx="168250" cy="16825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94360" y="2267712"/>
            <a:ext cx="15727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594360" y="2487168"/>
            <a:ext cx="15727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cards no Jira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594360" y="3035808"/>
            <a:ext cx="365760" cy="365760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11" name="Image 1" descr="/tmp/claude-0/-home-user-doc-template-engine/198c21fb-8b4a-5b3c-a787-7fafcb963965/scratchpad/workshop/icons/zap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3115" y="3134563"/>
            <a:ext cx="168250" cy="16825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94360" y="3456432"/>
            <a:ext cx="15727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594360" y="3675888"/>
            <a:ext cx="15727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sistema hoje</a:t>
            </a:r>
            <a:endParaRPr lang="en-US" sz="850" dirty="0"/>
          </a:p>
        </p:txBody>
      </p:sp>
      <p:sp>
        <p:nvSpPr>
          <p:cNvPr id="14" name="Shape 10"/>
          <p:cNvSpPr/>
          <p:nvPr/>
        </p:nvSpPr>
        <p:spPr>
          <a:xfrm>
            <a:off x="594360" y="4343400"/>
            <a:ext cx="365760" cy="365760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15" name="Image 2" descr="/tmp/claude-0/-home-user-doc-template-engine/198c21fb-8b4a-5b3c-a787-7fafcb963965/scratchpad/workshop/icons/file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3115" y="4442155"/>
            <a:ext cx="168250" cy="16825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594360" y="4764024"/>
            <a:ext cx="15727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DOCUMENTAÇÃO</a:t>
            </a:r>
            <a:endParaRPr lang="en-US" sz="950" dirty="0"/>
          </a:p>
        </p:txBody>
      </p:sp>
      <p:sp>
        <p:nvSpPr>
          <p:cNvPr id="17" name="Text 12"/>
          <p:cNvSpPr/>
          <p:nvPr/>
        </p:nvSpPr>
        <p:spPr>
          <a:xfrm>
            <a:off x="594360" y="4983480"/>
            <a:ext cx="15727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especificação viva</a:t>
            </a:r>
            <a:endParaRPr lang="en-US" sz="850" dirty="0"/>
          </a:p>
        </p:txBody>
      </p:sp>
      <p:sp>
        <p:nvSpPr>
          <p:cNvPr id="18" name="Shape 13"/>
          <p:cNvSpPr/>
          <p:nvPr/>
        </p:nvSpPr>
        <p:spPr>
          <a:xfrm>
            <a:off x="2240280" y="1572768"/>
            <a:ext cx="9326880" cy="0"/>
          </a:xfrm>
          <a:prstGeom prst="line">
            <a:avLst/>
          </a:prstGeom>
          <a:noFill/>
          <a:ln w="19050">
            <a:solidFill>
              <a:srgbClr val="D7E2EF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3310128" y="1522476"/>
            <a:ext cx="100584" cy="100584"/>
          </a:xfrm>
          <a:prstGeom prst="ellipse">
            <a:avLst/>
          </a:prstGeom>
          <a:solidFill>
            <a:srgbClr val="C77F1A"/>
          </a:solidFill>
          <a:ln/>
        </p:spPr>
      </p:sp>
      <p:sp>
        <p:nvSpPr>
          <p:cNvPr id="20" name="Text 15"/>
          <p:cNvSpPr/>
          <p:nvPr/>
        </p:nvSpPr>
        <p:spPr>
          <a:xfrm>
            <a:off x="2240280" y="1298448"/>
            <a:ext cx="2240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23</a:t>
            </a:r>
            <a:endParaRPr lang="en-US" sz="950" dirty="0"/>
          </a:p>
        </p:txBody>
      </p:sp>
      <p:sp>
        <p:nvSpPr>
          <p:cNvPr id="21" name="Shape 16"/>
          <p:cNvSpPr/>
          <p:nvPr/>
        </p:nvSpPr>
        <p:spPr>
          <a:xfrm>
            <a:off x="5687568" y="1522476"/>
            <a:ext cx="100584" cy="100584"/>
          </a:xfrm>
          <a:prstGeom prst="ellipse">
            <a:avLst/>
          </a:prstGeom>
          <a:solidFill>
            <a:srgbClr val="C77F1A"/>
          </a:solidFill>
          <a:ln/>
        </p:spPr>
      </p:sp>
      <p:sp>
        <p:nvSpPr>
          <p:cNvPr id="22" name="Text 17"/>
          <p:cNvSpPr/>
          <p:nvPr/>
        </p:nvSpPr>
        <p:spPr>
          <a:xfrm>
            <a:off x="4617720" y="1298448"/>
            <a:ext cx="2240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25</a:t>
            </a:r>
            <a:endParaRPr lang="en-US" sz="950" dirty="0"/>
          </a:p>
        </p:txBody>
      </p:sp>
      <p:sp>
        <p:nvSpPr>
          <p:cNvPr id="23" name="Shape 18"/>
          <p:cNvSpPr/>
          <p:nvPr/>
        </p:nvSpPr>
        <p:spPr>
          <a:xfrm>
            <a:off x="8065008" y="1522476"/>
            <a:ext cx="100584" cy="100584"/>
          </a:xfrm>
          <a:prstGeom prst="ellipse">
            <a:avLst/>
          </a:prstGeom>
          <a:solidFill>
            <a:srgbClr val="C77F1A"/>
          </a:solidFill>
          <a:ln/>
        </p:spPr>
      </p:sp>
      <p:sp>
        <p:nvSpPr>
          <p:cNvPr id="24" name="Text 19"/>
          <p:cNvSpPr/>
          <p:nvPr/>
        </p:nvSpPr>
        <p:spPr>
          <a:xfrm>
            <a:off x="6995160" y="1298448"/>
            <a:ext cx="2240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28</a:t>
            </a:r>
            <a:endParaRPr lang="en-US" sz="950" dirty="0"/>
          </a:p>
        </p:txBody>
      </p:sp>
      <p:sp>
        <p:nvSpPr>
          <p:cNvPr id="25" name="Shape 20"/>
          <p:cNvSpPr/>
          <p:nvPr/>
        </p:nvSpPr>
        <p:spPr>
          <a:xfrm>
            <a:off x="10442448" y="1522476"/>
            <a:ext cx="100584" cy="100584"/>
          </a:xfrm>
          <a:prstGeom prst="ellipse">
            <a:avLst/>
          </a:prstGeom>
          <a:solidFill>
            <a:srgbClr val="C77F1A"/>
          </a:solidFill>
          <a:ln/>
        </p:spPr>
      </p:sp>
      <p:sp>
        <p:nvSpPr>
          <p:cNvPr id="26" name="Text 21"/>
          <p:cNvSpPr/>
          <p:nvPr/>
        </p:nvSpPr>
        <p:spPr>
          <a:xfrm>
            <a:off x="9372600" y="1298448"/>
            <a:ext cx="2240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31</a:t>
            </a:r>
            <a:endParaRPr lang="en-US" sz="950" dirty="0"/>
          </a:p>
        </p:txBody>
      </p:sp>
      <p:sp>
        <p:nvSpPr>
          <p:cNvPr id="27" name="Shape 22"/>
          <p:cNvSpPr/>
          <p:nvPr/>
        </p:nvSpPr>
        <p:spPr>
          <a:xfrm>
            <a:off x="2240280" y="1810512"/>
            <a:ext cx="2240280" cy="896112"/>
          </a:xfrm>
          <a:prstGeom prst="roundRect">
            <a:avLst>
              <a:gd name="adj" fmla="val 8163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2359152" y="1938528"/>
            <a:ext cx="164592" cy="16459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9" name="Text 24"/>
          <p:cNvSpPr/>
          <p:nvPr/>
        </p:nvSpPr>
        <p:spPr>
          <a:xfrm>
            <a:off x="2624328" y="1883664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 precificação</a:t>
            </a:r>
            <a:endParaRPr lang="en-US" sz="1000" dirty="0"/>
          </a:p>
        </p:txBody>
      </p:sp>
      <p:sp>
        <p:nvSpPr>
          <p:cNvPr id="30" name="Text 25"/>
          <p:cNvSpPr/>
          <p:nvPr/>
        </p:nvSpPr>
        <p:spPr>
          <a:xfrm>
            <a:off x="2624328" y="2414016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card fechado</a:t>
            </a:r>
            <a:endParaRPr lang="en-US" sz="850" dirty="0"/>
          </a:p>
        </p:txBody>
      </p:sp>
      <p:sp>
        <p:nvSpPr>
          <p:cNvPr id="31" name="Shape 26"/>
          <p:cNvSpPr/>
          <p:nvPr/>
        </p:nvSpPr>
        <p:spPr>
          <a:xfrm>
            <a:off x="3360420" y="2761488"/>
            <a:ext cx="0" cy="256032"/>
          </a:xfrm>
          <a:prstGeom prst="line">
            <a:avLst/>
          </a:prstGeom>
          <a:noFill/>
          <a:ln w="27940">
            <a:solidFill>
              <a:srgbClr val="5B6B84"/>
            </a:solidFill>
            <a:prstDash val="solid"/>
            <a:tailEnd type="triangle"/>
          </a:ln>
        </p:spPr>
      </p:sp>
      <p:sp>
        <p:nvSpPr>
          <p:cNvPr id="32" name="Shape 27"/>
          <p:cNvSpPr/>
          <p:nvPr/>
        </p:nvSpPr>
        <p:spPr>
          <a:xfrm>
            <a:off x="4617720" y="1810512"/>
            <a:ext cx="2240280" cy="896112"/>
          </a:xfrm>
          <a:prstGeom prst="roundRect">
            <a:avLst>
              <a:gd name="adj" fmla="val 8163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33" name="Shape 28"/>
          <p:cNvSpPr/>
          <p:nvPr/>
        </p:nvSpPr>
        <p:spPr>
          <a:xfrm>
            <a:off x="4736592" y="1938528"/>
            <a:ext cx="164592" cy="16459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4" name="Text 29"/>
          <p:cNvSpPr/>
          <p:nvPr/>
        </p:nvSpPr>
        <p:spPr>
          <a:xfrm>
            <a:off x="5001768" y="1883664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Devolver ao comprador</a:t>
            </a:r>
            <a:endParaRPr lang="en-US" sz="1000" dirty="0"/>
          </a:p>
        </p:txBody>
      </p:sp>
      <p:sp>
        <p:nvSpPr>
          <p:cNvPr id="35" name="Text 30"/>
          <p:cNvSpPr/>
          <p:nvPr/>
        </p:nvSpPr>
        <p:spPr>
          <a:xfrm>
            <a:off x="5001768" y="2414016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card fechado</a:t>
            </a:r>
            <a:endParaRPr lang="en-US" sz="850" dirty="0"/>
          </a:p>
        </p:txBody>
      </p:sp>
      <p:sp>
        <p:nvSpPr>
          <p:cNvPr id="36" name="Shape 31"/>
          <p:cNvSpPr/>
          <p:nvPr/>
        </p:nvSpPr>
        <p:spPr>
          <a:xfrm>
            <a:off x="5737860" y="2761488"/>
            <a:ext cx="0" cy="256032"/>
          </a:xfrm>
          <a:prstGeom prst="line">
            <a:avLst/>
          </a:prstGeom>
          <a:noFill/>
          <a:ln w="27940">
            <a:solidFill>
              <a:srgbClr val="5B6B84"/>
            </a:solidFill>
            <a:prstDash val="solid"/>
            <a:tailEnd type="triangle"/>
          </a:ln>
        </p:spPr>
      </p:sp>
      <p:sp>
        <p:nvSpPr>
          <p:cNvPr id="37" name="Shape 32"/>
          <p:cNvSpPr/>
          <p:nvPr/>
        </p:nvSpPr>
        <p:spPr>
          <a:xfrm>
            <a:off x="6995160" y="1810512"/>
            <a:ext cx="2240280" cy="896112"/>
          </a:xfrm>
          <a:prstGeom prst="roundRect">
            <a:avLst>
              <a:gd name="adj" fmla="val 8163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38" name="Shape 33"/>
          <p:cNvSpPr/>
          <p:nvPr/>
        </p:nvSpPr>
        <p:spPr>
          <a:xfrm>
            <a:off x="7114032" y="1938528"/>
            <a:ext cx="164592" cy="16459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9" name="Text 34"/>
          <p:cNvSpPr/>
          <p:nvPr/>
        </p:nvSpPr>
        <p:spPr>
          <a:xfrm>
            <a:off x="7379208" y="1883664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Anexar propostas em lote</a:t>
            </a:r>
            <a:endParaRPr lang="en-US" sz="1000" dirty="0"/>
          </a:p>
        </p:txBody>
      </p:sp>
      <p:sp>
        <p:nvSpPr>
          <p:cNvPr id="40" name="Text 35"/>
          <p:cNvSpPr/>
          <p:nvPr/>
        </p:nvSpPr>
        <p:spPr>
          <a:xfrm>
            <a:off x="7379208" y="2414016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card fechado</a:t>
            </a:r>
            <a:endParaRPr lang="en-US" sz="850" dirty="0"/>
          </a:p>
        </p:txBody>
      </p:sp>
      <p:sp>
        <p:nvSpPr>
          <p:cNvPr id="41" name="Shape 36"/>
          <p:cNvSpPr/>
          <p:nvPr/>
        </p:nvSpPr>
        <p:spPr>
          <a:xfrm>
            <a:off x="8115300" y="2761488"/>
            <a:ext cx="0" cy="256032"/>
          </a:xfrm>
          <a:prstGeom prst="line">
            <a:avLst/>
          </a:prstGeom>
          <a:noFill/>
          <a:ln w="27940">
            <a:solidFill>
              <a:srgbClr val="5B6B84"/>
            </a:solidFill>
            <a:prstDash val="solid"/>
            <a:tailEnd type="triangle"/>
          </a:ln>
        </p:spPr>
      </p:sp>
      <p:sp>
        <p:nvSpPr>
          <p:cNvPr id="42" name="Shape 37"/>
          <p:cNvSpPr/>
          <p:nvPr/>
        </p:nvSpPr>
        <p:spPr>
          <a:xfrm>
            <a:off x="9372600" y="1810512"/>
            <a:ext cx="2240280" cy="896112"/>
          </a:xfrm>
          <a:prstGeom prst="roundRect">
            <a:avLst>
              <a:gd name="adj" fmla="val 8163"/>
            </a:avLst>
          </a:prstGeom>
          <a:solidFill>
            <a:srgbClr val="FBF0DC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43" name="Shape 38"/>
          <p:cNvSpPr/>
          <p:nvPr/>
        </p:nvSpPr>
        <p:spPr>
          <a:xfrm>
            <a:off x="9491472" y="1938528"/>
            <a:ext cx="164592" cy="16459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44" name="Text 39"/>
          <p:cNvSpPr/>
          <p:nvPr/>
        </p:nvSpPr>
        <p:spPr>
          <a:xfrm>
            <a:off x="9756648" y="1883664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Notificar devolução ao comprador</a:t>
            </a:r>
            <a:endParaRPr lang="en-US" sz="1000" dirty="0"/>
          </a:p>
        </p:txBody>
      </p:sp>
      <p:sp>
        <p:nvSpPr>
          <p:cNvPr id="45" name="Text 40"/>
          <p:cNvSpPr/>
          <p:nvPr/>
        </p:nvSpPr>
        <p:spPr>
          <a:xfrm>
            <a:off x="9756648" y="2414016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em sprint</a:t>
            </a:r>
            <a:endParaRPr lang="en-US" sz="850" dirty="0"/>
          </a:p>
        </p:txBody>
      </p:sp>
      <p:sp>
        <p:nvSpPr>
          <p:cNvPr id="46" name="Shape 41"/>
          <p:cNvSpPr/>
          <p:nvPr/>
        </p:nvSpPr>
        <p:spPr>
          <a:xfrm>
            <a:off x="10492740" y="2761488"/>
            <a:ext cx="0" cy="256032"/>
          </a:xfrm>
          <a:prstGeom prst="line">
            <a:avLst/>
          </a:prstGeom>
          <a:noFill/>
          <a:ln w="27940">
            <a:solidFill>
              <a:srgbClr val="5B6B84"/>
            </a:solidFill>
            <a:prstDash val="solid"/>
            <a:tailEnd type="triangle"/>
          </a:ln>
        </p:spPr>
      </p:sp>
      <p:sp>
        <p:nvSpPr>
          <p:cNvPr id="47" name="Shape 42"/>
          <p:cNvSpPr/>
          <p:nvPr/>
        </p:nvSpPr>
        <p:spPr>
          <a:xfrm>
            <a:off x="2240280" y="3072384"/>
            <a:ext cx="2240280" cy="566928"/>
          </a:xfrm>
          <a:prstGeom prst="rect">
            <a:avLst/>
          </a:prstGeom>
          <a:solidFill>
            <a:srgbClr val="1B2A4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Text 43"/>
          <p:cNvSpPr/>
          <p:nvPr/>
        </p:nvSpPr>
        <p:spPr>
          <a:xfrm>
            <a:off x="2286000" y="3072384"/>
            <a:ext cx="2148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precificar SC</a:t>
            </a:r>
            <a:endParaRPr lang="en-US" sz="1050" dirty="0"/>
          </a:p>
        </p:txBody>
      </p:sp>
      <p:sp>
        <p:nvSpPr>
          <p:cNvPr id="49" name="Shape 44"/>
          <p:cNvSpPr/>
          <p:nvPr/>
        </p:nvSpPr>
        <p:spPr>
          <a:xfrm>
            <a:off x="4617720" y="3072384"/>
            <a:ext cx="2240280" cy="566928"/>
          </a:xfrm>
          <a:prstGeom prst="rect">
            <a:avLst/>
          </a:prstGeom>
          <a:solidFill>
            <a:srgbClr val="24365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0" name="Text 45"/>
          <p:cNvSpPr/>
          <p:nvPr/>
        </p:nvSpPr>
        <p:spPr>
          <a:xfrm>
            <a:off x="4663440" y="3072384"/>
            <a:ext cx="2148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devolver</a:t>
            </a:r>
            <a:endParaRPr lang="en-US" sz="1050" dirty="0"/>
          </a:p>
        </p:txBody>
      </p:sp>
      <p:sp>
        <p:nvSpPr>
          <p:cNvPr id="51" name="Shape 46"/>
          <p:cNvSpPr/>
          <p:nvPr/>
        </p:nvSpPr>
        <p:spPr>
          <a:xfrm>
            <a:off x="6995160" y="3072384"/>
            <a:ext cx="2240280" cy="566928"/>
          </a:xfrm>
          <a:prstGeom prst="rect">
            <a:avLst/>
          </a:prstGeom>
          <a:solidFill>
            <a:srgbClr val="3149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2" name="Text 47"/>
          <p:cNvSpPr/>
          <p:nvPr/>
        </p:nvSpPr>
        <p:spPr>
          <a:xfrm>
            <a:off x="7040880" y="3072384"/>
            <a:ext cx="2148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anexos em lote</a:t>
            </a:r>
            <a:endParaRPr lang="en-US" sz="1050" dirty="0"/>
          </a:p>
        </p:txBody>
      </p:sp>
      <p:sp>
        <p:nvSpPr>
          <p:cNvPr id="53" name="Shape 48"/>
          <p:cNvSpPr/>
          <p:nvPr/>
        </p:nvSpPr>
        <p:spPr>
          <a:xfrm>
            <a:off x="9372600" y="3072384"/>
            <a:ext cx="2240280" cy="566928"/>
          </a:xfrm>
          <a:prstGeom prst="rect">
            <a:avLst/>
          </a:prstGeom>
          <a:solidFill>
            <a:srgbClr val="C77F1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4" name="Text 49"/>
          <p:cNvSpPr/>
          <p:nvPr/>
        </p:nvSpPr>
        <p:spPr>
          <a:xfrm>
            <a:off x="9418320" y="3072384"/>
            <a:ext cx="2148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notificar</a:t>
            </a:r>
            <a:endParaRPr lang="en-US" sz="1050" dirty="0"/>
          </a:p>
        </p:txBody>
      </p:sp>
      <p:sp>
        <p:nvSpPr>
          <p:cNvPr id="55" name="Shape 50"/>
          <p:cNvSpPr/>
          <p:nvPr/>
        </p:nvSpPr>
        <p:spPr>
          <a:xfrm>
            <a:off x="11576304" y="3355848"/>
            <a:ext cx="201168" cy="0"/>
          </a:xfrm>
          <a:prstGeom prst="line">
            <a:avLst/>
          </a:prstGeom>
          <a:noFill/>
          <a:ln w="27940">
            <a:solidFill>
              <a:srgbClr val="C77F1A"/>
            </a:solidFill>
            <a:prstDash val="solid"/>
            <a:tailEnd type="triangle"/>
          </a:ln>
        </p:spPr>
      </p:sp>
      <p:sp>
        <p:nvSpPr>
          <p:cNvPr id="56" name="Shape 51"/>
          <p:cNvSpPr/>
          <p:nvPr/>
        </p:nvSpPr>
        <p:spPr>
          <a:xfrm>
            <a:off x="3360420" y="3694176"/>
            <a:ext cx="0" cy="1399032"/>
          </a:xfrm>
          <a:prstGeom prst="line">
            <a:avLst/>
          </a:prstGeom>
          <a:noFill/>
          <a:ln w="27940">
            <a:solidFill>
              <a:srgbClr val="2E7D5B"/>
            </a:solidFill>
            <a:prstDash val="dash"/>
            <a:tailEnd type="triangle"/>
          </a:ln>
        </p:spPr>
      </p:sp>
      <p:sp>
        <p:nvSpPr>
          <p:cNvPr id="57" name="Text 52"/>
          <p:cNvSpPr/>
          <p:nvPr/>
        </p:nvSpPr>
        <p:spPr>
          <a:xfrm>
            <a:off x="3451860" y="3730752"/>
            <a:ext cx="1234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cria a v1</a:t>
            </a:r>
            <a:endParaRPr lang="en-US" sz="850" dirty="0"/>
          </a:p>
        </p:txBody>
      </p:sp>
      <p:sp>
        <p:nvSpPr>
          <p:cNvPr id="58" name="Shape 53"/>
          <p:cNvSpPr/>
          <p:nvPr/>
        </p:nvSpPr>
        <p:spPr>
          <a:xfrm>
            <a:off x="2674620" y="5148072"/>
            <a:ext cx="1371600" cy="219456"/>
          </a:xfrm>
          <a:prstGeom prst="roundRect">
            <a:avLst>
              <a:gd name="adj" fmla="val 12500"/>
            </a:avLst>
          </a:prstGeom>
          <a:solidFill>
            <a:srgbClr val="2E7D5B"/>
          </a:solidFill>
          <a:ln w="12700">
            <a:solidFill>
              <a:srgbClr val="BCD9C9"/>
            </a:solidFill>
            <a:prstDash val="solid"/>
          </a:ln>
        </p:spPr>
      </p:sp>
      <p:sp>
        <p:nvSpPr>
          <p:cNvPr id="59" name="Text 54"/>
          <p:cNvSpPr/>
          <p:nvPr/>
        </p:nvSpPr>
        <p:spPr>
          <a:xfrm>
            <a:off x="2674620" y="5148072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</a:t>
            </a:r>
            <a:endParaRPr lang="en-US" sz="950" dirty="0"/>
          </a:p>
        </p:txBody>
      </p:sp>
      <p:sp>
        <p:nvSpPr>
          <p:cNvPr id="60" name="Shape 55"/>
          <p:cNvSpPr/>
          <p:nvPr/>
        </p:nvSpPr>
        <p:spPr>
          <a:xfrm>
            <a:off x="5737860" y="3694176"/>
            <a:ext cx="0" cy="1152144"/>
          </a:xfrm>
          <a:prstGeom prst="line">
            <a:avLst/>
          </a:prstGeom>
          <a:noFill/>
          <a:ln w="27940">
            <a:solidFill>
              <a:srgbClr val="2E7D5B"/>
            </a:solidFill>
            <a:prstDash val="dash"/>
            <a:tailEnd type="triangle"/>
          </a:ln>
        </p:spPr>
      </p:sp>
      <p:sp>
        <p:nvSpPr>
          <p:cNvPr id="61" name="Text 56"/>
          <p:cNvSpPr/>
          <p:nvPr/>
        </p:nvSpPr>
        <p:spPr>
          <a:xfrm>
            <a:off x="5829300" y="3730752"/>
            <a:ext cx="1234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atualiza → v2</a:t>
            </a:r>
            <a:endParaRPr lang="en-US" sz="850" dirty="0"/>
          </a:p>
        </p:txBody>
      </p:sp>
      <p:sp>
        <p:nvSpPr>
          <p:cNvPr id="62" name="Shape 57"/>
          <p:cNvSpPr/>
          <p:nvPr/>
        </p:nvSpPr>
        <p:spPr>
          <a:xfrm>
            <a:off x="5052060" y="5148072"/>
            <a:ext cx="1371600" cy="219456"/>
          </a:xfrm>
          <a:prstGeom prst="roundRect">
            <a:avLst>
              <a:gd name="adj" fmla="val 12500"/>
            </a:avLst>
          </a:prstGeom>
          <a:solidFill>
            <a:srgbClr val="E9F3EE"/>
          </a:solidFill>
          <a:ln w="12700">
            <a:solidFill>
              <a:srgbClr val="BCD9C9"/>
            </a:solidFill>
            <a:prstDash val="solid"/>
          </a:ln>
        </p:spPr>
      </p:sp>
      <p:sp>
        <p:nvSpPr>
          <p:cNvPr id="63" name="Shape 58"/>
          <p:cNvSpPr/>
          <p:nvPr/>
        </p:nvSpPr>
        <p:spPr>
          <a:xfrm>
            <a:off x="5052060" y="4901184"/>
            <a:ext cx="1371600" cy="219456"/>
          </a:xfrm>
          <a:prstGeom prst="roundRect">
            <a:avLst>
              <a:gd name="adj" fmla="val 12500"/>
            </a:avLst>
          </a:prstGeom>
          <a:solidFill>
            <a:srgbClr val="2E7D5B"/>
          </a:solidFill>
          <a:ln w="12700">
            <a:solidFill>
              <a:srgbClr val="BCD9C9"/>
            </a:solidFill>
            <a:prstDash val="solid"/>
          </a:ln>
        </p:spPr>
      </p:sp>
      <p:sp>
        <p:nvSpPr>
          <p:cNvPr id="64" name="Text 59"/>
          <p:cNvSpPr/>
          <p:nvPr/>
        </p:nvSpPr>
        <p:spPr>
          <a:xfrm>
            <a:off x="5052060" y="490118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v2</a:t>
            </a:r>
            <a:endParaRPr lang="en-US" sz="950" dirty="0"/>
          </a:p>
        </p:txBody>
      </p:sp>
      <p:sp>
        <p:nvSpPr>
          <p:cNvPr id="65" name="Shape 60"/>
          <p:cNvSpPr/>
          <p:nvPr/>
        </p:nvSpPr>
        <p:spPr>
          <a:xfrm>
            <a:off x="8115300" y="3694176"/>
            <a:ext cx="0" cy="905256"/>
          </a:xfrm>
          <a:prstGeom prst="line">
            <a:avLst/>
          </a:prstGeom>
          <a:noFill/>
          <a:ln w="27940">
            <a:solidFill>
              <a:srgbClr val="2E7D5B"/>
            </a:solidFill>
            <a:prstDash val="dash"/>
            <a:tailEnd type="triangle"/>
          </a:ln>
        </p:spPr>
      </p:sp>
      <p:sp>
        <p:nvSpPr>
          <p:cNvPr id="66" name="Text 61"/>
          <p:cNvSpPr/>
          <p:nvPr/>
        </p:nvSpPr>
        <p:spPr>
          <a:xfrm>
            <a:off x="8206740" y="3730752"/>
            <a:ext cx="1234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atualiza → v3</a:t>
            </a:r>
            <a:endParaRPr lang="en-US" sz="850" dirty="0"/>
          </a:p>
        </p:txBody>
      </p:sp>
      <p:sp>
        <p:nvSpPr>
          <p:cNvPr id="67" name="Shape 62"/>
          <p:cNvSpPr/>
          <p:nvPr/>
        </p:nvSpPr>
        <p:spPr>
          <a:xfrm>
            <a:off x="7429500" y="5148072"/>
            <a:ext cx="1371600" cy="219456"/>
          </a:xfrm>
          <a:prstGeom prst="roundRect">
            <a:avLst>
              <a:gd name="adj" fmla="val 12500"/>
            </a:avLst>
          </a:prstGeom>
          <a:solidFill>
            <a:srgbClr val="E9F3EE"/>
          </a:solidFill>
          <a:ln w="12700">
            <a:solidFill>
              <a:srgbClr val="BCD9C9"/>
            </a:solidFill>
            <a:prstDash val="solid"/>
          </a:ln>
        </p:spPr>
      </p:sp>
      <p:sp>
        <p:nvSpPr>
          <p:cNvPr id="68" name="Shape 63"/>
          <p:cNvSpPr/>
          <p:nvPr/>
        </p:nvSpPr>
        <p:spPr>
          <a:xfrm>
            <a:off x="7429500" y="4901184"/>
            <a:ext cx="1371600" cy="219456"/>
          </a:xfrm>
          <a:prstGeom prst="roundRect">
            <a:avLst>
              <a:gd name="adj" fmla="val 12500"/>
            </a:avLst>
          </a:prstGeom>
          <a:solidFill>
            <a:srgbClr val="E9F3EE"/>
          </a:solidFill>
          <a:ln w="12700">
            <a:solidFill>
              <a:srgbClr val="BCD9C9"/>
            </a:solidFill>
            <a:prstDash val="solid"/>
          </a:ln>
        </p:spPr>
      </p:sp>
      <p:sp>
        <p:nvSpPr>
          <p:cNvPr id="69" name="Shape 64"/>
          <p:cNvSpPr/>
          <p:nvPr/>
        </p:nvSpPr>
        <p:spPr>
          <a:xfrm>
            <a:off x="7429500" y="4654296"/>
            <a:ext cx="1371600" cy="219456"/>
          </a:xfrm>
          <a:prstGeom prst="roundRect">
            <a:avLst>
              <a:gd name="adj" fmla="val 12500"/>
            </a:avLst>
          </a:prstGeom>
          <a:solidFill>
            <a:srgbClr val="2E7D5B"/>
          </a:solidFill>
          <a:ln w="12700">
            <a:solidFill>
              <a:srgbClr val="BCD9C9"/>
            </a:solidFill>
            <a:prstDash val="solid"/>
          </a:ln>
        </p:spPr>
      </p:sp>
      <p:sp>
        <p:nvSpPr>
          <p:cNvPr id="70" name="Text 65"/>
          <p:cNvSpPr/>
          <p:nvPr/>
        </p:nvSpPr>
        <p:spPr>
          <a:xfrm>
            <a:off x="7429500" y="465429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v3</a:t>
            </a:r>
            <a:endParaRPr lang="en-US" sz="950" dirty="0"/>
          </a:p>
        </p:txBody>
      </p:sp>
      <p:sp>
        <p:nvSpPr>
          <p:cNvPr id="71" name="Shape 66"/>
          <p:cNvSpPr/>
          <p:nvPr/>
        </p:nvSpPr>
        <p:spPr>
          <a:xfrm>
            <a:off x="10492740" y="3694176"/>
            <a:ext cx="0" cy="658368"/>
          </a:xfrm>
          <a:prstGeom prst="line">
            <a:avLst/>
          </a:prstGeom>
          <a:noFill/>
          <a:ln w="27940">
            <a:solidFill>
              <a:srgbClr val="2E7D5B"/>
            </a:solidFill>
            <a:prstDash val="dash"/>
            <a:tailEnd type="triangle"/>
          </a:ln>
        </p:spPr>
      </p:sp>
      <p:sp>
        <p:nvSpPr>
          <p:cNvPr id="72" name="Text 67"/>
          <p:cNvSpPr/>
          <p:nvPr/>
        </p:nvSpPr>
        <p:spPr>
          <a:xfrm>
            <a:off x="9212580" y="3730752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atualiza → v4</a:t>
            </a:r>
            <a:endParaRPr lang="en-US" sz="850" dirty="0"/>
          </a:p>
        </p:txBody>
      </p:sp>
      <p:sp>
        <p:nvSpPr>
          <p:cNvPr id="73" name="Shape 68"/>
          <p:cNvSpPr/>
          <p:nvPr/>
        </p:nvSpPr>
        <p:spPr>
          <a:xfrm>
            <a:off x="9806940" y="5148072"/>
            <a:ext cx="1371600" cy="219456"/>
          </a:xfrm>
          <a:prstGeom prst="roundRect">
            <a:avLst>
              <a:gd name="adj" fmla="val 12500"/>
            </a:avLst>
          </a:prstGeom>
          <a:solidFill>
            <a:srgbClr val="E9F3EE"/>
          </a:solidFill>
          <a:ln w="12700">
            <a:solidFill>
              <a:srgbClr val="BCD9C9"/>
            </a:solidFill>
            <a:prstDash val="solid"/>
          </a:ln>
        </p:spPr>
      </p:sp>
      <p:sp>
        <p:nvSpPr>
          <p:cNvPr id="74" name="Shape 69"/>
          <p:cNvSpPr/>
          <p:nvPr/>
        </p:nvSpPr>
        <p:spPr>
          <a:xfrm>
            <a:off x="9806940" y="4901184"/>
            <a:ext cx="1371600" cy="219456"/>
          </a:xfrm>
          <a:prstGeom prst="roundRect">
            <a:avLst>
              <a:gd name="adj" fmla="val 12500"/>
            </a:avLst>
          </a:prstGeom>
          <a:solidFill>
            <a:srgbClr val="E9F3EE"/>
          </a:solidFill>
          <a:ln w="12700">
            <a:solidFill>
              <a:srgbClr val="BCD9C9"/>
            </a:solidFill>
            <a:prstDash val="solid"/>
          </a:ln>
        </p:spPr>
      </p:sp>
      <p:sp>
        <p:nvSpPr>
          <p:cNvPr id="75" name="Shape 70"/>
          <p:cNvSpPr/>
          <p:nvPr/>
        </p:nvSpPr>
        <p:spPr>
          <a:xfrm>
            <a:off x="9806940" y="4654296"/>
            <a:ext cx="1371600" cy="219456"/>
          </a:xfrm>
          <a:prstGeom prst="roundRect">
            <a:avLst>
              <a:gd name="adj" fmla="val 12500"/>
            </a:avLst>
          </a:prstGeom>
          <a:solidFill>
            <a:srgbClr val="E9F3EE"/>
          </a:solidFill>
          <a:ln w="12700">
            <a:solidFill>
              <a:srgbClr val="BCD9C9"/>
            </a:solidFill>
            <a:prstDash val="solid"/>
          </a:ln>
        </p:spPr>
      </p:sp>
      <p:sp>
        <p:nvSpPr>
          <p:cNvPr id="76" name="Shape 71"/>
          <p:cNvSpPr/>
          <p:nvPr/>
        </p:nvSpPr>
        <p:spPr>
          <a:xfrm>
            <a:off x="9806940" y="4407408"/>
            <a:ext cx="1371600" cy="219456"/>
          </a:xfrm>
          <a:prstGeom prst="roundRect">
            <a:avLst>
              <a:gd name="adj" fmla="val 12500"/>
            </a:avLst>
          </a:prstGeom>
          <a:solidFill>
            <a:srgbClr val="2E7D5B"/>
          </a:solidFill>
          <a:ln w="12700">
            <a:solidFill>
              <a:srgbClr val="BCD9C9"/>
            </a:solidFill>
            <a:prstDash val="solid"/>
          </a:ln>
        </p:spPr>
      </p:sp>
      <p:sp>
        <p:nvSpPr>
          <p:cNvPr id="77" name="Text 72"/>
          <p:cNvSpPr/>
          <p:nvPr/>
        </p:nvSpPr>
        <p:spPr>
          <a:xfrm>
            <a:off x="9806940" y="4407408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v4</a:t>
            </a:r>
            <a:endParaRPr lang="en-US" sz="950" dirty="0"/>
          </a:p>
        </p:txBody>
      </p:sp>
      <p:sp>
        <p:nvSpPr>
          <p:cNvPr id="78" name="Shape 73"/>
          <p:cNvSpPr/>
          <p:nvPr/>
        </p:nvSpPr>
        <p:spPr>
          <a:xfrm>
            <a:off x="2240280" y="5413248"/>
            <a:ext cx="9326880" cy="0"/>
          </a:xfrm>
          <a:prstGeom prst="line">
            <a:avLst/>
          </a:prstGeom>
          <a:noFill/>
          <a:ln w="19050">
            <a:solidFill>
              <a:srgbClr val="D7E2EF"/>
            </a:solidFill>
            <a:prstDash val="solid"/>
          </a:ln>
        </p:spPr>
      </p:sp>
      <p:sp>
        <p:nvSpPr>
          <p:cNvPr id="79" name="Shape 74"/>
          <p:cNvSpPr/>
          <p:nvPr/>
        </p:nvSpPr>
        <p:spPr>
          <a:xfrm>
            <a:off x="594360" y="5715000"/>
            <a:ext cx="11000232" cy="548640"/>
          </a:xfrm>
          <a:prstGeom prst="roundRect">
            <a:avLst>
              <a:gd name="adj" fmla="val 13333"/>
            </a:avLst>
          </a:prstGeom>
          <a:solidFill>
            <a:srgbClr val="1B2A4A"/>
          </a:solidFill>
          <a:ln/>
        </p:spPr>
      </p:sp>
      <p:sp>
        <p:nvSpPr>
          <p:cNvPr id="80" name="Text 75"/>
          <p:cNvSpPr/>
          <p:nvPr/>
        </p:nvSpPr>
        <p:spPr>
          <a:xfrm>
            <a:off x="868680" y="57150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Quatro histórias. Uma funcionalidade. Uma especificação — na versão 4, sem nenhum documento paralelo.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0515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640080" y="1280160"/>
            <a:ext cx="3291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7000" dirty="0"/>
          </a:p>
        </p:txBody>
      </p:sp>
      <p:sp>
        <p:nvSpPr>
          <p:cNvPr id="4" name="Text 2"/>
          <p:cNvSpPr/>
          <p:nvPr/>
        </p:nvSpPr>
        <p:spPr>
          <a:xfrm>
            <a:off x="4206240" y="1965960"/>
            <a:ext cx="7315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a documentação</a:t>
            </a:r>
            <a:endParaRPr lang="en-US" sz="3700" dirty="0"/>
          </a:p>
          <a:p>
            <a:pPr indent="0" marL="0">
              <a:buNone/>
            </a:pPr>
            <a:r>
              <a:rPr lang="en-US" sz="3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precisa ter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4251960" y="3794760"/>
            <a:ext cx="2077517" cy="402336"/>
          </a:xfrm>
          <a:prstGeom prst="roundRect">
            <a:avLst>
              <a:gd name="adj" fmla="val 50000"/>
            </a:avLst>
          </a:prstGeom>
          <a:solidFill>
            <a:srgbClr val="31497A"/>
          </a:solidFill>
          <a:ln/>
        </p:spPr>
      </p:sp>
      <p:sp>
        <p:nvSpPr>
          <p:cNvPr id="6" name="Text 4"/>
          <p:cNvSpPr/>
          <p:nvPr/>
        </p:nvSpPr>
        <p:spPr>
          <a:xfrm>
            <a:off x="4251960" y="3794760"/>
            <a:ext cx="207751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engenharia de requisitos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475781" y="3794760"/>
            <a:ext cx="2006194" cy="402336"/>
          </a:xfrm>
          <a:prstGeom prst="roundRect">
            <a:avLst>
              <a:gd name="adj" fmla="val 50000"/>
            </a:avLst>
          </a:prstGeom>
          <a:solidFill>
            <a:srgbClr val="31497A"/>
          </a:solidFill>
          <a:ln/>
        </p:spPr>
      </p:sp>
      <p:sp>
        <p:nvSpPr>
          <p:cNvPr id="8" name="Text 6"/>
          <p:cNvSpPr/>
          <p:nvPr/>
        </p:nvSpPr>
        <p:spPr>
          <a:xfrm>
            <a:off x="6475781" y="3794760"/>
            <a:ext cx="200619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qualidades do requisito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8628278" y="3794760"/>
            <a:ext cx="1292962" cy="402336"/>
          </a:xfrm>
          <a:prstGeom prst="roundRect">
            <a:avLst>
              <a:gd name="adj" fmla="val 50000"/>
            </a:avLst>
          </a:prstGeom>
          <a:solidFill>
            <a:srgbClr val="31497A"/>
          </a:solidFill>
          <a:ln/>
        </p:spPr>
      </p:sp>
      <p:sp>
        <p:nvSpPr>
          <p:cNvPr id="10" name="Text 8"/>
          <p:cNvSpPr/>
          <p:nvPr/>
        </p:nvSpPr>
        <p:spPr>
          <a:xfrm>
            <a:off x="8628278" y="3794760"/>
            <a:ext cx="129296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componentes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10067544" y="3794760"/>
            <a:ext cx="1578254" cy="402336"/>
          </a:xfrm>
          <a:prstGeom prst="roundRect">
            <a:avLst>
              <a:gd name="adj" fmla="val 50000"/>
            </a:avLst>
          </a:prstGeom>
          <a:solidFill>
            <a:srgbClr val="31497A"/>
          </a:solidFill>
          <a:ln/>
        </p:spPr>
      </p:sp>
      <p:sp>
        <p:nvSpPr>
          <p:cNvPr id="12" name="Text 10"/>
          <p:cNvSpPr/>
          <p:nvPr/>
        </p:nvSpPr>
        <p:spPr>
          <a:xfrm>
            <a:off x="10067544" y="3794760"/>
            <a:ext cx="15782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Dado–Quando–Então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251960" y="4325112"/>
            <a:ext cx="1435608" cy="402336"/>
          </a:xfrm>
          <a:prstGeom prst="roundRect">
            <a:avLst>
              <a:gd name="adj" fmla="val 50000"/>
            </a:avLst>
          </a:prstGeom>
          <a:solidFill>
            <a:srgbClr val="31497A"/>
          </a:solidFill>
          <a:ln/>
        </p:spPr>
      </p:sp>
      <p:sp>
        <p:nvSpPr>
          <p:cNvPr id="14" name="Text 12"/>
          <p:cNvSpPr/>
          <p:nvPr/>
        </p:nvSpPr>
        <p:spPr>
          <a:xfrm>
            <a:off x="4251960" y="4325112"/>
            <a:ext cx="1435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estados e erros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833872" y="4325112"/>
            <a:ext cx="1435608" cy="402336"/>
          </a:xfrm>
          <a:prstGeom prst="roundRect">
            <a:avLst>
              <a:gd name="adj" fmla="val 50000"/>
            </a:avLst>
          </a:prstGeom>
          <a:solidFill>
            <a:srgbClr val="31497A"/>
          </a:solidFill>
          <a:ln/>
        </p:spPr>
      </p:sp>
      <p:sp>
        <p:nvSpPr>
          <p:cNvPr id="16" name="Text 14"/>
          <p:cNvSpPr/>
          <p:nvPr/>
        </p:nvSpPr>
        <p:spPr>
          <a:xfrm>
            <a:off x="5833872" y="4325112"/>
            <a:ext cx="1435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rastreabilidade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251960" y="4892040"/>
            <a:ext cx="1417320" cy="420624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/>
        </p:spPr>
      </p:sp>
      <p:sp>
        <p:nvSpPr>
          <p:cNvPr id="18" name="Text 16"/>
          <p:cNvSpPr/>
          <p:nvPr/>
        </p:nvSpPr>
        <p:spPr>
          <a:xfrm>
            <a:off x="4251960" y="4892040"/>
            <a:ext cx="1417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40 min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3 · A DISCIPLINA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12064"/>
            <a:ext cx="11000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Engenharia de requisitos em uma tela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6519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 — Workshop CNI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96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94360" y="1325880"/>
            <a:ext cx="11000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 não “se escreve”: se descobre, se analisa, se especifica, se valida e se gerencia.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94360" y="1965960"/>
            <a:ext cx="2075688" cy="2651760"/>
          </a:xfrm>
          <a:prstGeom prst="roundRect">
            <a:avLst>
              <a:gd name="adj" fmla="val 3965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316736" y="2194560"/>
            <a:ext cx="621792" cy="621792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9" name="Image 0" descr="/tmp/claude-0/-home-user-doc-template-engine/198c21fb-8b4a-5b3c-a787-7fafcb963965/scratchpad/workshop/icons/search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84620" y="2362444"/>
            <a:ext cx="286024" cy="286024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85800" y="2926080"/>
            <a:ext cx="189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Elicitação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58952" y="3310128"/>
            <a:ext cx="17465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Descobrir com quem usa e com quem opera — não presumir.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2688336" y="3291840"/>
            <a:ext cx="146304" cy="0"/>
          </a:xfrm>
          <a:prstGeom prst="line">
            <a:avLst/>
          </a:prstGeom>
          <a:noFill/>
          <a:ln w="27940">
            <a:solidFill>
              <a:srgbClr val="C77F1A"/>
            </a:solidFill>
            <a:prstDash val="solid"/>
            <a:tailEnd type="triangle"/>
          </a:ln>
        </p:spPr>
      </p:sp>
      <p:sp>
        <p:nvSpPr>
          <p:cNvPr id="13" name="Shape 10"/>
          <p:cNvSpPr/>
          <p:nvPr/>
        </p:nvSpPr>
        <p:spPr>
          <a:xfrm>
            <a:off x="2852928" y="1965960"/>
            <a:ext cx="2075688" cy="2651760"/>
          </a:xfrm>
          <a:prstGeom prst="roundRect">
            <a:avLst>
              <a:gd name="adj" fmla="val 3965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575304" y="2194560"/>
            <a:ext cx="621792" cy="621792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15" name="Image 1" descr="/tmp/claude-0/-home-user-doc-template-engine/198c21fb-8b4a-5b3c-a787-7fafcb963965/scratchpad/workshop/icons/filter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3188" y="2362444"/>
            <a:ext cx="286024" cy="286024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2944368" y="2926080"/>
            <a:ext cx="189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</a:t>
            </a:r>
            <a:endParaRPr lang="en-US" sz="1450" dirty="0"/>
          </a:p>
        </p:txBody>
      </p:sp>
      <p:sp>
        <p:nvSpPr>
          <p:cNvPr id="17" name="Text 13"/>
          <p:cNvSpPr/>
          <p:nvPr/>
        </p:nvSpPr>
        <p:spPr>
          <a:xfrm>
            <a:off x="3017520" y="3310128"/>
            <a:ext cx="17465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Resolver conflitos, dependências e prioridades entre requisitos.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4946904" y="3291840"/>
            <a:ext cx="146304" cy="0"/>
          </a:xfrm>
          <a:prstGeom prst="line">
            <a:avLst/>
          </a:prstGeom>
          <a:noFill/>
          <a:ln w="27940">
            <a:solidFill>
              <a:srgbClr val="C77F1A"/>
            </a:solidFill>
            <a:prstDash val="solid"/>
            <a:tailEnd type="triangle"/>
          </a:ln>
        </p:spPr>
      </p:sp>
      <p:sp>
        <p:nvSpPr>
          <p:cNvPr id="19" name="Shape 15"/>
          <p:cNvSpPr/>
          <p:nvPr/>
        </p:nvSpPr>
        <p:spPr>
          <a:xfrm>
            <a:off x="5111496" y="1965960"/>
            <a:ext cx="2075688" cy="2651760"/>
          </a:xfrm>
          <a:prstGeom prst="roundRect">
            <a:avLst>
              <a:gd name="adj" fmla="val 3965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5833872" y="2194560"/>
            <a:ext cx="621792" cy="621792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21" name="Image 2" descr="/tmp/claude-0/-home-user-doc-template-engine/198c21fb-8b4a-5b3c-a787-7fafcb963965/scratchpad/workshop/icons/edit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1756" y="2362444"/>
            <a:ext cx="286024" cy="286024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5202936" y="2926080"/>
            <a:ext cx="189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Especificação</a:t>
            </a:r>
            <a:endParaRPr lang="en-US" sz="1450" dirty="0"/>
          </a:p>
        </p:txBody>
      </p:sp>
      <p:sp>
        <p:nvSpPr>
          <p:cNvPr id="23" name="Text 18"/>
          <p:cNvSpPr/>
          <p:nvPr/>
        </p:nvSpPr>
        <p:spPr>
          <a:xfrm>
            <a:off x="5276088" y="3310128"/>
            <a:ext cx="17465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Escrever de forma verificável: campos, regras, cenários, estados.</a:t>
            </a:r>
            <a:endParaRPr lang="en-US" sz="1050" dirty="0"/>
          </a:p>
        </p:txBody>
      </p:sp>
      <p:sp>
        <p:nvSpPr>
          <p:cNvPr id="24" name="Shape 19"/>
          <p:cNvSpPr/>
          <p:nvPr/>
        </p:nvSpPr>
        <p:spPr>
          <a:xfrm>
            <a:off x="7205472" y="3291840"/>
            <a:ext cx="146304" cy="0"/>
          </a:xfrm>
          <a:prstGeom prst="line">
            <a:avLst/>
          </a:prstGeom>
          <a:noFill/>
          <a:ln w="27940">
            <a:solidFill>
              <a:srgbClr val="C77F1A"/>
            </a:solidFill>
            <a:prstDash val="solid"/>
            <a:tailEnd type="triangle"/>
          </a:ln>
        </p:spPr>
      </p:sp>
      <p:sp>
        <p:nvSpPr>
          <p:cNvPr id="25" name="Shape 20"/>
          <p:cNvSpPr/>
          <p:nvPr/>
        </p:nvSpPr>
        <p:spPr>
          <a:xfrm>
            <a:off x="7370064" y="1965960"/>
            <a:ext cx="2075688" cy="2651760"/>
          </a:xfrm>
          <a:prstGeom prst="roundRect">
            <a:avLst>
              <a:gd name="adj" fmla="val 3965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8092440" y="2194560"/>
            <a:ext cx="621792" cy="621792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27" name="Image 3" descr="/tmp/claude-0/-home-user-doc-template-engine/198c21fb-8b4a-5b3c-a787-7fafcb963965/scratchpad/workshop/icons/eye-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0324" y="2362444"/>
            <a:ext cx="286024" cy="286024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7461504" y="2926080"/>
            <a:ext cx="189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Validação</a:t>
            </a:r>
            <a:endParaRPr lang="en-US" sz="1450" dirty="0"/>
          </a:p>
        </p:txBody>
      </p:sp>
      <p:sp>
        <p:nvSpPr>
          <p:cNvPr id="29" name="Text 23"/>
          <p:cNvSpPr/>
          <p:nvPr/>
        </p:nvSpPr>
        <p:spPr>
          <a:xfrm>
            <a:off x="7534656" y="3310128"/>
            <a:ext cx="17465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Conferir com o negócio ANTES de construir. A etapa mais barata.</a:t>
            </a:r>
            <a:endParaRPr lang="en-US" sz="1050" dirty="0"/>
          </a:p>
        </p:txBody>
      </p:sp>
      <p:sp>
        <p:nvSpPr>
          <p:cNvPr id="30" name="Shape 24"/>
          <p:cNvSpPr/>
          <p:nvPr/>
        </p:nvSpPr>
        <p:spPr>
          <a:xfrm>
            <a:off x="9464040" y="3291840"/>
            <a:ext cx="146304" cy="0"/>
          </a:xfrm>
          <a:prstGeom prst="line">
            <a:avLst/>
          </a:prstGeom>
          <a:noFill/>
          <a:ln w="27940">
            <a:solidFill>
              <a:srgbClr val="C77F1A"/>
            </a:solidFill>
            <a:prstDash val="solid"/>
            <a:tailEnd type="triangle"/>
          </a:ln>
        </p:spPr>
      </p:sp>
      <p:sp>
        <p:nvSpPr>
          <p:cNvPr id="31" name="Shape 25"/>
          <p:cNvSpPr/>
          <p:nvPr/>
        </p:nvSpPr>
        <p:spPr>
          <a:xfrm>
            <a:off x="9628632" y="1965960"/>
            <a:ext cx="2075688" cy="2651760"/>
          </a:xfrm>
          <a:prstGeom prst="roundRect">
            <a:avLst>
              <a:gd name="adj" fmla="val 3965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32" name="Shape 26"/>
          <p:cNvSpPr/>
          <p:nvPr/>
        </p:nvSpPr>
        <p:spPr>
          <a:xfrm>
            <a:off x="10351008" y="2194560"/>
            <a:ext cx="621792" cy="621792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33" name="Image 4" descr="/tmp/claude-0/-home-user-doc-template-engine/198c21fb-8b4a-5b3c-a787-7fafcb963965/scratchpad/workshop/icons/refresh-whi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18892" y="2362444"/>
            <a:ext cx="286024" cy="286024"/>
          </a:xfrm>
          <a:prstGeom prst="rect">
            <a:avLst/>
          </a:prstGeom>
        </p:spPr>
      </p:pic>
      <p:sp>
        <p:nvSpPr>
          <p:cNvPr id="34" name="Text 27"/>
          <p:cNvSpPr/>
          <p:nvPr/>
        </p:nvSpPr>
        <p:spPr>
          <a:xfrm>
            <a:off x="9720072" y="2926080"/>
            <a:ext cx="189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Gestão</a:t>
            </a:r>
            <a:endParaRPr lang="en-US" sz="1450" dirty="0"/>
          </a:p>
        </p:txBody>
      </p:sp>
      <p:sp>
        <p:nvSpPr>
          <p:cNvPr id="35" name="Text 28"/>
          <p:cNvSpPr/>
          <p:nvPr/>
        </p:nvSpPr>
        <p:spPr>
          <a:xfrm>
            <a:off x="9793224" y="3310128"/>
            <a:ext cx="17465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Versionar, rastrear e manter vivo enquanto o sistema viver.</a:t>
            </a:r>
            <a:endParaRPr lang="en-US" sz="1050" dirty="0"/>
          </a:p>
        </p:txBody>
      </p:sp>
      <p:sp>
        <p:nvSpPr>
          <p:cNvPr id="36" name="Shape 29"/>
          <p:cNvSpPr/>
          <p:nvPr/>
        </p:nvSpPr>
        <p:spPr>
          <a:xfrm>
            <a:off x="594360" y="4983480"/>
            <a:ext cx="11000232" cy="1051560"/>
          </a:xfrm>
          <a:prstGeom prst="roundRect">
            <a:avLst>
              <a:gd name="adj" fmla="val 7826"/>
            </a:avLst>
          </a:prstGeom>
          <a:solidFill>
            <a:srgbClr val="FBF0DC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37" name="Text 30"/>
          <p:cNvSpPr/>
          <p:nvPr/>
        </p:nvSpPr>
        <p:spPr>
          <a:xfrm>
            <a:off x="868680" y="5138928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o gestor se importa:  </a:t>
            </a:r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 achado na especificação custa horas; achado em homologação custa dias; em produção, custa sprints — e reputação. Validar cedo é a maior alavanca de custo do ciclo.</a:t>
            </a:r>
            <a:endParaRPr lang="en-US" sz="1300" dirty="0"/>
          </a:p>
        </p:txBody>
      </p:sp>
      <p:sp>
        <p:nvSpPr>
          <p:cNvPr id="38" name="Text 31"/>
          <p:cNvSpPr/>
          <p:nvPr/>
        </p:nvSpPr>
        <p:spPr>
          <a:xfrm>
            <a:off x="594360" y="614476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Referências: Sommerville, Software Engineering (10ª ed., 2016) · ISO/IEC/IEEE 29148:2018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3 · ISO/IEC/IEEE 29148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12064"/>
            <a:ext cx="11000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requisito bem escrito é…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6519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 — Workshop CNI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96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94360" y="1417320"/>
            <a:ext cx="3538728" cy="2148840"/>
          </a:xfrm>
          <a:prstGeom prst="roundRect">
            <a:avLst>
              <a:gd name="adj" fmla="val 3830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13816" y="1618488"/>
            <a:ext cx="475488" cy="475488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8" name="Image 0" descr="/tmp/claude-0/-home-user-doc-template-engine/198c21fb-8b4a-5b3c-a787-7fafcb963965/scratchpad/workshop/icons/eye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2198" y="1746870"/>
            <a:ext cx="218724" cy="21872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417320" y="1618488"/>
            <a:ext cx="2606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ambíguo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50392" y="2258568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única leitura possível. “O sistema avalia automaticamente” não diz o critério — cada leitor inventa um.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5112" y="1417320"/>
            <a:ext cx="3538728" cy="2148840"/>
          </a:xfrm>
          <a:prstGeom prst="roundRect">
            <a:avLst>
              <a:gd name="adj" fmla="val 3830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44568" y="1618488"/>
            <a:ext cx="475488" cy="475488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13" name="Image 1" descr="/tmp/claude-0/-home-user-doc-template-engine/198c21fb-8b4a-5b3c-a787-7fafcb963965/scratchpad/workshop/icons/check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2950" y="1746870"/>
            <a:ext cx="218724" cy="218724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148072" y="1618488"/>
            <a:ext cx="2606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Verificável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4581144" y="2258568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Dá para testar: passa ou falha. Se não dá para demonstrar, não dá para aceitar.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8055864" y="1417320"/>
            <a:ext cx="3538728" cy="2148840"/>
          </a:xfrm>
          <a:prstGeom prst="roundRect">
            <a:avLst>
              <a:gd name="adj" fmla="val 3830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8275320" y="1618488"/>
            <a:ext cx="475488" cy="475488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18" name="Image 2" descr="/tmp/claude-0/-home-user-doc-template-engine/198c21fb-8b4a-5b3c-a787-7fafcb963965/scratchpad/workshop/icons/target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3702" y="1746870"/>
            <a:ext cx="218724" cy="218724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878824" y="1618488"/>
            <a:ext cx="2606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Atômico</a:t>
            </a:r>
            <a:endParaRPr lang="en-US" sz="1500" dirty="0"/>
          </a:p>
        </p:txBody>
      </p:sp>
      <p:sp>
        <p:nvSpPr>
          <p:cNvPr id="20" name="Text 15"/>
          <p:cNvSpPr/>
          <p:nvPr/>
        </p:nvSpPr>
        <p:spPr>
          <a:xfrm>
            <a:off x="8311896" y="2258568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exigência por sentença. “Obrigatório, único e com aviso” são três requisitos disfarçados de um.</a:t>
            </a:r>
            <a:endParaRPr lang="en-US" sz="1150" dirty="0"/>
          </a:p>
        </p:txBody>
      </p:sp>
      <p:sp>
        <p:nvSpPr>
          <p:cNvPr id="21" name="Shape 16"/>
          <p:cNvSpPr/>
          <p:nvPr/>
        </p:nvSpPr>
        <p:spPr>
          <a:xfrm>
            <a:off x="594360" y="3794760"/>
            <a:ext cx="3538728" cy="2148840"/>
          </a:xfrm>
          <a:prstGeom prst="roundRect">
            <a:avLst>
              <a:gd name="adj" fmla="val 3830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813816" y="3995928"/>
            <a:ext cx="475488" cy="475488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23" name="Image 3" descr="/tmp/claude-0/-home-user-doc-template-engine/198c21fb-8b4a-5b3c-a787-7fafcb963965/scratchpad/workshop/icons/columns-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2198" y="4124310"/>
            <a:ext cx="218724" cy="218724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1417320" y="3995928"/>
            <a:ext cx="2606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Consistente</a:t>
            </a:r>
            <a:endParaRPr lang="en-US" sz="1500" dirty="0"/>
          </a:p>
        </p:txBody>
      </p:sp>
      <p:sp>
        <p:nvSpPr>
          <p:cNvPr id="25" name="Text 19"/>
          <p:cNvSpPr/>
          <p:nvPr/>
        </p:nvSpPr>
        <p:spPr>
          <a:xfrm>
            <a:off x="850392" y="4636008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contradiz outro requisito — nem outra seção do próprio documento.</a:t>
            </a:r>
            <a:endParaRPr lang="en-US" sz="1150" dirty="0"/>
          </a:p>
        </p:txBody>
      </p:sp>
      <p:sp>
        <p:nvSpPr>
          <p:cNvPr id="26" name="Shape 20"/>
          <p:cNvSpPr/>
          <p:nvPr/>
        </p:nvSpPr>
        <p:spPr>
          <a:xfrm>
            <a:off x="4325112" y="3794760"/>
            <a:ext cx="3538728" cy="2148840"/>
          </a:xfrm>
          <a:prstGeom prst="roundRect">
            <a:avLst>
              <a:gd name="adj" fmla="val 3830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4544568" y="3995928"/>
            <a:ext cx="475488" cy="475488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28" name="Image 4" descr="/tmp/claude-0/-home-user-doc-template-engine/198c21fb-8b4a-5b3c-a787-7fafcb963965/scratchpad/workshop/icons/layers-whi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72950" y="4124310"/>
            <a:ext cx="218724" cy="218724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5148072" y="3995928"/>
            <a:ext cx="2606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Completo</a:t>
            </a:r>
            <a:endParaRPr lang="en-US" sz="1500" dirty="0"/>
          </a:p>
        </p:txBody>
      </p:sp>
      <p:sp>
        <p:nvSpPr>
          <p:cNvPr id="30" name="Text 23"/>
          <p:cNvSpPr/>
          <p:nvPr/>
        </p:nvSpPr>
        <p:spPr>
          <a:xfrm>
            <a:off x="4581144" y="4636008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Inclui os casos de erro e os limites — não só o caminho feliz.</a:t>
            </a:r>
            <a:endParaRPr lang="en-US" sz="1150" dirty="0"/>
          </a:p>
        </p:txBody>
      </p:sp>
      <p:sp>
        <p:nvSpPr>
          <p:cNvPr id="31" name="Shape 24"/>
          <p:cNvSpPr/>
          <p:nvPr/>
        </p:nvSpPr>
        <p:spPr>
          <a:xfrm>
            <a:off x="8055864" y="3794760"/>
            <a:ext cx="3538728" cy="2148840"/>
          </a:xfrm>
          <a:prstGeom prst="roundRect">
            <a:avLst>
              <a:gd name="adj" fmla="val 3830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32" name="Shape 25"/>
          <p:cNvSpPr/>
          <p:nvPr/>
        </p:nvSpPr>
        <p:spPr>
          <a:xfrm>
            <a:off x="8275320" y="3995928"/>
            <a:ext cx="475488" cy="475488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33" name="Image 5" descr="/tmp/claude-0/-home-user-doc-template-engine/198c21fb-8b4a-5b3c-a787-7fafcb963965/scratchpad/workshop/icons/link-whit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03702" y="4124310"/>
            <a:ext cx="218724" cy="218724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8878824" y="3995928"/>
            <a:ext cx="2606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Rastreável</a:t>
            </a:r>
            <a:endParaRPr lang="en-US" sz="1500" dirty="0"/>
          </a:p>
        </p:txBody>
      </p:sp>
      <p:sp>
        <p:nvSpPr>
          <p:cNvPr id="35" name="Text 27"/>
          <p:cNvSpPr/>
          <p:nvPr/>
        </p:nvSpPr>
        <p:spPr>
          <a:xfrm>
            <a:off x="8311896" y="4636008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 ID estável: liga-se à história, ao teste e ao código que o implementa.</a:t>
            </a:r>
            <a:endParaRPr lang="en-US" sz="11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3 · O CHECKLIST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12064"/>
            <a:ext cx="11000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uma especificação funcional precisa ter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6519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 — Workshop CNI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96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2679192" cy="2148840"/>
          </a:xfrm>
          <a:prstGeom prst="roundRect">
            <a:avLst>
              <a:gd name="adj" fmla="val 3830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1527048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77F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25880" y="161848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a funcionalidade entrega, em 1–2 frases de negócio.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364992" y="1417320"/>
            <a:ext cx="2679192" cy="2148840"/>
          </a:xfrm>
          <a:prstGeom prst="roundRect">
            <a:avLst>
              <a:gd name="adj" fmla="val 3830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9584" y="1527048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77F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4142232" y="161848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Campos e dados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3566160" y="233172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Tipo, obrigatoriedade e validação de cada campo — em tabela.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181344" y="1417320"/>
            <a:ext cx="2679192" cy="2148840"/>
          </a:xfrm>
          <a:prstGeom prst="roundRect">
            <a:avLst>
              <a:gd name="adj" fmla="val 3830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45936" y="1527048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77F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6958584" y="161848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Regras de negócio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6382512" y="233172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Invariantes atômicas, sem reação embutida (“o quê”, não “o que acontece”).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997696" y="1417320"/>
            <a:ext cx="2679192" cy="2148840"/>
          </a:xfrm>
          <a:prstGeom prst="roundRect">
            <a:avLst>
              <a:gd name="adj" fmla="val 3830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62288" y="1527048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77F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400" dirty="0"/>
          </a:p>
        </p:txBody>
      </p:sp>
      <p:sp>
        <p:nvSpPr>
          <p:cNvPr id="20" name="Text 18"/>
          <p:cNvSpPr/>
          <p:nvPr/>
        </p:nvSpPr>
        <p:spPr>
          <a:xfrm>
            <a:off x="9774936" y="161848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Cenários verificáveis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9198864" y="233172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Felizes E negativos, em forma passa/falha (Dado–Quando–Então).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48640" y="3794760"/>
            <a:ext cx="2679192" cy="2148840"/>
          </a:xfrm>
          <a:prstGeom prst="roundRect">
            <a:avLst>
              <a:gd name="adj" fmla="val 3830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13232" y="3904488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77F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400" dirty="0"/>
          </a:p>
        </p:txBody>
      </p:sp>
      <p:sp>
        <p:nvSpPr>
          <p:cNvPr id="24" name="Text 22"/>
          <p:cNvSpPr/>
          <p:nvPr/>
        </p:nvSpPr>
        <p:spPr>
          <a:xfrm>
            <a:off x="1325880" y="399592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Estados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749808" y="470916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Ciclo de vida: situações e transições permitidas — quem pode, quando.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3364992" y="3794760"/>
            <a:ext cx="2679192" cy="2148840"/>
          </a:xfrm>
          <a:prstGeom prst="roundRect">
            <a:avLst>
              <a:gd name="adj" fmla="val 3830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29584" y="3904488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77F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400" dirty="0"/>
          </a:p>
        </p:txBody>
      </p:sp>
      <p:sp>
        <p:nvSpPr>
          <p:cNvPr id="28" name="Text 26"/>
          <p:cNvSpPr/>
          <p:nvPr/>
        </p:nvSpPr>
        <p:spPr>
          <a:xfrm>
            <a:off x="4142232" y="399592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Perfis e permissões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3566160" y="470916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pode o quê, em cada estado da funcionalidade.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6181344" y="3794760"/>
            <a:ext cx="2679192" cy="2148840"/>
          </a:xfrm>
          <a:prstGeom prst="roundRect">
            <a:avLst>
              <a:gd name="adj" fmla="val 3830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345936" y="3904488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77F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3400" dirty="0"/>
          </a:p>
        </p:txBody>
      </p:sp>
      <p:sp>
        <p:nvSpPr>
          <p:cNvPr id="32" name="Text 30"/>
          <p:cNvSpPr/>
          <p:nvPr/>
        </p:nvSpPr>
        <p:spPr>
          <a:xfrm>
            <a:off x="6958584" y="399592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Mensagens e erros</a:t>
            </a:r>
            <a:endParaRPr lang="en-US" sz="1350" dirty="0"/>
          </a:p>
        </p:txBody>
      </p:sp>
      <p:sp>
        <p:nvSpPr>
          <p:cNvPr id="33" name="Text 31"/>
          <p:cNvSpPr/>
          <p:nvPr/>
        </p:nvSpPr>
        <p:spPr>
          <a:xfrm>
            <a:off x="6382512" y="470916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Textos definidos e catalogados — não improvisados no código.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8997696" y="3794760"/>
            <a:ext cx="2679192" cy="2148840"/>
          </a:xfrm>
          <a:prstGeom prst="roundRect">
            <a:avLst>
              <a:gd name="adj" fmla="val 3830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162288" y="3904488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77F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3400" dirty="0"/>
          </a:p>
        </p:txBody>
      </p:sp>
      <p:sp>
        <p:nvSpPr>
          <p:cNvPr id="36" name="Text 34"/>
          <p:cNvSpPr/>
          <p:nvPr/>
        </p:nvSpPr>
        <p:spPr>
          <a:xfrm>
            <a:off x="9774936" y="399592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Rastreabilidade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9198864" y="470916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estável ligado à história (Jira), ao teste e à versão entregue.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3 · DUAS NATUREZAS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12064"/>
            <a:ext cx="11000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 × não-funcional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6519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 — Workshop CNI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96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94360" y="1463040"/>
            <a:ext cx="5394960" cy="3566160"/>
          </a:xfrm>
          <a:prstGeom prst="roundRect">
            <a:avLst>
              <a:gd name="adj" fmla="val 2308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68680" y="1737360"/>
            <a:ext cx="548640" cy="548640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8" name="Image 0" descr="/tmp/claude-0/-home-user-doc-template-engine/198c21fb-8b4a-5b3c-a787-7fafcb963965/scratchpad/workshop/icons/zap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6813" y="1885493"/>
            <a:ext cx="252374" cy="25237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600200" y="173736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 — o que o sistema faz</a:t>
            </a:r>
            <a:endParaRPr lang="en-US" sz="1550" dirty="0"/>
          </a:p>
        </p:txBody>
      </p:sp>
      <p:sp>
        <p:nvSpPr>
          <p:cNvPr id="10" name="Text 7"/>
          <p:cNvSpPr/>
          <p:nvPr/>
        </p:nvSpPr>
        <p:spPr>
          <a:xfrm>
            <a:off x="896112" y="251460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Comportamentos e regras observáveis pelo negócio.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896112" y="3154680"/>
            <a:ext cx="4773168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D7E2EF"/>
            </a:solidFill>
            <a:prstDash val="solid"/>
          </a:ln>
          <a:effectLst>
            <a:outerShdw sx="100000" sy="100000" kx="0" ky="0" algn="bl" rotWithShape="0" blurRad="88900" dist="25400" dir="5400000">
              <a:srgbClr val="16223B">
                <a:alpha val="20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1143000" y="338328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253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“Ao encaminhar, o sistema gera o Mapa de Precificação e o anexa ao processo.”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6217920" y="1463040"/>
            <a:ext cx="5394960" cy="3566160"/>
          </a:xfrm>
          <a:prstGeom prst="roundRect">
            <a:avLst>
              <a:gd name="adj" fmla="val 2308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492240" y="1737360"/>
            <a:ext cx="548640" cy="548640"/>
          </a:xfrm>
          <a:prstGeom prst="ellipse">
            <a:avLst/>
          </a:prstGeom>
          <a:solidFill>
            <a:srgbClr val="C77F1A"/>
          </a:solidFill>
          <a:ln/>
        </p:spPr>
      </p:sp>
      <p:pic>
        <p:nvPicPr>
          <p:cNvPr id="15" name="Image 1" descr="/tmp/claude-0/-home-user-doc-template-engine/198c21fb-8b4a-5b3c-a787-7fafcb963965/scratchpad/workshop/icons/sliders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0373" y="1885493"/>
            <a:ext cx="252374" cy="252374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223760" y="173736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Não-funcional — quão bem ele faz</a:t>
            </a:r>
            <a:endParaRPr lang="en-US" sz="1550" dirty="0"/>
          </a:p>
        </p:txBody>
      </p:sp>
      <p:sp>
        <p:nvSpPr>
          <p:cNvPr id="17" name="Text 13"/>
          <p:cNvSpPr/>
          <p:nvPr/>
        </p:nvSpPr>
        <p:spPr>
          <a:xfrm>
            <a:off x="6519672" y="251460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Desempenho, segurança, disponibilidade, auditoria, usabilidade.</a:t>
            </a:r>
            <a:endParaRPr lang="en-US" sz="1250" dirty="0"/>
          </a:p>
        </p:txBody>
      </p:sp>
      <p:sp>
        <p:nvSpPr>
          <p:cNvPr id="18" name="Shape 14"/>
          <p:cNvSpPr/>
          <p:nvPr/>
        </p:nvSpPr>
        <p:spPr>
          <a:xfrm>
            <a:off x="6519672" y="3154680"/>
            <a:ext cx="4773168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D7E2EF"/>
            </a:solidFill>
            <a:prstDash val="solid"/>
          </a:ln>
          <a:effectLst>
            <a:outerShdw sx="100000" sy="100000" kx="0" ky="0" algn="bl" rotWithShape="0" blurRad="88900" dist="25400" dir="5400000">
              <a:srgbClr val="16223B">
                <a:alpha val="20000"/>
              </a:srgbClr>
            </a:outerShdw>
          </a:effectLst>
        </p:spPr>
      </p:sp>
      <p:sp>
        <p:nvSpPr>
          <p:cNvPr id="19" name="Text 15"/>
          <p:cNvSpPr/>
          <p:nvPr/>
        </p:nvSpPr>
        <p:spPr>
          <a:xfrm>
            <a:off x="6766560" y="338328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253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“A consulta de SCs responde em até 3 segundos com 50 usuários simultâneos.”</a:t>
            </a:r>
            <a:endParaRPr lang="en-US" sz="1350" dirty="0"/>
          </a:p>
        </p:txBody>
      </p:sp>
      <p:sp>
        <p:nvSpPr>
          <p:cNvPr id="20" name="Shape 16"/>
          <p:cNvSpPr/>
          <p:nvPr/>
        </p:nvSpPr>
        <p:spPr>
          <a:xfrm>
            <a:off x="594360" y="5349240"/>
            <a:ext cx="11000232" cy="822960"/>
          </a:xfrm>
          <a:prstGeom prst="roundRect">
            <a:avLst>
              <a:gd name="adj" fmla="val 8889"/>
            </a:avLst>
          </a:prstGeom>
          <a:solidFill>
            <a:srgbClr val="1B2A4A"/>
          </a:solidFill>
          <a:ln/>
        </p:spPr>
      </p:sp>
      <p:sp>
        <p:nvSpPr>
          <p:cNvPr id="21" name="Text 17"/>
          <p:cNvSpPr/>
          <p:nvPr/>
        </p:nvSpPr>
        <p:spPr>
          <a:xfrm>
            <a:off x="868680" y="534924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Requisitos não-funcionais vivem num catálogo próprio, valem para o produto inteiro — e não como frase solta dentro de uma história.</a:t>
            </a:r>
            <a:endParaRPr lang="en-US" sz="13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3 · CRITÉRIOS QUE VIRAM TESTES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12064"/>
            <a:ext cx="11000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 – Quando – Então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6519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 — Workshop CNI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96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94360" y="1417320"/>
            <a:ext cx="6172200" cy="3931920"/>
          </a:xfrm>
          <a:prstGeom prst="roundRect">
            <a:avLst>
              <a:gd name="adj" fmla="val 2326"/>
            </a:avLst>
          </a:prstGeom>
          <a:solidFill>
            <a:srgbClr val="1B2A4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737360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0B9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Cenário: 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encaminhamento sem valor unitário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2395728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0B9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Dado </a:t>
            </a:r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 a SC 4711 tem itens sem valor unitário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14400" y="3054096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0B9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Quando </a:t>
            </a:r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 comprador aciona “Encaminhar”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4400" y="3712464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0B9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Então </a:t>
            </a:r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 encaminhamento é bloqueado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14400" y="4370832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0B9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 </a:t>
            </a:r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 sistema lista os itens pendentes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086600" y="1554480"/>
            <a:ext cx="457200" cy="457200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13" name="Image 0" descr="/tmp/claude-0/-home-user-doc-template-engine/198c21fb-8b4a-5b3c-a787-7fafcb963965/scratchpad/workshop/icons/book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10044" y="1677924"/>
            <a:ext cx="210312" cy="210312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7680960" y="1517904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Linguagem de negócio, estrutura de teste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7680960" y="1828800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BDD — Dan North, “Introducing BDD” (2006). O negócio lê; o QA executa.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086600" y="2926080"/>
            <a:ext cx="457200" cy="457200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17" name="Image 1" descr="/tmp/claude-0/-home-user-doc-template-engine/198c21fb-8b4a-5b3c-a787-7fafcb963965/scratchpad/workshop/icons/users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0044" y="3049524"/>
            <a:ext cx="210312" cy="210312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7680960" y="2889504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texto, três públicos</a:t>
            </a:r>
            <a:endParaRPr lang="en-US" sz="1350" dirty="0"/>
          </a:p>
        </p:txBody>
      </p:sp>
      <p:sp>
        <p:nvSpPr>
          <p:cNvPr id="19" name="Text 15"/>
          <p:cNvSpPr/>
          <p:nvPr/>
        </p:nvSpPr>
        <p:spPr>
          <a:xfrm>
            <a:off x="7680960" y="3200400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mesmo cenário orienta dev, teste e homologação (Specification by Example — Adzic, 2011).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7086600" y="4297680"/>
            <a:ext cx="457200" cy="457200"/>
          </a:xfrm>
          <a:prstGeom prst="ellipse">
            <a:avLst/>
          </a:prstGeom>
          <a:solidFill>
            <a:srgbClr val="B2492F"/>
          </a:solidFill>
          <a:ln/>
        </p:spPr>
      </p:sp>
      <p:pic>
        <p:nvPicPr>
          <p:cNvPr id="21" name="Image 2" descr="/tmp/claude-0/-home-user-doc-template-engine/198c21fb-8b4a-5b3c-a787-7fafcb963965/scratchpad/workshop/icons/alert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10044" y="4421124"/>
            <a:ext cx="210312" cy="210312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7680960" y="4261104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Escreva os cenários negativos</a:t>
            </a:r>
            <a:endParaRPr lang="en-US" sz="1350" dirty="0"/>
          </a:p>
        </p:txBody>
      </p:sp>
      <p:sp>
        <p:nvSpPr>
          <p:cNvPr id="23" name="Text 18"/>
          <p:cNvSpPr/>
          <p:nvPr/>
        </p:nvSpPr>
        <p:spPr>
          <a:xfrm>
            <a:off x="7680960" y="4572000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no caminho triste que o sistema quebra — e é ele que nunca é escrito.</a:t>
            </a:r>
            <a:endParaRPr lang="en-US" sz="1150" dirty="0"/>
          </a:p>
        </p:txBody>
      </p:sp>
      <p:sp>
        <p:nvSpPr>
          <p:cNvPr id="24" name="Text 19"/>
          <p:cNvSpPr/>
          <p:nvPr/>
        </p:nvSpPr>
        <p:spPr>
          <a:xfrm>
            <a:off x="594360" y="5623560"/>
            <a:ext cx="11000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C77F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cenário acima é executável como teste automatizado — o critério de aceite vira verificação permanente.</a:t>
            </a:r>
            <a:endParaRPr lang="en-US" sz="13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3 · O QUE SEMPRE FALTA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12064"/>
            <a:ext cx="11000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Estados e casos de erro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6519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 — Workshop CNI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96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94360" y="1920240"/>
            <a:ext cx="1920240" cy="658368"/>
          </a:xfrm>
          <a:prstGeom prst="roundRect">
            <a:avLst>
              <a:gd name="adj" fmla="val 12500"/>
            </a:avLst>
          </a:prstGeom>
          <a:solidFill>
            <a:srgbClr val="1B2A4A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920240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Rascunho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2532888" y="2249424"/>
            <a:ext cx="237744" cy="0"/>
          </a:xfrm>
          <a:prstGeom prst="line">
            <a:avLst/>
          </a:prstGeom>
          <a:noFill/>
          <a:ln w="27940">
            <a:solidFill>
              <a:srgbClr val="C77F1A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2788920" y="1920240"/>
            <a:ext cx="1920240" cy="658368"/>
          </a:xfrm>
          <a:prstGeom prst="roundRect">
            <a:avLst>
              <a:gd name="adj" fmla="val 12500"/>
            </a:avLst>
          </a:prstGeom>
          <a:solidFill>
            <a:srgbClr val="1B2A4A"/>
          </a:solidFill>
          <a:ln/>
        </p:spPr>
      </p:sp>
      <p:sp>
        <p:nvSpPr>
          <p:cNvPr id="10" name="Text 8"/>
          <p:cNvSpPr/>
          <p:nvPr/>
        </p:nvSpPr>
        <p:spPr>
          <a:xfrm>
            <a:off x="2834640" y="1920240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Encaminhada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727448" y="2249424"/>
            <a:ext cx="237744" cy="0"/>
          </a:xfrm>
          <a:prstGeom prst="line">
            <a:avLst/>
          </a:prstGeom>
          <a:noFill/>
          <a:ln w="27940">
            <a:solidFill>
              <a:srgbClr val="C77F1A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983480" y="1920240"/>
            <a:ext cx="1920240" cy="658368"/>
          </a:xfrm>
          <a:prstGeom prst="roundRect">
            <a:avLst>
              <a:gd name="adj" fmla="val 12500"/>
            </a:avLst>
          </a:prstGeom>
          <a:solidFill>
            <a:srgbClr val="1B2A4A"/>
          </a:solidFill>
          <a:ln/>
        </p:spPr>
      </p:sp>
      <p:sp>
        <p:nvSpPr>
          <p:cNvPr id="13" name="Text 11"/>
          <p:cNvSpPr/>
          <p:nvPr/>
        </p:nvSpPr>
        <p:spPr>
          <a:xfrm>
            <a:off x="5029200" y="1920240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revisão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922008" y="2249424"/>
            <a:ext cx="237744" cy="0"/>
          </a:xfrm>
          <a:prstGeom prst="line">
            <a:avLst/>
          </a:prstGeom>
          <a:noFill/>
          <a:ln w="27940">
            <a:solidFill>
              <a:srgbClr val="C77F1A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7178040" y="1920240"/>
            <a:ext cx="1920240" cy="658368"/>
          </a:xfrm>
          <a:prstGeom prst="roundRect">
            <a:avLst>
              <a:gd name="adj" fmla="val 12500"/>
            </a:avLst>
          </a:prstGeom>
          <a:solidFill>
            <a:srgbClr val="1B2A4A"/>
          </a:solidFill>
          <a:ln/>
        </p:spPr>
      </p:sp>
      <p:sp>
        <p:nvSpPr>
          <p:cNvPr id="16" name="Text 14"/>
          <p:cNvSpPr/>
          <p:nvPr/>
        </p:nvSpPr>
        <p:spPr>
          <a:xfrm>
            <a:off x="7223760" y="1920240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Revisada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9116568" y="2249424"/>
            <a:ext cx="237744" cy="0"/>
          </a:xfrm>
          <a:prstGeom prst="line">
            <a:avLst/>
          </a:prstGeom>
          <a:noFill/>
          <a:ln w="27940">
            <a:solidFill>
              <a:srgbClr val="C77F1A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9372600" y="1920240"/>
            <a:ext cx="1920240" cy="658368"/>
          </a:xfrm>
          <a:prstGeom prst="roundRect">
            <a:avLst>
              <a:gd name="adj" fmla="val 12500"/>
            </a:avLst>
          </a:prstGeom>
          <a:solidFill>
            <a:srgbClr val="1B2A4A"/>
          </a:solidFill>
          <a:ln/>
        </p:spPr>
      </p:sp>
      <p:sp>
        <p:nvSpPr>
          <p:cNvPr id="19" name="Text 17"/>
          <p:cNvSpPr/>
          <p:nvPr/>
        </p:nvSpPr>
        <p:spPr>
          <a:xfrm>
            <a:off x="9418320" y="1920240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Enviada p/ aprovação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983480" y="3520440"/>
            <a:ext cx="1920240" cy="658368"/>
          </a:xfrm>
          <a:prstGeom prst="roundRect">
            <a:avLst>
              <a:gd name="adj" fmla="val 12500"/>
            </a:avLst>
          </a:prstGeom>
          <a:solidFill>
            <a:srgbClr val="E8A33D"/>
          </a:solidFill>
          <a:ln/>
        </p:spPr>
      </p:sp>
      <p:sp>
        <p:nvSpPr>
          <p:cNvPr id="21" name="Text 19"/>
          <p:cNvSpPr/>
          <p:nvPr/>
        </p:nvSpPr>
        <p:spPr>
          <a:xfrm>
            <a:off x="5029200" y="3520440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Devolvida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943600" y="2596896"/>
            <a:ext cx="0" cy="896112"/>
          </a:xfrm>
          <a:prstGeom prst="line">
            <a:avLst/>
          </a:prstGeom>
          <a:noFill/>
          <a:ln w="27940">
            <a:solidFill>
              <a:srgbClr val="C77F1A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4956048" y="3849624"/>
            <a:ext cx="-1207008" cy="-1252728"/>
          </a:xfrm>
          <a:prstGeom prst="line">
            <a:avLst/>
          </a:prstGeom>
          <a:noFill/>
          <a:ln w="27940">
            <a:solidFill>
              <a:srgbClr val="B2492F"/>
            </a:solidFill>
            <a:prstDash val="dash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2651760" y="301752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i="1" dirty="0">
                <a:solidFill>
                  <a:srgbClr val="B24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reencaminhar?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7086600" y="3566160"/>
            <a:ext cx="4434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000" i="1" dirty="0">
                <a:solidFill>
                  <a:srgbClr val="B24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E a volta? A seta tracejada (devolvida → encaminhada) existe no processo, mas o caso real não diz se o reencaminhamento é permitido, nem com que limite.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94360" y="4663440"/>
            <a:ext cx="11000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seta é uma regra: quem pode, quando pode, o que acontece — e o que é proibido.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1371600" y="5349240"/>
            <a:ext cx="9418320" cy="731520"/>
          </a:xfrm>
          <a:prstGeom prst="roundRect">
            <a:avLst>
              <a:gd name="adj" fmla="val 10000"/>
            </a:avLst>
          </a:prstGeom>
          <a:solidFill>
            <a:srgbClr val="1B2A4A"/>
          </a:solidFill>
          <a:ln/>
        </p:spPr>
      </p:sp>
      <p:sp>
        <p:nvSpPr>
          <p:cNvPr id="28" name="Text 26"/>
          <p:cNvSpPr/>
          <p:nvPr/>
        </p:nvSpPr>
        <p:spPr>
          <a:xfrm>
            <a:off x="1371600" y="5349240"/>
            <a:ext cx="9418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Especificação sem caminho triste = caminho triste descoberto em produção.</a:t>
            </a:r>
            <a:endParaRPr lang="en-US" sz="16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3 · O FIO QUE A AUDITORIA PUXA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12064"/>
            <a:ext cx="11000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Rastreabilidade de ponta a ponta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6519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 — Workshop CNI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96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94360" y="1554480"/>
            <a:ext cx="2514600" cy="1600200"/>
          </a:xfrm>
          <a:prstGeom prst="roundRect">
            <a:avLst>
              <a:gd name="adj" fmla="val 5143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563624" y="1737360"/>
            <a:ext cx="566928" cy="566928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8" name="Image 0" descr="/tmp/claude-0/-home-user-doc-template-engine/198c21fb-8b4a-5b3c-a787-7fafcb963965/scratchpad/workshop/icons/trello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16695" y="1890431"/>
            <a:ext cx="260787" cy="260787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85800" y="237744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685800" y="2697480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Jira · PDTIC-…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3136392" y="2404872"/>
            <a:ext cx="365760" cy="0"/>
          </a:xfrm>
          <a:prstGeom prst="line">
            <a:avLst/>
          </a:prstGeom>
          <a:noFill/>
          <a:ln w="27940">
            <a:solidFill>
              <a:srgbClr val="C77F1A"/>
            </a:solidFill>
            <a:prstDash val="solid"/>
            <a:headEnd type="triangle"/>
            <a:tailEnd type="triangle"/>
          </a:ln>
        </p:spPr>
      </p:sp>
      <p:sp>
        <p:nvSpPr>
          <p:cNvPr id="12" name="Shape 9"/>
          <p:cNvSpPr/>
          <p:nvPr/>
        </p:nvSpPr>
        <p:spPr>
          <a:xfrm>
            <a:off x="3520440" y="1554480"/>
            <a:ext cx="2514600" cy="1600200"/>
          </a:xfrm>
          <a:prstGeom prst="roundRect">
            <a:avLst>
              <a:gd name="adj" fmla="val 5143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89704" y="1737360"/>
            <a:ext cx="566928" cy="566928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14" name="Image 1" descr="/tmp/claude-0/-home-user-doc-template-engine/198c21fb-8b4a-5b3c-a787-7fafcb963965/scratchpad/workshop/icons/file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2775" y="1890431"/>
            <a:ext cx="260787" cy="260787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3611880" y="237744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Especificação</a:t>
            </a:r>
            <a:endParaRPr lang="en-US" sz="1350" dirty="0"/>
          </a:p>
        </p:txBody>
      </p:sp>
      <p:sp>
        <p:nvSpPr>
          <p:cNvPr id="16" name="Text 12"/>
          <p:cNvSpPr/>
          <p:nvPr/>
        </p:nvSpPr>
        <p:spPr>
          <a:xfrm>
            <a:off x="3611880" y="2697480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estável · versionada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6062472" y="2404872"/>
            <a:ext cx="365760" cy="0"/>
          </a:xfrm>
          <a:prstGeom prst="line">
            <a:avLst/>
          </a:prstGeom>
          <a:noFill/>
          <a:ln w="27940">
            <a:solidFill>
              <a:srgbClr val="C77F1A"/>
            </a:solidFill>
            <a:prstDash val="solid"/>
            <a:headEnd type="triangle"/>
            <a:tailEnd type="triangle"/>
          </a:ln>
        </p:spPr>
      </p:sp>
      <p:sp>
        <p:nvSpPr>
          <p:cNvPr id="18" name="Shape 14"/>
          <p:cNvSpPr/>
          <p:nvPr/>
        </p:nvSpPr>
        <p:spPr>
          <a:xfrm>
            <a:off x="6446520" y="1554480"/>
            <a:ext cx="2514600" cy="1600200"/>
          </a:xfrm>
          <a:prstGeom prst="roundRect">
            <a:avLst>
              <a:gd name="adj" fmla="val 5143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7415784" y="1737360"/>
            <a:ext cx="566928" cy="566928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20" name="Image 2" descr="/tmp/claude-0/-home-user-doc-template-engine/198c21fb-8b4a-5b3c-a787-7fafcb963965/scratchpad/workshop/icons/check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8855" y="1890431"/>
            <a:ext cx="260787" cy="260787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6537960" y="237744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</a:t>
            </a:r>
            <a:endParaRPr lang="en-US" sz="1350" dirty="0"/>
          </a:p>
        </p:txBody>
      </p:sp>
      <p:sp>
        <p:nvSpPr>
          <p:cNvPr id="22" name="Text 17"/>
          <p:cNvSpPr/>
          <p:nvPr/>
        </p:nvSpPr>
        <p:spPr>
          <a:xfrm>
            <a:off x="6537960" y="2697480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cenários automatizados</a:t>
            </a:r>
            <a:endParaRPr lang="en-US" sz="1050" dirty="0"/>
          </a:p>
        </p:txBody>
      </p:sp>
      <p:sp>
        <p:nvSpPr>
          <p:cNvPr id="23" name="Shape 18"/>
          <p:cNvSpPr/>
          <p:nvPr/>
        </p:nvSpPr>
        <p:spPr>
          <a:xfrm>
            <a:off x="8988552" y="2404872"/>
            <a:ext cx="365760" cy="0"/>
          </a:xfrm>
          <a:prstGeom prst="line">
            <a:avLst/>
          </a:prstGeom>
          <a:noFill/>
          <a:ln w="27940">
            <a:solidFill>
              <a:srgbClr val="C77F1A"/>
            </a:solidFill>
            <a:prstDash val="solid"/>
            <a:headEnd type="triangle"/>
            <a:tailEnd type="triangle"/>
          </a:ln>
        </p:spPr>
      </p:sp>
      <p:sp>
        <p:nvSpPr>
          <p:cNvPr id="24" name="Shape 19"/>
          <p:cNvSpPr/>
          <p:nvPr/>
        </p:nvSpPr>
        <p:spPr>
          <a:xfrm>
            <a:off x="9372600" y="1554480"/>
            <a:ext cx="2514600" cy="1600200"/>
          </a:xfrm>
          <a:prstGeom prst="roundRect">
            <a:avLst>
              <a:gd name="adj" fmla="val 5143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10341864" y="1737360"/>
            <a:ext cx="566928" cy="566928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26" name="Image 3" descr="/tmp/claude-0/-home-user-doc-template-engine/198c21fb-8b4a-5b3c-a787-7fafcb963965/scratchpad/workshop/icons/gitbranch-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94935" y="1890431"/>
            <a:ext cx="260787" cy="260787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9464040" y="237744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&amp; release</a:t>
            </a:r>
            <a:endParaRPr lang="en-US" sz="1350" dirty="0"/>
          </a:p>
        </p:txBody>
      </p:sp>
      <p:sp>
        <p:nvSpPr>
          <p:cNvPr id="28" name="Text 22"/>
          <p:cNvSpPr/>
          <p:nvPr/>
        </p:nvSpPr>
        <p:spPr>
          <a:xfrm>
            <a:off x="9464040" y="2697480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versão entregue</a:t>
            </a:r>
            <a:endParaRPr lang="en-US" sz="1050" dirty="0"/>
          </a:p>
        </p:txBody>
      </p:sp>
      <p:sp>
        <p:nvSpPr>
          <p:cNvPr id="29" name="Shape 23"/>
          <p:cNvSpPr/>
          <p:nvPr/>
        </p:nvSpPr>
        <p:spPr>
          <a:xfrm>
            <a:off x="594360" y="3611880"/>
            <a:ext cx="457200" cy="457200"/>
          </a:xfrm>
          <a:prstGeom prst="ellipse">
            <a:avLst/>
          </a:prstGeom>
          <a:solidFill>
            <a:srgbClr val="C77F1A"/>
          </a:solidFill>
          <a:ln/>
        </p:spPr>
      </p:sp>
      <p:pic>
        <p:nvPicPr>
          <p:cNvPr id="30" name="Image 4" descr="/tmp/claude-0/-home-user-doc-template-engine/198c21fb-8b4a-5b3c-a787-7fafcb963965/scratchpad/workshop/icons/search-whi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7804" y="3735324"/>
            <a:ext cx="210312" cy="210312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1234440" y="356616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 de impacto — 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“Se mudarmos esta regra, o que quebra?” — responde-se em minutos, não em arqueologia.</a:t>
            </a:r>
            <a:endParaRPr lang="en-US" sz="1250" dirty="0"/>
          </a:p>
        </p:txBody>
      </p:sp>
      <p:sp>
        <p:nvSpPr>
          <p:cNvPr id="32" name="Shape 25"/>
          <p:cNvSpPr/>
          <p:nvPr/>
        </p:nvSpPr>
        <p:spPr>
          <a:xfrm>
            <a:off x="594360" y="4526280"/>
            <a:ext cx="457200" cy="457200"/>
          </a:xfrm>
          <a:prstGeom prst="ellipse">
            <a:avLst/>
          </a:prstGeom>
          <a:solidFill>
            <a:srgbClr val="C77F1A"/>
          </a:solidFill>
          <a:ln/>
        </p:spPr>
      </p:sp>
      <p:pic>
        <p:nvPicPr>
          <p:cNvPr id="33" name="Image 5" descr="/tmp/claude-0/-home-user-doc-template-engine/198c21fb-8b4a-5b3c-a787-7fafcb963965/scratchpad/workshop/icons/shield-whit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7804" y="4649724"/>
            <a:ext cx="210312" cy="210312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1234440" y="448056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Auditoria e conformidade — 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necessidade aprovada ao código entregue, cada elo tem registro — exigência típica no Sistema Indústria.</a:t>
            </a:r>
            <a:endParaRPr lang="en-US" sz="1250" dirty="0"/>
          </a:p>
        </p:txBody>
      </p:sp>
      <p:sp>
        <p:nvSpPr>
          <p:cNvPr id="35" name="Shape 27"/>
          <p:cNvSpPr/>
          <p:nvPr/>
        </p:nvSpPr>
        <p:spPr>
          <a:xfrm>
            <a:off x="594360" y="5440680"/>
            <a:ext cx="457200" cy="457200"/>
          </a:xfrm>
          <a:prstGeom prst="ellipse">
            <a:avLst/>
          </a:prstGeom>
          <a:solidFill>
            <a:srgbClr val="C77F1A"/>
          </a:solidFill>
          <a:ln/>
        </p:spPr>
      </p:sp>
      <p:pic>
        <p:nvPicPr>
          <p:cNvPr id="36" name="Image 6" descr="/tmp/claude-0/-home-user-doc-template-engine/198c21fb-8b4a-5b3c-a787-7fafcb963965/scratchpad/workshop/icons/users-whit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7804" y="5564124"/>
            <a:ext cx="210312" cy="210312"/>
          </a:xfrm>
          <a:prstGeom prst="rect">
            <a:avLst/>
          </a:prstGeom>
        </p:spPr>
      </p:pic>
      <p:sp>
        <p:nvSpPr>
          <p:cNvPr id="37" name="Text 28"/>
          <p:cNvSpPr/>
          <p:nvPr/>
        </p:nvSpPr>
        <p:spPr>
          <a:xfrm>
            <a:off x="1234440" y="539496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Continuidade — 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 e fornecedores trocam; o fio rastreável é o que impede o conhecimento de ir embora junto.</a:t>
            </a:r>
            <a:endParaRPr lang="en-US" sz="12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0515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640080" y="1280160"/>
            <a:ext cx="3291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7000" dirty="0"/>
          </a:p>
        </p:txBody>
      </p:sp>
      <p:sp>
        <p:nvSpPr>
          <p:cNvPr id="4" name="Text 2"/>
          <p:cNvSpPr/>
          <p:nvPr/>
        </p:nvSpPr>
        <p:spPr>
          <a:xfrm>
            <a:off x="4206240" y="1965960"/>
            <a:ext cx="7315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não entra</a:t>
            </a:r>
            <a:endParaRPr lang="en-US" sz="3700" dirty="0"/>
          </a:p>
          <a:p>
            <a:pPr indent="0" marL="0">
              <a:buNone/>
            </a:pPr>
            <a:r>
              <a:rPr lang="en-US" sz="3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 card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4251960" y="3794760"/>
            <a:ext cx="1578254" cy="402336"/>
          </a:xfrm>
          <a:prstGeom prst="roundRect">
            <a:avLst>
              <a:gd name="adj" fmla="val 50000"/>
            </a:avLst>
          </a:prstGeom>
          <a:solidFill>
            <a:srgbClr val="31497A"/>
          </a:solidFill>
          <a:ln/>
        </p:spPr>
      </p:sp>
      <p:sp>
        <p:nvSpPr>
          <p:cNvPr id="6" name="Text 4"/>
          <p:cNvSpPr/>
          <p:nvPr/>
        </p:nvSpPr>
        <p:spPr>
          <a:xfrm>
            <a:off x="4251960" y="3794760"/>
            <a:ext cx="15782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sete anti-padrões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976518" y="3794760"/>
            <a:ext cx="1435608" cy="402336"/>
          </a:xfrm>
          <a:prstGeom prst="roundRect">
            <a:avLst>
              <a:gd name="adj" fmla="val 50000"/>
            </a:avLst>
          </a:prstGeom>
          <a:solidFill>
            <a:srgbClr val="31497A"/>
          </a:solidFill>
          <a:ln/>
        </p:spPr>
      </p:sp>
      <p:sp>
        <p:nvSpPr>
          <p:cNvPr id="8" name="Text 6"/>
          <p:cNvSpPr/>
          <p:nvPr/>
        </p:nvSpPr>
        <p:spPr>
          <a:xfrm>
            <a:off x="5976518" y="3794760"/>
            <a:ext cx="1435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cheiros no Jira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7558430" y="3794760"/>
            <a:ext cx="1435608" cy="402336"/>
          </a:xfrm>
          <a:prstGeom prst="roundRect">
            <a:avLst>
              <a:gd name="adj" fmla="val 50000"/>
            </a:avLst>
          </a:prstGeom>
          <a:solidFill>
            <a:srgbClr val="31497A"/>
          </a:solidFill>
          <a:ln/>
        </p:spPr>
      </p:sp>
      <p:sp>
        <p:nvSpPr>
          <p:cNvPr id="10" name="Text 8"/>
          <p:cNvSpPr/>
          <p:nvPr/>
        </p:nvSpPr>
        <p:spPr>
          <a:xfrm>
            <a:off x="7558430" y="3794760"/>
            <a:ext cx="1435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regra de ouro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251960" y="4361688"/>
            <a:ext cx="1417320" cy="420624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/>
        </p:spPr>
      </p:sp>
      <p:sp>
        <p:nvSpPr>
          <p:cNvPr id="12" name="Text 10"/>
          <p:cNvSpPr/>
          <p:nvPr/>
        </p:nvSpPr>
        <p:spPr>
          <a:xfrm>
            <a:off x="4251960" y="4361688"/>
            <a:ext cx="1417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20 min</a:t>
            </a:r>
            <a:endParaRPr lang="en-US" sz="13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12064"/>
            <a:ext cx="11000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Sete coisas que não pertencem a uma história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6519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 — Workshop CNI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96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2679192" cy="2057400"/>
          </a:xfrm>
          <a:prstGeom prst="roundRect">
            <a:avLst>
              <a:gd name="adj" fmla="val 4000"/>
            </a:avLst>
          </a:prstGeom>
          <a:solidFill>
            <a:srgbClr val="F9ECE7"/>
          </a:solidFill>
          <a:ln w="12700">
            <a:solidFill>
              <a:srgbClr val="E8C4B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581912"/>
            <a:ext cx="384048" cy="384048"/>
          </a:xfrm>
          <a:prstGeom prst="ellipse">
            <a:avLst/>
          </a:prstGeom>
          <a:solidFill>
            <a:srgbClr val="B2492F"/>
          </a:solidFill>
          <a:ln/>
        </p:spPr>
      </p:sp>
      <p:pic>
        <p:nvPicPr>
          <p:cNvPr id="8" name="Image 0" descr="/tmp/claude-0/-home-user-doc-template-engine/198c21fb-8b4a-5b3c-a787-7fafcb963965/scratchpad/workshop/icons/x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213" y="1685605"/>
            <a:ext cx="176662" cy="17666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207008" y="1581912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B24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Solução técnica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58568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“Criar tabela X”, “usar o endpoint Y”. Decisão do time — vive na especificação técnica.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3364992" y="1417320"/>
            <a:ext cx="2679192" cy="2057400"/>
          </a:xfrm>
          <a:prstGeom prst="roundRect">
            <a:avLst>
              <a:gd name="adj" fmla="val 4000"/>
            </a:avLst>
          </a:prstGeom>
          <a:solidFill>
            <a:srgbClr val="F9ECE7"/>
          </a:solidFill>
          <a:ln w="12700">
            <a:solidFill>
              <a:srgbClr val="E8C4B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547872" y="1581912"/>
            <a:ext cx="384048" cy="384048"/>
          </a:xfrm>
          <a:prstGeom prst="ellipse">
            <a:avLst/>
          </a:prstGeom>
          <a:solidFill>
            <a:srgbClr val="B2492F"/>
          </a:solidFill>
          <a:ln/>
        </p:spPr>
      </p:sp>
      <p:pic>
        <p:nvPicPr>
          <p:cNvPr id="13" name="Image 1" descr="/tmp/claude-0/-home-user-doc-template-engine/198c21fb-8b4a-5b3c-a787-7fafcb963965/scratchpad/workshop/icons/x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1565" y="1685605"/>
            <a:ext cx="176662" cy="17666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023360" y="1581912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B24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Tela como história</a:t>
            </a:r>
            <a:endParaRPr lang="en-US" sz="1250" dirty="0"/>
          </a:p>
        </p:txBody>
      </p:sp>
      <p:sp>
        <p:nvSpPr>
          <p:cNvPr id="15" name="Text 11"/>
          <p:cNvSpPr/>
          <p:nvPr/>
        </p:nvSpPr>
        <p:spPr>
          <a:xfrm>
            <a:off x="3566160" y="2258568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“Desenvolver a TELA_002”. Tela é meio; o valor está na ação de negócio.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6181344" y="1417320"/>
            <a:ext cx="2679192" cy="2057400"/>
          </a:xfrm>
          <a:prstGeom prst="roundRect">
            <a:avLst>
              <a:gd name="adj" fmla="val 4000"/>
            </a:avLst>
          </a:prstGeom>
          <a:solidFill>
            <a:srgbClr val="F9ECE7"/>
          </a:solidFill>
          <a:ln w="12700">
            <a:solidFill>
              <a:srgbClr val="E8C4B5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6364224" y="1581912"/>
            <a:ext cx="384048" cy="384048"/>
          </a:xfrm>
          <a:prstGeom prst="ellipse">
            <a:avLst/>
          </a:prstGeom>
          <a:solidFill>
            <a:srgbClr val="B2492F"/>
          </a:solidFill>
          <a:ln/>
        </p:spPr>
      </p:sp>
      <p:pic>
        <p:nvPicPr>
          <p:cNvPr id="18" name="Image 2" descr="/tmp/claude-0/-home-user-doc-template-engine/198c21fb-8b4a-5b3c-a787-7fafcb963965/scratchpad/workshop/icons/x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7917" y="1685605"/>
            <a:ext cx="176662" cy="176662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839712" y="1581912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B24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Épico fantasiado</a:t>
            </a:r>
            <a:endParaRPr lang="en-US" sz="1250" dirty="0"/>
          </a:p>
        </p:txBody>
      </p:sp>
      <p:sp>
        <p:nvSpPr>
          <p:cNvPr id="20" name="Text 15"/>
          <p:cNvSpPr/>
          <p:nvPr/>
        </p:nvSpPr>
        <p:spPr>
          <a:xfrm>
            <a:off x="6382512" y="2258568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cabe na sprint? Não é história. Divida em fatias que entregam valor.</a:t>
            </a:r>
            <a:endParaRPr lang="en-US" sz="1050" dirty="0"/>
          </a:p>
        </p:txBody>
      </p:sp>
      <p:sp>
        <p:nvSpPr>
          <p:cNvPr id="21" name="Shape 16"/>
          <p:cNvSpPr/>
          <p:nvPr/>
        </p:nvSpPr>
        <p:spPr>
          <a:xfrm>
            <a:off x="8997696" y="1417320"/>
            <a:ext cx="2679192" cy="2057400"/>
          </a:xfrm>
          <a:prstGeom prst="roundRect">
            <a:avLst>
              <a:gd name="adj" fmla="val 4000"/>
            </a:avLst>
          </a:prstGeom>
          <a:solidFill>
            <a:srgbClr val="F9ECE7"/>
          </a:solidFill>
          <a:ln w="12700">
            <a:solidFill>
              <a:srgbClr val="E8C4B5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9180576" y="1581912"/>
            <a:ext cx="384048" cy="384048"/>
          </a:xfrm>
          <a:prstGeom prst="ellipse">
            <a:avLst/>
          </a:prstGeom>
          <a:solidFill>
            <a:srgbClr val="B2492F"/>
          </a:solidFill>
          <a:ln/>
        </p:spPr>
      </p:sp>
      <p:pic>
        <p:nvPicPr>
          <p:cNvPr id="23" name="Image 3" descr="/tmp/claude-0/-home-user-doc-template-engine/198c21fb-8b4a-5b3c-a787-7fafcb963965/scratchpad/workshop/icons/x-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84269" y="1685605"/>
            <a:ext cx="176662" cy="176662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9656064" y="1581912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B24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ator, sem porquê</a:t>
            </a:r>
            <a:endParaRPr lang="en-US" sz="1250" dirty="0"/>
          </a:p>
        </p:txBody>
      </p:sp>
      <p:sp>
        <p:nvSpPr>
          <p:cNvPr id="25" name="Text 19"/>
          <p:cNvSpPr/>
          <p:nvPr/>
        </p:nvSpPr>
        <p:spPr>
          <a:xfrm>
            <a:off x="9198864" y="2258568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“O sistema deve…”. Sem beneficiário e benefício, não há como priorizar.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548640" y="3703320"/>
            <a:ext cx="2679192" cy="2057400"/>
          </a:xfrm>
          <a:prstGeom prst="roundRect">
            <a:avLst>
              <a:gd name="adj" fmla="val 4000"/>
            </a:avLst>
          </a:prstGeom>
          <a:solidFill>
            <a:srgbClr val="F9ECE7"/>
          </a:solidFill>
          <a:ln w="12700">
            <a:solidFill>
              <a:srgbClr val="E8C4B5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731520" y="3867912"/>
            <a:ext cx="384048" cy="384048"/>
          </a:xfrm>
          <a:prstGeom prst="ellipse">
            <a:avLst/>
          </a:prstGeom>
          <a:solidFill>
            <a:srgbClr val="B2492F"/>
          </a:solidFill>
          <a:ln/>
        </p:spPr>
      </p:sp>
      <p:pic>
        <p:nvPicPr>
          <p:cNvPr id="28" name="Image 4" descr="/tmp/claude-0/-home-user-doc-template-engine/198c21fb-8b4a-5b3c-a787-7fafcb963965/scratchpad/workshop/icons/x-whi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5213" y="3971605"/>
            <a:ext cx="176662" cy="176662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1207008" y="3867912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B24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 vago</a:t>
            </a:r>
            <a:endParaRPr lang="en-US" sz="1250" dirty="0"/>
          </a:p>
        </p:txBody>
      </p:sp>
      <p:sp>
        <p:nvSpPr>
          <p:cNvPr id="30" name="Text 23"/>
          <p:cNvSpPr/>
          <p:nvPr/>
        </p:nvSpPr>
        <p:spPr>
          <a:xfrm>
            <a:off x="749808" y="4544568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“Funcionar corretamente”, “ser amigável”. Não testável = não aceitável.</a:t>
            </a:r>
            <a:endParaRPr lang="en-US" sz="1050" dirty="0"/>
          </a:p>
        </p:txBody>
      </p:sp>
      <p:sp>
        <p:nvSpPr>
          <p:cNvPr id="31" name="Shape 24"/>
          <p:cNvSpPr/>
          <p:nvPr/>
        </p:nvSpPr>
        <p:spPr>
          <a:xfrm>
            <a:off x="3364992" y="3703320"/>
            <a:ext cx="2679192" cy="2057400"/>
          </a:xfrm>
          <a:prstGeom prst="roundRect">
            <a:avLst>
              <a:gd name="adj" fmla="val 4000"/>
            </a:avLst>
          </a:prstGeom>
          <a:solidFill>
            <a:srgbClr val="F9ECE7"/>
          </a:solidFill>
          <a:ln w="12700">
            <a:solidFill>
              <a:srgbClr val="E8C4B5"/>
            </a:solidFill>
            <a:prstDash val="solid"/>
          </a:ln>
        </p:spPr>
      </p:sp>
      <p:sp>
        <p:nvSpPr>
          <p:cNvPr id="32" name="Shape 25"/>
          <p:cNvSpPr/>
          <p:nvPr/>
        </p:nvSpPr>
        <p:spPr>
          <a:xfrm>
            <a:off x="3547872" y="3867912"/>
            <a:ext cx="384048" cy="384048"/>
          </a:xfrm>
          <a:prstGeom prst="ellipse">
            <a:avLst/>
          </a:prstGeom>
          <a:solidFill>
            <a:srgbClr val="B2492F"/>
          </a:solidFill>
          <a:ln/>
        </p:spPr>
      </p:sp>
      <p:pic>
        <p:nvPicPr>
          <p:cNvPr id="33" name="Image 5" descr="/tmp/claude-0/-home-user-doc-template-engine/198c21fb-8b4a-5b3c-a787-7fafcb963965/scratchpad/workshop/icons/x-whit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51565" y="3971605"/>
            <a:ext cx="176662" cy="176662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4023360" y="3867912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B24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Description-romance</a:t>
            </a:r>
            <a:endParaRPr lang="en-US" sz="1250" dirty="0"/>
          </a:p>
        </p:txBody>
      </p:sp>
      <p:sp>
        <p:nvSpPr>
          <p:cNvPr id="35" name="Text 27"/>
          <p:cNvSpPr/>
          <p:nvPr/>
        </p:nvSpPr>
        <p:spPr>
          <a:xfrm>
            <a:off x="3566160" y="4544568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páginas no card = especificação no lugar errado, sem versão nem revisão.</a:t>
            </a:r>
            <a:endParaRPr lang="en-US" sz="1050" dirty="0"/>
          </a:p>
        </p:txBody>
      </p:sp>
      <p:sp>
        <p:nvSpPr>
          <p:cNvPr id="36" name="Shape 28"/>
          <p:cNvSpPr/>
          <p:nvPr/>
        </p:nvSpPr>
        <p:spPr>
          <a:xfrm>
            <a:off x="6181344" y="3703320"/>
            <a:ext cx="2679192" cy="2057400"/>
          </a:xfrm>
          <a:prstGeom prst="roundRect">
            <a:avLst>
              <a:gd name="adj" fmla="val 4000"/>
            </a:avLst>
          </a:prstGeom>
          <a:solidFill>
            <a:srgbClr val="F9ECE7"/>
          </a:solidFill>
          <a:ln w="12700">
            <a:solidFill>
              <a:srgbClr val="E8C4B5"/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6364224" y="3867912"/>
            <a:ext cx="384048" cy="384048"/>
          </a:xfrm>
          <a:prstGeom prst="ellipse">
            <a:avLst/>
          </a:prstGeom>
          <a:solidFill>
            <a:srgbClr val="B2492F"/>
          </a:solidFill>
          <a:ln/>
        </p:spPr>
      </p:sp>
      <p:pic>
        <p:nvPicPr>
          <p:cNvPr id="38" name="Image 6" descr="/tmp/claude-0/-home-user-doc-template-engine/198c21fb-8b4a-5b3c-a787-7fafcb963965/scratchpad/workshop/icons/x-whit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67917" y="3971605"/>
            <a:ext cx="176662" cy="176662"/>
          </a:xfrm>
          <a:prstGeom prst="rect">
            <a:avLst/>
          </a:prstGeom>
        </p:spPr>
      </p:pic>
      <p:sp>
        <p:nvSpPr>
          <p:cNvPr id="39" name="Text 30"/>
          <p:cNvSpPr/>
          <p:nvPr/>
        </p:nvSpPr>
        <p:spPr>
          <a:xfrm>
            <a:off x="6839712" y="3867912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B24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Card-arquivo</a:t>
            </a:r>
            <a:endParaRPr lang="en-US" sz="1250" dirty="0"/>
          </a:p>
        </p:txBody>
      </p:sp>
      <p:sp>
        <p:nvSpPr>
          <p:cNvPr id="40" name="Text 31"/>
          <p:cNvSpPr/>
          <p:nvPr/>
        </p:nvSpPr>
        <p:spPr>
          <a:xfrm>
            <a:off x="6382512" y="4544568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 permanente “guardado” em card fechado é requisito perdido.</a:t>
            </a:r>
            <a:endParaRPr lang="en-US" sz="1050" dirty="0"/>
          </a:p>
        </p:txBody>
      </p:sp>
      <p:sp>
        <p:nvSpPr>
          <p:cNvPr id="41" name="Shape 32"/>
          <p:cNvSpPr/>
          <p:nvPr/>
        </p:nvSpPr>
        <p:spPr>
          <a:xfrm>
            <a:off x="8997696" y="3703320"/>
            <a:ext cx="2679192" cy="2057400"/>
          </a:xfrm>
          <a:prstGeom prst="roundRect">
            <a:avLst>
              <a:gd name="adj" fmla="val 4000"/>
            </a:avLst>
          </a:prstGeom>
          <a:solidFill>
            <a:srgbClr val="FBF0DC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42" name="Shape 33"/>
          <p:cNvSpPr/>
          <p:nvPr/>
        </p:nvSpPr>
        <p:spPr>
          <a:xfrm>
            <a:off x="9180576" y="3867912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43" name="Image 7" descr="/tmp/claude-0/-home-user-doc-template-engine/198c21fb-8b4a-5b3c-a787-7fafcb963965/scratchpad/workshop/icons/compass-navy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84269" y="3971605"/>
            <a:ext cx="176662" cy="176662"/>
          </a:xfrm>
          <a:prstGeom prst="rect">
            <a:avLst/>
          </a:prstGeom>
        </p:spPr>
      </p:pic>
      <p:sp>
        <p:nvSpPr>
          <p:cNvPr id="44" name="Text 34"/>
          <p:cNvSpPr/>
          <p:nvPr/>
        </p:nvSpPr>
        <p:spPr>
          <a:xfrm>
            <a:off x="9656064" y="3867912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Tudo isso tem lugar</a:t>
            </a:r>
            <a:endParaRPr lang="en-US" sz="1250" dirty="0"/>
          </a:p>
        </p:txBody>
      </p:sp>
      <p:sp>
        <p:nvSpPr>
          <p:cNvPr id="45" name="Text 35"/>
          <p:cNvSpPr/>
          <p:nvPr/>
        </p:nvSpPr>
        <p:spPr>
          <a:xfrm>
            <a:off x="9198864" y="4544568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Especificação, catálogo NFR, documentação técnica. O problema nunca é o conteúdo — é o endereço.</a:t>
            </a:r>
            <a:endParaRPr lang="en-US" sz="10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4 · NO DIA A DIA DA FERRAMENTA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12064"/>
            <a:ext cx="11000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Cheiros no Jira — e o antídoto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6519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 — Workshop CNI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96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94360" y="1417320"/>
            <a:ext cx="4892040" cy="786384"/>
          </a:xfrm>
          <a:prstGeom prst="roundRect">
            <a:avLst>
              <a:gd name="adj" fmla="val 10465"/>
            </a:avLst>
          </a:prstGeom>
          <a:solidFill>
            <a:srgbClr val="F9ECE7"/>
          </a:solidFill>
          <a:ln w="12700">
            <a:solidFill>
              <a:srgbClr val="E8C4B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58952" y="1618488"/>
            <a:ext cx="365760" cy="365760"/>
          </a:xfrm>
          <a:prstGeom prst="ellipse">
            <a:avLst/>
          </a:prstGeom>
          <a:solidFill>
            <a:srgbClr val="B2492F"/>
          </a:solidFill>
          <a:ln/>
        </p:spPr>
      </p:sp>
      <p:pic>
        <p:nvPicPr>
          <p:cNvPr id="8" name="Image 0" descr="/tmp/claude-0/-home-user-doc-template-engine/198c21fb-8b4a-5b3c-a787-7fafcb963965/scratchpad/workshop/icons/search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7707" y="1717243"/>
            <a:ext cx="168250" cy="16825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261872" y="1417320"/>
            <a:ext cx="41148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 de 5 páginas colada do Word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14416" y="1810512"/>
            <a:ext cx="384048" cy="0"/>
          </a:xfrm>
          <a:prstGeom prst="line">
            <a:avLst/>
          </a:prstGeom>
          <a:noFill/>
          <a:ln w="27940">
            <a:solidFill>
              <a:srgbClr val="C77F1A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6126480" y="1417320"/>
            <a:ext cx="5486400" cy="786384"/>
          </a:xfrm>
          <a:prstGeom prst="roundRect">
            <a:avLst>
              <a:gd name="adj" fmla="val 10465"/>
            </a:avLst>
          </a:prstGeom>
          <a:solidFill>
            <a:srgbClr val="E9F3EE"/>
          </a:solidFill>
          <a:ln w="12700">
            <a:solidFill>
              <a:srgbClr val="BCD9C9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291072" y="1618488"/>
            <a:ext cx="365760" cy="365760"/>
          </a:xfrm>
          <a:prstGeom prst="ellipse">
            <a:avLst/>
          </a:prstGeom>
          <a:solidFill>
            <a:srgbClr val="2E7D5B"/>
          </a:solidFill>
          <a:ln/>
        </p:spPr>
      </p:sp>
      <p:pic>
        <p:nvPicPr>
          <p:cNvPr id="13" name="Image 1" descr="/tmp/claude-0/-home-user-doc-template-engine/198c21fb-8b4a-5b3c-a787-7fafcb963965/scratchpad/workshop/icons/checkmini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9827" y="1717243"/>
            <a:ext cx="168250" cy="16825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6793992" y="1417320"/>
            <a:ext cx="4663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Resumo no card + link para a especificação versionada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594360" y="2350008"/>
            <a:ext cx="4892040" cy="786384"/>
          </a:xfrm>
          <a:prstGeom prst="roundRect">
            <a:avLst>
              <a:gd name="adj" fmla="val 10465"/>
            </a:avLst>
          </a:prstGeom>
          <a:solidFill>
            <a:srgbClr val="F9ECE7"/>
          </a:solidFill>
          <a:ln w="12700">
            <a:solidFill>
              <a:srgbClr val="E8C4B5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758952" y="2551176"/>
            <a:ext cx="365760" cy="365760"/>
          </a:xfrm>
          <a:prstGeom prst="ellipse">
            <a:avLst/>
          </a:prstGeom>
          <a:solidFill>
            <a:srgbClr val="B2492F"/>
          </a:solidFill>
          <a:ln/>
        </p:spPr>
      </p:sp>
      <p:pic>
        <p:nvPicPr>
          <p:cNvPr id="17" name="Image 2" descr="/tmp/claude-0/-home-user-doc-template-engine/198c21fb-8b4a-5b3c-a787-7fafcb963965/scratchpad/workshop/icons/search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707" y="2649931"/>
            <a:ext cx="168250" cy="16825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261872" y="2350008"/>
            <a:ext cx="41148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Anexo .docx como “fonte da verdade”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5614416" y="2743200"/>
            <a:ext cx="384048" cy="0"/>
          </a:xfrm>
          <a:prstGeom prst="line">
            <a:avLst/>
          </a:prstGeom>
          <a:noFill/>
          <a:ln w="27940">
            <a:solidFill>
              <a:srgbClr val="C77F1A"/>
            </a:solidFill>
            <a:prstDash val="solid"/>
            <a:tailEnd type="triangle"/>
          </a:ln>
        </p:spPr>
      </p:sp>
      <p:sp>
        <p:nvSpPr>
          <p:cNvPr id="20" name="Shape 15"/>
          <p:cNvSpPr/>
          <p:nvPr/>
        </p:nvSpPr>
        <p:spPr>
          <a:xfrm>
            <a:off x="6126480" y="2350008"/>
            <a:ext cx="5486400" cy="786384"/>
          </a:xfrm>
          <a:prstGeom prst="roundRect">
            <a:avLst>
              <a:gd name="adj" fmla="val 10465"/>
            </a:avLst>
          </a:prstGeom>
          <a:solidFill>
            <a:srgbClr val="E9F3EE"/>
          </a:solidFill>
          <a:ln w="12700">
            <a:solidFill>
              <a:srgbClr val="BCD9C9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6291072" y="2551176"/>
            <a:ext cx="365760" cy="365760"/>
          </a:xfrm>
          <a:prstGeom prst="ellipse">
            <a:avLst/>
          </a:prstGeom>
          <a:solidFill>
            <a:srgbClr val="2E7D5B"/>
          </a:solidFill>
          <a:ln/>
        </p:spPr>
      </p:sp>
      <p:pic>
        <p:nvPicPr>
          <p:cNvPr id="22" name="Image 3" descr="/tmp/claude-0/-home-user-doc-template-engine/198c21fb-8b4a-5b3c-a787-7fafcb963965/scratchpad/workshop/icons/checkmini-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9827" y="2649931"/>
            <a:ext cx="168250" cy="16825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6793992" y="2350008"/>
            <a:ext cx="4663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Anexo é insumo; a verdade vive na especificação, com versão e dono</a:t>
            </a:r>
            <a:endParaRPr lang="en-US" sz="1150" dirty="0"/>
          </a:p>
        </p:txBody>
      </p:sp>
      <p:sp>
        <p:nvSpPr>
          <p:cNvPr id="24" name="Shape 18"/>
          <p:cNvSpPr/>
          <p:nvPr/>
        </p:nvSpPr>
        <p:spPr>
          <a:xfrm>
            <a:off x="594360" y="3282696"/>
            <a:ext cx="4892040" cy="786384"/>
          </a:xfrm>
          <a:prstGeom prst="roundRect">
            <a:avLst>
              <a:gd name="adj" fmla="val 10465"/>
            </a:avLst>
          </a:prstGeom>
          <a:solidFill>
            <a:srgbClr val="F9ECE7"/>
          </a:solidFill>
          <a:ln w="12700">
            <a:solidFill>
              <a:srgbClr val="E8C4B5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58952" y="3483864"/>
            <a:ext cx="365760" cy="365760"/>
          </a:xfrm>
          <a:prstGeom prst="ellipse">
            <a:avLst/>
          </a:prstGeom>
          <a:solidFill>
            <a:srgbClr val="B2492F"/>
          </a:solidFill>
          <a:ln/>
        </p:spPr>
      </p:sp>
      <p:pic>
        <p:nvPicPr>
          <p:cNvPr id="26" name="Image 4" descr="/tmp/claude-0/-home-user-doc-template-engine/198c21fb-8b4a-5b3c-a787-7fafcb963965/scratchpad/workshop/icons/search-whi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707" y="3582619"/>
            <a:ext cx="168250" cy="168250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261872" y="3282696"/>
            <a:ext cx="41148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 decidido no fio de comentários</a:t>
            </a:r>
            <a:endParaRPr lang="en-US" sz="1150" dirty="0"/>
          </a:p>
        </p:txBody>
      </p:sp>
      <p:sp>
        <p:nvSpPr>
          <p:cNvPr id="28" name="Shape 21"/>
          <p:cNvSpPr/>
          <p:nvPr/>
        </p:nvSpPr>
        <p:spPr>
          <a:xfrm>
            <a:off x="5614416" y="3675888"/>
            <a:ext cx="384048" cy="0"/>
          </a:xfrm>
          <a:prstGeom prst="line">
            <a:avLst/>
          </a:prstGeom>
          <a:noFill/>
          <a:ln w="27940">
            <a:solidFill>
              <a:srgbClr val="C77F1A"/>
            </a:solidFill>
            <a:prstDash val="solid"/>
            <a:tailEnd type="triangle"/>
          </a:ln>
        </p:spPr>
      </p:sp>
      <p:sp>
        <p:nvSpPr>
          <p:cNvPr id="29" name="Shape 22"/>
          <p:cNvSpPr/>
          <p:nvPr/>
        </p:nvSpPr>
        <p:spPr>
          <a:xfrm>
            <a:off x="6126480" y="3282696"/>
            <a:ext cx="5486400" cy="786384"/>
          </a:xfrm>
          <a:prstGeom prst="roundRect">
            <a:avLst>
              <a:gd name="adj" fmla="val 10465"/>
            </a:avLst>
          </a:prstGeom>
          <a:solidFill>
            <a:srgbClr val="E9F3EE"/>
          </a:solidFill>
          <a:ln w="12700">
            <a:solidFill>
              <a:srgbClr val="BCD9C9"/>
            </a:solidFill>
            <a:prstDash val="solid"/>
          </a:ln>
        </p:spPr>
      </p:sp>
      <p:sp>
        <p:nvSpPr>
          <p:cNvPr id="30" name="Shape 23"/>
          <p:cNvSpPr/>
          <p:nvPr/>
        </p:nvSpPr>
        <p:spPr>
          <a:xfrm>
            <a:off x="6291072" y="3483864"/>
            <a:ext cx="365760" cy="365760"/>
          </a:xfrm>
          <a:prstGeom prst="ellipse">
            <a:avLst/>
          </a:prstGeom>
          <a:solidFill>
            <a:srgbClr val="2E7D5B"/>
          </a:solidFill>
          <a:ln/>
        </p:spPr>
      </p:sp>
      <p:pic>
        <p:nvPicPr>
          <p:cNvPr id="31" name="Image 5" descr="/tmp/claude-0/-home-user-doc-template-engine/198c21fb-8b4a-5b3c-a787-7fafcb963965/scratchpad/workshop/icons/checkmini-whit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89827" y="3582619"/>
            <a:ext cx="168250" cy="168250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6793992" y="3282696"/>
            <a:ext cx="4663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Decisão promovida a critério de aceite ou à especificação no mesmo dia</a:t>
            </a:r>
            <a:endParaRPr lang="en-US" sz="1150" dirty="0"/>
          </a:p>
        </p:txBody>
      </p:sp>
      <p:sp>
        <p:nvSpPr>
          <p:cNvPr id="33" name="Shape 25"/>
          <p:cNvSpPr/>
          <p:nvPr/>
        </p:nvSpPr>
        <p:spPr>
          <a:xfrm>
            <a:off x="594360" y="4215384"/>
            <a:ext cx="4892040" cy="786384"/>
          </a:xfrm>
          <a:prstGeom prst="roundRect">
            <a:avLst>
              <a:gd name="adj" fmla="val 10465"/>
            </a:avLst>
          </a:prstGeom>
          <a:solidFill>
            <a:srgbClr val="F9ECE7"/>
          </a:solidFill>
          <a:ln w="12700">
            <a:solidFill>
              <a:srgbClr val="E8C4B5"/>
            </a:solidFill>
            <a:prstDash val="solid"/>
          </a:ln>
        </p:spPr>
      </p:sp>
      <p:sp>
        <p:nvSpPr>
          <p:cNvPr id="34" name="Shape 26"/>
          <p:cNvSpPr/>
          <p:nvPr/>
        </p:nvSpPr>
        <p:spPr>
          <a:xfrm>
            <a:off x="758952" y="4416552"/>
            <a:ext cx="365760" cy="365760"/>
          </a:xfrm>
          <a:prstGeom prst="ellipse">
            <a:avLst/>
          </a:prstGeom>
          <a:solidFill>
            <a:srgbClr val="B2492F"/>
          </a:solidFill>
          <a:ln/>
        </p:spPr>
      </p:sp>
      <p:pic>
        <p:nvPicPr>
          <p:cNvPr id="35" name="Image 6" descr="/tmp/claude-0/-home-user-doc-template-engine/198c21fb-8b4a-5b3c-a787-7fafcb963965/scratchpad/workshop/icons/search-whit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7707" y="4515307"/>
            <a:ext cx="168250" cy="168250"/>
          </a:xfrm>
          <a:prstGeom prst="rect">
            <a:avLst/>
          </a:prstGeom>
        </p:spPr>
      </p:pic>
      <p:sp>
        <p:nvSpPr>
          <p:cNvPr id="36" name="Text 27"/>
          <p:cNvSpPr/>
          <p:nvPr/>
        </p:nvSpPr>
        <p:spPr>
          <a:xfrm>
            <a:off x="1261872" y="4215384"/>
            <a:ext cx="41148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 reaberto para funcionalidade nova</a:t>
            </a:r>
            <a:endParaRPr lang="en-US" sz="1150" dirty="0"/>
          </a:p>
        </p:txBody>
      </p:sp>
      <p:sp>
        <p:nvSpPr>
          <p:cNvPr id="37" name="Shape 28"/>
          <p:cNvSpPr/>
          <p:nvPr/>
        </p:nvSpPr>
        <p:spPr>
          <a:xfrm>
            <a:off x="5614416" y="4608576"/>
            <a:ext cx="384048" cy="0"/>
          </a:xfrm>
          <a:prstGeom prst="line">
            <a:avLst/>
          </a:prstGeom>
          <a:noFill/>
          <a:ln w="27940">
            <a:solidFill>
              <a:srgbClr val="C77F1A"/>
            </a:solidFill>
            <a:prstDash val="solid"/>
            <a:tailEnd type="triangle"/>
          </a:ln>
        </p:spPr>
      </p:sp>
      <p:sp>
        <p:nvSpPr>
          <p:cNvPr id="38" name="Shape 29"/>
          <p:cNvSpPr/>
          <p:nvPr/>
        </p:nvSpPr>
        <p:spPr>
          <a:xfrm>
            <a:off x="6126480" y="4215384"/>
            <a:ext cx="5486400" cy="786384"/>
          </a:xfrm>
          <a:prstGeom prst="roundRect">
            <a:avLst>
              <a:gd name="adj" fmla="val 10465"/>
            </a:avLst>
          </a:prstGeom>
          <a:solidFill>
            <a:srgbClr val="E9F3EE"/>
          </a:solidFill>
          <a:ln w="12700">
            <a:solidFill>
              <a:srgbClr val="BCD9C9"/>
            </a:solidFill>
            <a:prstDash val="solid"/>
          </a:ln>
        </p:spPr>
      </p:sp>
      <p:sp>
        <p:nvSpPr>
          <p:cNvPr id="39" name="Shape 30"/>
          <p:cNvSpPr/>
          <p:nvPr/>
        </p:nvSpPr>
        <p:spPr>
          <a:xfrm>
            <a:off x="6291072" y="4416552"/>
            <a:ext cx="365760" cy="365760"/>
          </a:xfrm>
          <a:prstGeom prst="ellipse">
            <a:avLst/>
          </a:prstGeom>
          <a:solidFill>
            <a:srgbClr val="2E7D5B"/>
          </a:solidFill>
          <a:ln/>
        </p:spPr>
      </p:sp>
      <p:pic>
        <p:nvPicPr>
          <p:cNvPr id="40" name="Image 7" descr="/tmp/claude-0/-home-user-doc-template-engine/198c21fb-8b4a-5b3c-a787-7fafcb963965/scratchpad/workshop/icons/checkmini-whit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89827" y="4515307"/>
            <a:ext cx="168250" cy="168250"/>
          </a:xfrm>
          <a:prstGeom prst="rect">
            <a:avLst/>
          </a:prstGeom>
        </p:spPr>
      </p:pic>
      <p:sp>
        <p:nvSpPr>
          <p:cNvPr id="41" name="Text 31"/>
          <p:cNvSpPr/>
          <p:nvPr/>
        </p:nvSpPr>
        <p:spPr>
          <a:xfrm>
            <a:off x="6793992" y="4215384"/>
            <a:ext cx="4663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Novo card; quem se atualiza é a especificação existente</a:t>
            </a:r>
            <a:endParaRPr lang="en-US" sz="1150" dirty="0"/>
          </a:p>
        </p:txBody>
      </p:sp>
      <p:sp>
        <p:nvSpPr>
          <p:cNvPr id="42" name="Shape 32"/>
          <p:cNvSpPr/>
          <p:nvPr/>
        </p:nvSpPr>
        <p:spPr>
          <a:xfrm>
            <a:off x="594360" y="5148072"/>
            <a:ext cx="4892040" cy="786384"/>
          </a:xfrm>
          <a:prstGeom prst="roundRect">
            <a:avLst>
              <a:gd name="adj" fmla="val 10465"/>
            </a:avLst>
          </a:prstGeom>
          <a:solidFill>
            <a:srgbClr val="F9ECE7"/>
          </a:solidFill>
          <a:ln w="12700">
            <a:solidFill>
              <a:srgbClr val="E8C4B5"/>
            </a:solidFill>
            <a:prstDash val="solid"/>
          </a:ln>
        </p:spPr>
      </p:sp>
      <p:sp>
        <p:nvSpPr>
          <p:cNvPr id="43" name="Shape 33"/>
          <p:cNvSpPr/>
          <p:nvPr/>
        </p:nvSpPr>
        <p:spPr>
          <a:xfrm>
            <a:off x="758952" y="5349240"/>
            <a:ext cx="365760" cy="365760"/>
          </a:xfrm>
          <a:prstGeom prst="ellipse">
            <a:avLst/>
          </a:prstGeom>
          <a:solidFill>
            <a:srgbClr val="B2492F"/>
          </a:solidFill>
          <a:ln/>
        </p:spPr>
      </p:sp>
      <p:pic>
        <p:nvPicPr>
          <p:cNvPr id="44" name="Image 8" descr="/tmp/claude-0/-home-user-doc-template-engine/198c21fb-8b4a-5b3c-a787-7fafcb963965/scratchpad/workshop/icons/search-white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57707" y="5447995"/>
            <a:ext cx="168250" cy="168250"/>
          </a:xfrm>
          <a:prstGeom prst="rect">
            <a:avLst/>
          </a:prstGeom>
        </p:spPr>
      </p:pic>
      <p:sp>
        <p:nvSpPr>
          <p:cNvPr id="45" name="Text 34"/>
          <p:cNvSpPr/>
          <p:nvPr/>
        </p:nvSpPr>
        <p:spPr>
          <a:xfrm>
            <a:off x="1261872" y="5148072"/>
            <a:ext cx="41148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Épico aberto há 8 meses “guardando contexto”</a:t>
            </a:r>
            <a:endParaRPr lang="en-US" sz="1150" dirty="0"/>
          </a:p>
        </p:txBody>
      </p:sp>
      <p:sp>
        <p:nvSpPr>
          <p:cNvPr id="46" name="Shape 35"/>
          <p:cNvSpPr/>
          <p:nvPr/>
        </p:nvSpPr>
        <p:spPr>
          <a:xfrm>
            <a:off x="5614416" y="5541264"/>
            <a:ext cx="384048" cy="0"/>
          </a:xfrm>
          <a:prstGeom prst="line">
            <a:avLst/>
          </a:prstGeom>
          <a:noFill/>
          <a:ln w="27940">
            <a:solidFill>
              <a:srgbClr val="C77F1A"/>
            </a:solidFill>
            <a:prstDash val="solid"/>
            <a:tailEnd type="triangle"/>
          </a:ln>
        </p:spPr>
      </p:sp>
      <p:sp>
        <p:nvSpPr>
          <p:cNvPr id="47" name="Shape 36"/>
          <p:cNvSpPr/>
          <p:nvPr/>
        </p:nvSpPr>
        <p:spPr>
          <a:xfrm>
            <a:off x="6126480" y="5148072"/>
            <a:ext cx="5486400" cy="786384"/>
          </a:xfrm>
          <a:prstGeom prst="roundRect">
            <a:avLst>
              <a:gd name="adj" fmla="val 10465"/>
            </a:avLst>
          </a:prstGeom>
          <a:solidFill>
            <a:srgbClr val="E9F3EE"/>
          </a:solidFill>
          <a:ln w="12700">
            <a:solidFill>
              <a:srgbClr val="BCD9C9"/>
            </a:solidFill>
            <a:prstDash val="solid"/>
          </a:ln>
        </p:spPr>
      </p:sp>
      <p:sp>
        <p:nvSpPr>
          <p:cNvPr id="48" name="Shape 37"/>
          <p:cNvSpPr/>
          <p:nvPr/>
        </p:nvSpPr>
        <p:spPr>
          <a:xfrm>
            <a:off x="6291072" y="5349240"/>
            <a:ext cx="365760" cy="365760"/>
          </a:xfrm>
          <a:prstGeom prst="ellipse">
            <a:avLst/>
          </a:prstGeom>
          <a:solidFill>
            <a:srgbClr val="2E7D5B"/>
          </a:solidFill>
          <a:ln/>
        </p:spPr>
      </p:sp>
      <p:pic>
        <p:nvPicPr>
          <p:cNvPr id="49" name="Image 9" descr="/tmp/claude-0/-home-user-doc-template-engine/198c21fb-8b4a-5b3c-a787-7fafcb963965/scratchpad/workshop/icons/checkmini-white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89827" y="5447995"/>
            <a:ext cx="168250" cy="168250"/>
          </a:xfrm>
          <a:prstGeom prst="rect">
            <a:avLst/>
          </a:prstGeom>
        </p:spPr>
      </p:pic>
      <p:sp>
        <p:nvSpPr>
          <p:cNvPr id="50" name="Text 38"/>
          <p:cNvSpPr/>
          <p:nvPr/>
        </p:nvSpPr>
        <p:spPr>
          <a:xfrm>
            <a:off x="6793992" y="5148072"/>
            <a:ext cx="4663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Épico tem objetivo e fim; contexto permanente mora na documentação</a:t>
            </a:r>
            <a:endParaRPr lang="en-US" sz="1150" dirty="0"/>
          </a:p>
        </p:txBody>
      </p:sp>
      <p:sp>
        <p:nvSpPr>
          <p:cNvPr id="51" name="Text 39"/>
          <p:cNvSpPr/>
          <p:nvPr/>
        </p:nvSpPr>
        <p:spPr>
          <a:xfrm>
            <a:off x="594360" y="6172200"/>
            <a:ext cx="110002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antídoto vira uma cláusula do acordo de trabalho (DoR/DoD) — slide final do Bloco 5.</a:t>
            </a:r>
            <a:endParaRPr lang="en-US" sz="1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37160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3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regra de ouro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1097280" y="2103120"/>
            <a:ext cx="99669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Detalhe demais mata a conversa.</a:t>
            </a:r>
            <a:endParaRPr lang="en-US" sz="3400" dirty="0"/>
          </a:p>
          <a:p>
            <a:pPr algn="ctr" indent="0" marL="0">
              <a:buNone/>
            </a:pPr>
            <a:r>
              <a:rPr lang="en-US" sz="34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Detalhe de menos mata a construção.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554480" y="4480560"/>
            <a:ext cx="9052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 enough no card, just in time na conversa — e o que precisa durar, na especificação.</a:t>
            </a:r>
            <a:endParaRPr lang="en-US" sz="17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0515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640080" y="1280160"/>
            <a:ext cx="3291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7000" dirty="0"/>
          </a:p>
        </p:txBody>
      </p:sp>
      <p:sp>
        <p:nvSpPr>
          <p:cNvPr id="4" name="Text 2"/>
          <p:cNvSpPr/>
          <p:nvPr/>
        </p:nvSpPr>
        <p:spPr>
          <a:xfrm>
            <a:off x="4206240" y="1965960"/>
            <a:ext cx="7315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Mãos à obra —</a:t>
            </a:r>
            <a:endParaRPr lang="en-US" sz="3700" dirty="0"/>
          </a:p>
          <a:p>
            <a:pPr indent="0" marL="0">
              <a:buNone/>
            </a:pPr>
            <a:r>
              <a:rPr lang="en-US" sz="3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caso real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4251960" y="3794760"/>
            <a:ext cx="1364285" cy="402336"/>
          </a:xfrm>
          <a:prstGeom prst="roundRect">
            <a:avLst>
              <a:gd name="adj" fmla="val 50000"/>
            </a:avLst>
          </a:prstGeom>
          <a:solidFill>
            <a:srgbClr val="31497A"/>
          </a:solidFill>
          <a:ln/>
        </p:spPr>
      </p:sp>
      <p:sp>
        <p:nvSpPr>
          <p:cNvPr id="6" name="Text 4"/>
          <p:cNvSpPr/>
          <p:nvPr/>
        </p:nvSpPr>
        <p:spPr>
          <a:xfrm>
            <a:off x="4251960" y="3794760"/>
            <a:ext cx="136428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estudo de caso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762549" y="3794760"/>
            <a:ext cx="2648102" cy="402336"/>
          </a:xfrm>
          <a:prstGeom prst="roundRect">
            <a:avLst>
              <a:gd name="adj" fmla="val 50000"/>
            </a:avLst>
          </a:prstGeom>
          <a:solidFill>
            <a:srgbClr val="31497A"/>
          </a:solidFill>
          <a:ln/>
        </p:spPr>
      </p:sp>
      <p:sp>
        <p:nvSpPr>
          <p:cNvPr id="8" name="Text 6"/>
          <p:cNvSpPr/>
          <p:nvPr/>
        </p:nvSpPr>
        <p:spPr>
          <a:xfrm>
            <a:off x="5762549" y="3794760"/>
            <a:ext cx="264810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dinâmica 1 · conserte a história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8556955" y="3794760"/>
            <a:ext cx="2933395" cy="402336"/>
          </a:xfrm>
          <a:prstGeom prst="roundRect">
            <a:avLst>
              <a:gd name="adj" fmla="val 50000"/>
            </a:avLst>
          </a:prstGeom>
          <a:solidFill>
            <a:srgbClr val="31497A"/>
          </a:solidFill>
          <a:ln/>
        </p:spPr>
      </p:sp>
      <p:sp>
        <p:nvSpPr>
          <p:cNvPr id="10" name="Text 8"/>
          <p:cNvSpPr/>
          <p:nvPr/>
        </p:nvSpPr>
        <p:spPr>
          <a:xfrm>
            <a:off x="8556955" y="3794760"/>
            <a:ext cx="29333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dinâmica 2 · card, spec ou catálogo?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251960" y="4325112"/>
            <a:ext cx="1649578" cy="402336"/>
          </a:xfrm>
          <a:prstGeom prst="roundRect">
            <a:avLst>
              <a:gd name="adj" fmla="val 50000"/>
            </a:avLst>
          </a:prstGeom>
          <a:solidFill>
            <a:srgbClr val="31497A"/>
          </a:solidFill>
          <a:ln/>
        </p:spPr>
      </p:sp>
      <p:sp>
        <p:nvSpPr>
          <p:cNvPr id="12" name="Text 10"/>
          <p:cNvSpPr/>
          <p:nvPr/>
        </p:nvSpPr>
        <p:spPr>
          <a:xfrm>
            <a:off x="4251960" y="4325112"/>
            <a:ext cx="164957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acordo de trabalho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251960" y="4892040"/>
            <a:ext cx="1417320" cy="420624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/>
        </p:spPr>
      </p:sp>
      <p:sp>
        <p:nvSpPr>
          <p:cNvPr id="14" name="Text 12"/>
          <p:cNvSpPr/>
          <p:nvPr/>
        </p:nvSpPr>
        <p:spPr>
          <a:xfrm>
            <a:off x="4251960" y="4892040"/>
            <a:ext cx="1417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35 min</a:t>
            </a:r>
            <a:endParaRPr lang="en-US" sz="13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5 · DOCUMENTO REAL, ANONIMIZADO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12064"/>
            <a:ext cx="11000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Estudo de caso: “Especificação de Histórias de Usuário”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94360" y="6519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 — Workshop CNI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96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94360" y="1298448"/>
            <a:ext cx="11000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 recebido para um módulo de compras (precificação de SC): 6 histórias, 5 telas, tabela de permissões — avaliado em nota técnica.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94360" y="1828800"/>
            <a:ext cx="5394960" cy="3246120"/>
          </a:xfrm>
          <a:prstGeom prst="roundRect">
            <a:avLst>
              <a:gd name="adj" fmla="val 2535"/>
            </a:avLst>
          </a:prstGeom>
          <a:solidFill>
            <a:srgbClr val="E9F3EE"/>
          </a:solidFill>
          <a:ln w="12700">
            <a:solidFill>
              <a:srgbClr val="BCD9C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68680" y="2057400"/>
            <a:ext cx="457200" cy="457200"/>
          </a:xfrm>
          <a:prstGeom prst="ellipse">
            <a:avLst/>
          </a:prstGeom>
          <a:solidFill>
            <a:srgbClr val="2E7D5B"/>
          </a:solidFill>
          <a:ln/>
        </p:spPr>
      </p:sp>
      <p:pic>
        <p:nvPicPr>
          <p:cNvPr id="9" name="Image 0" descr="/tmp/claude-0/-home-user-doc-template-engine/198c21fb-8b4a-5b3c-a787-7fafcb963965/scratchpad/workshop/icons/thumbsup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180844"/>
            <a:ext cx="210312" cy="21031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463040" y="205740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parecia bom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2697480"/>
            <a:ext cx="4846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06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no formato ator + ação + benefício</a:t>
            </a:r>
            <a:endParaRPr lang="en-US" sz="1200" dirty="0"/>
          </a:p>
          <a:p>
            <a:pPr marL="152400" indent="-152400">
              <a:lnSpc>
                <a:spcPct val="106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Matriz de perfis e permissões precisa</a:t>
            </a:r>
            <a:endParaRPr lang="en-US" sz="1200" dirty="0"/>
          </a:p>
          <a:p>
            <a:pPr marL="152400" indent="-152400">
              <a:lnSpc>
                <a:spcPct val="106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Listas de valores com códigos (entidades, tipos de SC)</a:t>
            </a:r>
            <a:endParaRPr lang="en-US" sz="1200" dirty="0"/>
          </a:p>
          <a:p>
            <a:pPr marL="152400" indent="-152400">
              <a:lnSpc>
                <a:spcPct val="106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Rastreabilidade externa: cards e sprint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17920" y="1828800"/>
            <a:ext cx="5394960" cy="3246120"/>
          </a:xfrm>
          <a:prstGeom prst="roundRect">
            <a:avLst>
              <a:gd name="adj" fmla="val 2535"/>
            </a:avLst>
          </a:prstGeom>
          <a:solidFill>
            <a:srgbClr val="F9ECE7"/>
          </a:solidFill>
          <a:ln w="12700">
            <a:solidFill>
              <a:srgbClr val="E8C4B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492240" y="2057400"/>
            <a:ext cx="457200" cy="457200"/>
          </a:xfrm>
          <a:prstGeom prst="ellipse">
            <a:avLst/>
          </a:prstGeom>
          <a:solidFill>
            <a:srgbClr val="B2492F"/>
          </a:solidFill>
          <a:ln/>
        </p:spPr>
      </p:sp>
      <p:pic>
        <p:nvPicPr>
          <p:cNvPr id="14" name="Image 1" descr="/tmp/claude-0/-home-user-doc-template-engine/198c21fb-8b4a-5b3c-a787-7fafcb963965/scratchpad/workshop/icons/alert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5684" y="2180844"/>
            <a:ext cx="210312" cy="210312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086600" y="205740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24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faltava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6537960" y="2697480"/>
            <a:ext cx="4846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Nenhum critério verificável — zero cenários, nenhum caso negativo</a:t>
            </a:r>
            <a:endParaRPr lang="en-US" sz="1100" dirty="0"/>
          </a:p>
          <a:p>
            <a:pPr marL="152400" indent="-1524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 central não especificada: “o sistema avalia automaticamente…”</a:t>
            </a:r>
            <a:endParaRPr lang="en-US" sz="1100" dirty="0"/>
          </a:p>
          <a:p>
            <a:pPr marL="152400" indent="-1524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IDs inconsistentes: HIST_001 duplicado, HIST_005 fantasma</a:t>
            </a:r>
            <a:endParaRPr lang="en-US" sz="1100" dirty="0"/>
          </a:p>
          <a:p>
            <a:pPr marL="152400" indent="-1524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Campos sem tipo, obrigatoriedade ou validação</a:t>
            </a:r>
            <a:endParaRPr lang="en-US" sz="1100" dirty="0"/>
          </a:p>
          <a:p>
            <a:pPr marL="152400" indent="-1524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Seis estados implícitos, nenhum formalizado</a:t>
            </a:r>
            <a:endParaRPr lang="en-US" sz="1100" dirty="0"/>
          </a:p>
          <a:p>
            <a:pPr marL="152400" indent="-1524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“Informações Técnicas: não se aplica”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594360" y="5349240"/>
            <a:ext cx="11000232" cy="822960"/>
          </a:xfrm>
          <a:prstGeom prst="roundRect">
            <a:avLst>
              <a:gd name="adj" fmla="val 8889"/>
            </a:avLst>
          </a:prstGeom>
          <a:solidFill>
            <a:srgbClr val="1B2A4A"/>
          </a:solidFill>
          <a:ln/>
        </p:spPr>
      </p:sp>
      <p:sp>
        <p:nvSpPr>
          <p:cNvPr id="18" name="Text 14"/>
          <p:cNvSpPr/>
          <p:nvPr/>
        </p:nvSpPr>
        <p:spPr>
          <a:xfrm>
            <a:off x="868680" y="534924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Nem história (não convida à conversa), nem especificação (não sustenta teste): um híbrido que não cumpre nenhum dos dois papéis.</a:t>
            </a:r>
            <a:endParaRPr lang="en-US" sz="14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5 · DINÂMICA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12064"/>
            <a:ext cx="11000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Conserte a história  ·  15 min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6519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 — Workshop CNI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96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94360" y="1463040"/>
            <a:ext cx="512064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7E2EF"/>
            </a:solidFill>
            <a:prstDash val="solid"/>
          </a:ln>
          <a:effectLst>
            <a:outerShdw sx="100000" sy="100000" kx="0" ky="0" algn="bl" rotWithShape="0" blurRad="88900" dist="25400" dir="5400000">
              <a:srgbClr val="16223B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41248" y="1691640"/>
            <a:ext cx="420624" cy="420624"/>
          </a:xfrm>
          <a:prstGeom prst="ellipse">
            <a:avLst/>
          </a:prstGeom>
          <a:solidFill>
            <a:srgbClr val="B2492F"/>
          </a:solidFill>
          <a:ln/>
        </p:spPr>
      </p:sp>
      <p:pic>
        <p:nvPicPr>
          <p:cNvPr id="8" name="Image 0" descr="/tmp/claude-0/-home-user-doc-template-engine/198c21fb-8b4a-5b3c-a787-7fafcb963965/scratchpad/workshop/icons/file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4816" y="1805208"/>
            <a:ext cx="193487" cy="193487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417320" y="1691640"/>
            <a:ext cx="4023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24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recebido: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914400" y="2240280"/>
            <a:ext cx="4480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i="1" dirty="0">
                <a:solidFill>
                  <a:srgbClr val="253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“Desenvolver a tela de revisão da precificação conforme o documento anexo. A tela deve funcionar corretamente e atender o gerente.”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94360" y="3794760"/>
            <a:ext cx="1394460" cy="384048"/>
          </a:xfrm>
          <a:prstGeom prst="roundRect">
            <a:avLst>
              <a:gd name="adj" fmla="val 47619"/>
            </a:avLst>
          </a:prstGeom>
          <a:solidFill>
            <a:srgbClr val="EEF3FA"/>
          </a:solidFill>
          <a:ln/>
        </p:spPr>
      </p:sp>
      <p:sp>
        <p:nvSpPr>
          <p:cNvPr id="12" name="Text 9"/>
          <p:cNvSpPr/>
          <p:nvPr/>
        </p:nvSpPr>
        <p:spPr>
          <a:xfrm>
            <a:off x="594360" y="3794760"/>
            <a:ext cx="13944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grupos de 3–4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2153412" y="3794760"/>
            <a:ext cx="1316736" cy="384048"/>
          </a:xfrm>
          <a:prstGeom prst="roundRect">
            <a:avLst>
              <a:gd name="adj" fmla="val 47619"/>
            </a:avLst>
          </a:prstGeom>
          <a:solidFill>
            <a:srgbClr val="EEF3FA"/>
          </a:solidFill>
          <a:ln/>
        </p:spPr>
      </p:sp>
      <p:sp>
        <p:nvSpPr>
          <p:cNvPr id="14" name="Text 11"/>
          <p:cNvSpPr/>
          <p:nvPr/>
        </p:nvSpPr>
        <p:spPr>
          <a:xfrm>
            <a:off x="2153412" y="3794760"/>
            <a:ext cx="1316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10’ produção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3634740" y="3794760"/>
            <a:ext cx="1161288" cy="384048"/>
          </a:xfrm>
          <a:prstGeom prst="roundRect">
            <a:avLst>
              <a:gd name="adj" fmla="val 47619"/>
            </a:avLst>
          </a:prstGeom>
          <a:solidFill>
            <a:srgbClr val="EEF3FA"/>
          </a:solidFill>
          <a:ln/>
        </p:spPr>
      </p:sp>
      <p:sp>
        <p:nvSpPr>
          <p:cNvPr id="16" name="Text 13"/>
          <p:cNvSpPr/>
          <p:nvPr/>
        </p:nvSpPr>
        <p:spPr>
          <a:xfrm>
            <a:off x="3634740" y="3794760"/>
            <a:ext cx="1161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5’ leitura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94360" y="4434840"/>
            <a:ext cx="5120640" cy="1691640"/>
          </a:xfrm>
          <a:prstGeom prst="roundRect">
            <a:avLst>
              <a:gd name="adj" fmla="val 4865"/>
            </a:avLst>
          </a:prstGeom>
          <a:solidFill>
            <a:srgbClr val="FBF0DC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68680" y="4572000"/>
            <a:ext cx="45720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Dica de facilitação: </a:t>
            </a:r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grupo lê só a reescrita (item 1) e UM critério. Compare as versões: os “Como/Para” divergem? Ótimo — é a conversa que faltou.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6172200" y="1463040"/>
            <a:ext cx="475488" cy="47548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20" name="Text 17"/>
          <p:cNvSpPr/>
          <p:nvPr/>
        </p:nvSpPr>
        <p:spPr>
          <a:xfrm>
            <a:off x="6172200" y="14630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6812280" y="141732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Reescreva no formato Como / Quero / Para.</a:t>
            </a:r>
            <a:endParaRPr lang="en-US" sz="1350" dirty="0"/>
          </a:p>
        </p:txBody>
      </p:sp>
      <p:sp>
        <p:nvSpPr>
          <p:cNvPr id="22" name="Shape 19"/>
          <p:cNvSpPr/>
          <p:nvPr/>
        </p:nvSpPr>
        <p:spPr>
          <a:xfrm>
            <a:off x="6172200" y="2651760"/>
            <a:ext cx="475488" cy="47548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23" name="Text 20"/>
          <p:cNvSpPr/>
          <p:nvPr/>
        </p:nvSpPr>
        <p:spPr>
          <a:xfrm>
            <a:off x="6172200" y="26517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6812280" y="260604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Escreva 3 critérios de aceite testáveis — pelo menos 1 negativo.</a:t>
            </a:r>
            <a:endParaRPr lang="en-US" sz="1350" dirty="0"/>
          </a:p>
        </p:txBody>
      </p:sp>
      <p:sp>
        <p:nvSpPr>
          <p:cNvPr id="25" name="Shape 22"/>
          <p:cNvSpPr/>
          <p:nvPr/>
        </p:nvSpPr>
        <p:spPr>
          <a:xfrm>
            <a:off x="6172200" y="3840480"/>
            <a:ext cx="475488" cy="47548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26" name="Text 23"/>
          <p:cNvSpPr/>
          <p:nvPr/>
        </p:nvSpPr>
        <p:spPr>
          <a:xfrm>
            <a:off x="6172200" y="38404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7" name="Text 24"/>
          <p:cNvSpPr/>
          <p:nvPr/>
        </p:nvSpPr>
        <p:spPr>
          <a:xfrm>
            <a:off x="6812280" y="379476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Aplique INVEST: quais letras a versão original violava?</a:t>
            </a:r>
            <a:endParaRPr lang="en-US" sz="1350" dirty="0"/>
          </a:p>
        </p:txBody>
      </p:sp>
      <p:sp>
        <p:nvSpPr>
          <p:cNvPr id="28" name="Shape 25"/>
          <p:cNvSpPr/>
          <p:nvPr/>
        </p:nvSpPr>
        <p:spPr>
          <a:xfrm>
            <a:off x="6172200" y="5029200"/>
            <a:ext cx="475488" cy="47548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29" name="Text 26"/>
          <p:cNvSpPr/>
          <p:nvPr/>
        </p:nvSpPr>
        <p:spPr>
          <a:xfrm>
            <a:off x="6172200" y="50292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30" name="Text 27"/>
          <p:cNvSpPr/>
          <p:nvPr/>
        </p:nvSpPr>
        <p:spPr>
          <a:xfrm>
            <a:off x="6812280" y="498348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Aponte o que dessa demanda NÃO vai no card — e para onde vai.</a:t>
            </a:r>
            <a:endParaRPr lang="en-US" sz="13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5 · DINÂMICA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12064"/>
            <a:ext cx="11000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Card, especificação ou catálogo?  ·  15 min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6519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 — Workshop CNI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96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94360" y="129844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cada item, decidam em grupo: onde ele vive?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94360" y="1783080"/>
            <a:ext cx="694944" cy="384048"/>
          </a:xfrm>
          <a:prstGeom prst="roundRect">
            <a:avLst>
              <a:gd name="adj" fmla="val 47619"/>
            </a:avLst>
          </a:prstGeom>
          <a:solidFill>
            <a:srgbClr val="1B2A4A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783080"/>
            <a:ext cx="6949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1453896" y="1783080"/>
            <a:ext cx="1394460" cy="384048"/>
          </a:xfrm>
          <a:prstGeom prst="roundRect">
            <a:avLst>
              <a:gd name="adj" fmla="val 47619"/>
            </a:avLst>
          </a:prstGeom>
          <a:solidFill>
            <a:srgbClr val="2E7D5B"/>
          </a:solidFill>
          <a:ln/>
        </p:spPr>
      </p:sp>
      <p:sp>
        <p:nvSpPr>
          <p:cNvPr id="10" name="Text 8"/>
          <p:cNvSpPr/>
          <p:nvPr/>
        </p:nvSpPr>
        <p:spPr>
          <a:xfrm>
            <a:off x="1453896" y="1783080"/>
            <a:ext cx="13944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ESPECIFICAÇÃO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012948" y="1783080"/>
            <a:ext cx="1316736" cy="384048"/>
          </a:xfrm>
          <a:prstGeom prst="roundRect">
            <a:avLst>
              <a:gd name="adj" fmla="val 47619"/>
            </a:avLst>
          </a:prstGeom>
          <a:solidFill>
            <a:srgbClr val="E8A33D"/>
          </a:solidFill>
          <a:ln/>
        </p:spPr>
      </p:sp>
      <p:sp>
        <p:nvSpPr>
          <p:cNvPr id="12" name="Text 10"/>
          <p:cNvSpPr/>
          <p:nvPr/>
        </p:nvSpPr>
        <p:spPr>
          <a:xfrm>
            <a:off x="3012948" y="1783080"/>
            <a:ext cx="1316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CATÁLOGO NFR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494276" y="1783080"/>
            <a:ext cx="1316736" cy="384048"/>
          </a:xfrm>
          <a:prstGeom prst="roundRect">
            <a:avLst>
              <a:gd name="adj" fmla="val 47619"/>
            </a:avLst>
          </a:prstGeom>
          <a:solidFill>
            <a:srgbClr val="B2492F"/>
          </a:solidFill>
          <a:ln/>
        </p:spPr>
      </p:sp>
      <p:sp>
        <p:nvSpPr>
          <p:cNvPr id="14" name="Text 12"/>
          <p:cNvSpPr/>
          <p:nvPr/>
        </p:nvSpPr>
        <p:spPr>
          <a:xfrm>
            <a:off x="4494276" y="1783080"/>
            <a:ext cx="1316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LUGAR NENHUM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48640" y="2468880"/>
            <a:ext cx="2679192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7E2EF"/>
            </a:solidFill>
            <a:prstDash val="solid"/>
          </a:ln>
          <a:effectLst>
            <a:outerShdw sx="100000" sy="100000" kx="0" ky="0" algn="bl" rotWithShape="0" blurRad="88900" dist="25400" dir="5400000">
              <a:srgbClr val="16223B">
                <a:alpha val="2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76656" y="2578608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713232" y="2880360"/>
            <a:ext cx="23591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“Como Gerente, quero devolver a precificação com justificativa, para o comprador ajustar.”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364992" y="2468880"/>
            <a:ext cx="2679192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7E2EF"/>
            </a:solidFill>
            <a:prstDash val="solid"/>
          </a:ln>
          <a:effectLst>
            <a:outerShdw sx="100000" sy="100000" kx="0" ky="0" algn="bl" rotWithShape="0" blurRad="88900" dist="25400" dir="5400000">
              <a:srgbClr val="16223B">
                <a:alpha val="2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3493008" y="2578608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529584" y="2880360"/>
            <a:ext cx="23591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“O campo Vigência aceita no máximo 50 caracteres.”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181344" y="2468880"/>
            <a:ext cx="2679192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7E2EF"/>
            </a:solidFill>
            <a:prstDash val="solid"/>
          </a:ln>
          <a:effectLst>
            <a:outerShdw sx="100000" sy="100000" kx="0" ky="0" algn="bl" rotWithShape="0" blurRad="88900" dist="25400" dir="5400000">
              <a:srgbClr val="16223B">
                <a:alpha val="2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309360" y="2578608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345936" y="2880360"/>
            <a:ext cx="23591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 consulta de SCs responde em até 3 segundos.”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8997696" y="2468880"/>
            <a:ext cx="2679192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7E2EF"/>
            </a:solidFill>
            <a:prstDash val="solid"/>
          </a:ln>
          <a:effectLst>
            <a:outerShdw sx="100000" sy="100000" kx="0" ky="0" algn="bl" rotWithShape="0" blurRad="88900" dist="25400" dir="5400000">
              <a:srgbClr val="16223B">
                <a:alpha val="2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9125712" y="2578608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9162288" y="2880360"/>
            <a:ext cx="23591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“Usar PostgreSQL e fila de mensagens na integração.”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48640" y="4160520"/>
            <a:ext cx="2679192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7E2EF"/>
            </a:solidFill>
            <a:prstDash val="solid"/>
          </a:ln>
          <a:effectLst>
            <a:outerShdw sx="100000" sy="100000" kx="0" ky="0" algn="bl" rotWithShape="0" blurRad="88900" dist="25400" dir="5400000">
              <a:srgbClr val="16223B">
                <a:alpha val="2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76656" y="4270248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713232" y="4572000"/>
            <a:ext cx="23591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“Total do item = quantidade × valor unitário.”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364992" y="4160520"/>
            <a:ext cx="2679192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7E2EF"/>
            </a:solidFill>
            <a:prstDash val="solid"/>
          </a:ln>
          <a:effectLst>
            <a:outerShdw sx="100000" sy="100000" kx="0" ky="0" algn="bl" rotWithShape="0" blurRad="88900" dist="25400" dir="5400000">
              <a:srgbClr val="16223B">
                <a:alpha val="2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3493008" y="4270248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3529584" y="4572000"/>
            <a:ext cx="23591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 tela deve ser intuitiva.”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6181344" y="4160520"/>
            <a:ext cx="2679192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7E2EF"/>
            </a:solidFill>
            <a:prstDash val="solid"/>
          </a:ln>
          <a:effectLst>
            <a:outerShdw sx="100000" sy="100000" kx="0" ky="0" algn="bl" rotWithShape="0" blurRad="88900" dist="25400" dir="5400000">
              <a:srgbClr val="16223B">
                <a:alpha val="20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6309360" y="4270248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6345936" y="4572000"/>
            <a:ext cx="23591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“Somente o Gerente de Suprimentos envia para aprovação.”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8997696" y="4160520"/>
            <a:ext cx="2679192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7E2EF"/>
            </a:solidFill>
            <a:prstDash val="solid"/>
          </a:ln>
          <a:effectLst>
            <a:outerShdw sx="100000" sy="100000" kx="0" ky="0" algn="bl" rotWithShape="0" blurRad="88900" dist="25400" dir="5400000">
              <a:srgbClr val="16223B">
                <a:alpha val="20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9125712" y="4270248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9162288" y="4572000"/>
            <a:ext cx="23591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“Mensagem: ‘Não é possível encaminhar: existem itens sem valor unitário.’”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594360" y="6035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Gabarito comentado nas notas do apresentador.</a:t>
            </a:r>
            <a:endParaRPr lang="en-US" sz="11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5 · O PRODUTO DO WORKSHOP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12064"/>
            <a:ext cx="11000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Proposta de acordo — pronto para entrar, pronto para sair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94360" y="6519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 — Workshop CNI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96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94360" y="1463040"/>
            <a:ext cx="5394960" cy="4572000"/>
          </a:xfrm>
          <a:prstGeom prst="roundRect">
            <a:avLst>
              <a:gd name="adj" fmla="val 1800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68680" y="1737360"/>
            <a:ext cx="502920" cy="502920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8" name="Image 0" descr="/tmp/claude-0/-home-user-doc-template-engine/198c21fb-8b4a-5b3c-a787-7fafcb963965/scratchpad/workshop/icons/play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4468" y="1873148"/>
            <a:ext cx="231343" cy="231343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554480" y="173736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 of Ready — a história entra na sprint se…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941832" y="2514600"/>
            <a:ext cx="4709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03200" indent="-203200">
              <a:lnSpc>
                <a:spcPct val="108000"/>
              </a:lnSpc>
              <a:spcAft>
                <a:spcPts val="1000"/>
              </a:spcAft>
              <a:buSzPct val="100000"/>
              <a:buChar char="✓"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Está no formato ator + ação + benefício, com papel específico</a:t>
            </a:r>
            <a:endParaRPr lang="en-US" sz="1200" dirty="0"/>
          </a:p>
          <a:p>
            <a:pPr marL="203200" indent="-203200">
              <a:lnSpc>
                <a:spcPct val="108000"/>
              </a:lnSpc>
              <a:spcAft>
                <a:spcPts val="1000"/>
              </a:spcAft>
              <a:buSzPct val="100000"/>
              <a:buChar char="✓"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Passa no INVEST — em especial Small e Testable</a:t>
            </a:r>
            <a:endParaRPr lang="en-US" sz="1200" dirty="0"/>
          </a:p>
          <a:p>
            <a:pPr marL="203200" indent="-203200">
              <a:lnSpc>
                <a:spcPct val="108000"/>
              </a:lnSpc>
              <a:spcAft>
                <a:spcPts val="1000"/>
              </a:spcAft>
              <a:buSzPct val="100000"/>
              <a:buChar char="✓"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 critérios de aceite testáveis, incluindo ao menos 1 caso negativo</a:t>
            </a:r>
            <a:endParaRPr lang="en-US" sz="1200" dirty="0"/>
          </a:p>
          <a:p>
            <a:pPr marL="203200" indent="-203200">
              <a:lnSpc>
                <a:spcPct val="108000"/>
              </a:lnSpc>
              <a:spcAft>
                <a:spcPts val="1000"/>
              </a:spcAft>
              <a:buSzPct val="100000"/>
              <a:buChar char="✓"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Detalhe de campo, regra ou estado? Especificação vinculada ao card</a:t>
            </a:r>
            <a:endParaRPr lang="en-US" sz="1200" dirty="0"/>
          </a:p>
          <a:p>
            <a:pPr marL="203200" indent="-203200">
              <a:lnSpc>
                <a:spcPct val="108000"/>
              </a:lnSpc>
              <a:spcAft>
                <a:spcPts val="1000"/>
              </a:spcAft>
              <a:buSzPct val="100000"/>
              <a:buChar char="✓"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Dependências e perfil de acesso identificados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17920" y="1463040"/>
            <a:ext cx="5394960" cy="4572000"/>
          </a:xfrm>
          <a:prstGeom prst="roundRect">
            <a:avLst>
              <a:gd name="adj" fmla="val 1800"/>
            </a:avLst>
          </a:prstGeom>
          <a:solidFill>
            <a:srgbClr val="E9F3EE"/>
          </a:solidFill>
          <a:ln w="12700">
            <a:solidFill>
              <a:srgbClr val="BCD9C9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492240" y="1737360"/>
            <a:ext cx="502920" cy="502920"/>
          </a:xfrm>
          <a:prstGeom prst="ellipse">
            <a:avLst/>
          </a:prstGeom>
          <a:solidFill>
            <a:srgbClr val="2E7D5B"/>
          </a:solidFill>
          <a:ln/>
        </p:spPr>
      </p:sp>
      <p:pic>
        <p:nvPicPr>
          <p:cNvPr id="13" name="Image 1" descr="/tmp/claude-0/-home-user-doc-template-engine/198c21fb-8b4a-5b3c-a787-7fafcb963965/scratchpad/workshop/icons/award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8028" y="1873148"/>
            <a:ext cx="231343" cy="231343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178040" y="173736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 of Done — a entrega só fecha se…</a:t>
            </a:r>
            <a:endParaRPr lang="en-US" sz="1450" dirty="0"/>
          </a:p>
        </p:txBody>
      </p:sp>
      <p:sp>
        <p:nvSpPr>
          <p:cNvPr id="15" name="Text 11"/>
          <p:cNvSpPr/>
          <p:nvPr/>
        </p:nvSpPr>
        <p:spPr>
          <a:xfrm>
            <a:off x="6565392" y="2514600"/>
            <a:ext cx="4709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03200" indent="-203200">
              <a:lnSpc>
                <a:spcPct val="108000"/>
              </a:lnSpc>
              <a:spcAft>
                <a:spcPts val="1000"/>
              </a:spcAft>
              <a:buSzPct val="100000"/>
              <a:buChar char="✓"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de aceite passando, com evidência de teste</a:t>
            </a:r>
            <a:endParaRPr lang="en-US" sz="1200" dirty="0"/>
          </a:p>
          <a:p>
            <a:pPr marL="203200" indent="-203200">
              <a:lnSpc>
                <a:spcPct val="108000"/>
              </a:lnSpc>
              <a:spcAft>
                <a:spcPts val="1000"/>
              </a:spcAft>
              <a:buSzPct val="100000"/>
              <a:buChar char="✓"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Especificação atualizada com o que mudou na entrega</a:t>
            </a:r>
            <a:endParaRPr lang="en-US" sz="1200" dirty="0"/>
          </a:p>
          <a:p>
            <a:pPr marL="203200" indent="-203200">
              <a:lnSpc>
                <a:spcPct val="108000"/>
              </a:lnSpc>
              <a:spcAft>
                <a:spcPts val="1000"/>
              </a:spcAft>
              <a:buSzPct val="100000"/>
              <a:buChar char="✓"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Documentação de operação atualizada (quando aplicável)</a:t>
            </a:r>
            <a:endParaRPr lang="en-US" sz="1200" dirty="0"/>
          </a:p>
          <a:p>
            <a:pPr marL="203200" indent="-203200">
              <a:lnSpc>
                <a:spcPct val="108000"/>
              </a:lnSpc>
              <a:spcAft>
                <a:spcPts val="1000"/>
              </a:spcAft>
              <a:buSzPct val="100000"/>
              <a:buChar char="✓"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 fechado com link para a versão da especificação entregue</a:t>
            </a:r>
            <a:endParaRPr lang="en-US" sz="1200" dirty="0"/>
          </a:p>
          <a:p>
            <a:pPr marL="203200" indent="-203200">
              <a:lnSpc>
                <a:spcPct val="108000"/>
              </a:lnSpc>
              <a:spcAft>
                <a:spcPts val="1000"/>
              </a:spcAft>
              <a:buSzPct val="100000"/>
              <a:buChar char="✓"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Mensagens e erros conforme catálogo — nada improvisado</a:t>
            </a:r>
            <a:endParaRPr lang="en-US" sz="12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FECHAMENTO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12064"/>
            <a:ext cx="11000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artefato no seu lugar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6519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 — Workshop CNI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96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94360" y="1463040"/>
            <a:ext cx="3538728" cy="3749040"/>
          </a:xfrm>
          <a:prstGeom prst="roundRect">
            <a:avLst>
              <a:gd name="adj" fmla="val 2326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057400" y="1737360"/>
            <a:ext cx="621792" cy="621792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8" name="Image 0" descr="/tmp/claude-0/-home-user-doc-template-engine/198c21fb-8b4a-5b3c-a787-7fafcb963965/scratchpad/workshop/icons/trello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25284" y="1905244"/>
            <a:ext cx="286024" cy="28602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85800" y="2514600"/>
            <a:ext cx="3355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685800" y="2926080"/>
            <a:ext cx="33558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Planeja e prioriza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868680" y="3383280"/>
            <a:ext cx="29900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Lembrete de conversa com critérios de aceite. Vive no Jira e morre na entrega.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1463040" y="4709160"/>
            <a:ext cx="1801368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463040" y="4709160"/>
            <a:ext cx="18013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Jira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4325112" y="1463040"/>
            <a:ext cx="3538728" cy="3749040"/>
          </a:xfrm>
          <a:prstGeom prst="roundRect">
            <a:avLst>
              <a:gd name="adj" fmla="val 2326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788152" y="1737360"/>
            <a:ext cx="621792" cy="621792"/>
          </a:xfrm>
          <a:prstGeom prst="ellipse">
            <a:avLst/>
          </a:prstGeom>
          <a:solidFill>
            <a:srgbClr val="2E7D5B"/>
          </a:solidFill>
          <a:ln/>
        </p:spPr>
      </p:sp>
      <p:pic>
        <p:nvPicPr>
          <p:cNvPr id="16" name="Image 1" descr="/tmp/claude-0/-home-user-doc-template-engine/198c21fb-8b4a-5b3c-a787-7fafcb963965/scratchpad/workshop/icons/file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6036" y="1905244"/>
            <a:ext cx="286024" cy="286024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4416552" y="2514600"/>
            <a:ext cx="3355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ESPECIFICAÇÃO</a:t>
            </a:r>
            <a:endParaRPr lang="en-US" sz="1600" dirty="0"/>
          </a:p>
        </p:txBody>
      </p:sp>
      <p:sp>
        <p:nvSpPr>
          <p:cNvPr id="18" name="Text 14"/>
          <p:cNvSpPr/>
          <p:nvPr/>
        </p:nvSpPr>
        <p:spPr>
          <a:xfrm>
            <a:off x="4416552" y="2926080"/>
            <a:ext cx="33558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e verifica</a:t>
            </a:r>
            <a:endParaRPr lang="en-US" sz="1300" dirty="0"/>
          </a:p>
        </p:txBody>
      </p:sp>
      <p:sp>
        <p:nvSpPr>
          <p:cNvPr id="19" name="Text 15"/>
          <p:cNvSpPr/>
          <p:nvPr/>
        </p:nvSpPr>
        <p:spPr>
          <a:xfrm>
            <a:off x="4599432" y="3383280"/>
            <a:ext cx="29900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Campos, regras, cenários, estados, permissões, mensagens. Vive com a funcionalidade.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5193792" y="4709160"/>
            <a:ext cx="1801368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5193792" y="4709160"/>
            <a:ext cx="18013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versionada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8055864" y="1463040"/>
            <a:ext cx="3538728" cy="3749040"/>
          </a:xfrm>
          <a:prstGeom prst="roundRect">
            <a:avLst>
              <a:gd name="adj" fmla="val 2326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9518904" y="1737360"/>
            <a:ext cx="621792" cy="621792"/>
          </a:xfrm>
          <a:prstGeom prst="ellipse">
            <a:avLst/>
          </a:prstGeom>
          <a:solidFill>
            <a:srgbClr val="C77F1A"/>
          </a:solidFill>
          <a:ln/>
        </p:spPr>
      </p:sp>
      <p:pic>
        <p:nvPicPr>
          <p:cNvPr id="24" name="Image 2" descr="/tmp/claude-0/-home-user-doc-template-engine/198c21fb-8b4a-5b3c-a787-7fafcb963965/scratchpad/workshop/icons/book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86788" y="1905244"/>
            <a:ext cx="286024" cy="286024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8147304" y="2514600"/>
            <a:ext cx="3355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DOCUMENTAÇÃO</a:t>
            </a:r>
            <a:endParaRPr lang="en-US" sz="1600" dirty="0"/>
          </a:p>
        </p:txBody>
      </p:sp>
      <p:sp>
        <p:nvSpPr>
          <p:cNvPr id="26" name="Text 21"/>
          <p:cNvSpPr/>
          <p:nvPr/>
        </p:nvSpPr>
        <p:spPr>
          <a:xfrm>
            <a:off x="8147304" y="2926080"/>
            <a:ext cx="33558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 e mantém</a:t>
            </a:r>
            <a:endParaRPr lang="en-US" sz="1300" dirty="0"/>
          </a:p>
        </p:txBody>
      </p:sp>
      <p:sp>
        <p:nvSpPr>
          <p:cNvPr id="27" name="Text 22"/>
          <p:cNvSpPr/>
          <p:nvPr/>
        </p:nvSpPr>
        <p:spPr>
          <a:xfrm>
            <a:off x="8330184" y="3383280"/>
            <a:ext cx="29900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Visão do sistema como um todo, para sustentação, integração e auditoria. Vive com o produto.</a:t>
            </a:r>
            <a:endParaRPr lang="en-US" sz="1150" dirty="0"/>
          </a:p>
        </p:txBody>
      </p:sp>
      <p:sp>
        <p:nvSpPr>
          <p:cNvPr id="28" name="Shape 23"/>
          <p:cNvSpPr/>
          <p:nvPr/>
        </p:nvSpPr>
        <p:spPr>
          <a:xfrm>
            <a:off x="8924544" y="4709160"/>
            <a:ext cx="1801368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29" name="Text 24"/>
          <p:cNvSpPr/>
          <p:nvPr/>
        </p:nvSpPr>
        <p:spPr>
          <a:xfrm>
            <a:off x="8924544" y="4709160"/>
            <a:ext cx="18013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portal do produto</a:t>
            </a:r>
            <a:endParaRPr lang="en-US" sz="1000" dirty="0"/>
          </a:p>
        </p:txBody>
      </p:sp>
      <p:sp>
        <p:nvSpPr>
          <p:cNvPr id="30" name="Shape 25"/>
          <p:cNvSpPr/>
          <p:nvPr/>
        </p:nvSpPr>
        <p:spPr>
          <a:xfrm>
            <a:off x="2103120" y="5623560"/>
            <a:ext cx="7955280" cy="658368"/>
          </a:xfrm>
          <a:prstGeom prst="roundRect">
            <a:avLst>
              <a:gd name="adj" fmla="val 11111"/>
            </a:avLst>
          </a:prstGeom>
          <a:solidFill>
            <a:srgbClr val="1B2A4A"/>
          </a:solidFill>
          <a:ln/>
        </p:spPr>
      </p:sp>
      <p:sp>
        <p:nvSpPr>
          <p:cNvPr id="31" name="Text 26"/>
          <p:cNvSpPr/>
          <p:nvPr/>
        </p:nvSpPr>
        <p:spPr>
          <a:xfrm>
            <a:off x="2103120" y="5623560"/>
            <a:ext cx="7955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três são necessários. Nenhum substitui o outro.</a:t>
            </a:r>
            <a:endParaRPr lang="en-US" sz="1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IR ALÉM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12064"/>
            <a:ext cx="11000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Referências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6519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 — Workshop CNI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96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94360" y="1463040"/>
            <a:ext cx="5349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Beck, K. 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Extreme Programming Explained: Embrace Change. Addison-Wesley, 1999 (2ª ed. 2004). A origem das histórias no XP.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" y="2231136"/>
            <a:ext cx="5349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Beck, K.; Fowler, M. 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 Extreme Programming. Addison-Wesley, 2000. O Jogo do Planejamento.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94360" y="2999232"/>
            <a:ext cx="5349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Jeffries, R. 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“Essential XP: Card, Conversation, Confirmation”. Artigo, 2001. Os 3 C’s.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94360" y="3767328"/>
            <a:ext cx="5349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Connextra (Davies, R. et al.) 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 “As a…, I want…, so that…”. Londres, 2001.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94360" y="4535424"/>
            <a:ext cx="5349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Wake, B. 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“INVEST in Good Stories, and SMART Tasks”. Artigo, 2003.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94360" y="5303520"/>
            <a:ext cx="5349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Cohn, M. 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Stories Applied: For Agile Software Development. Addison-Wesley, 2004.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263640" y="1463040"/>
            <a:ext cx="5349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North, D. 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“Introducing BDD”. Better Software, 2006. Dado–Quando–Então.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263640" y="2231136"/>
            <a:ext cx="5349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Adzic, G. 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Specification by Example. Manning, 2011. Critérios que viram testes.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263640" y="2999232"/>
            <a:ext cx="5349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Patton, J. 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Story Mapping. O’Reilly, 2014. Do backlog achatado ao mapa.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263640" y="3767328"/>
            <a:ext cx="5349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Sommerville, I. 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Engineering. 10ª ed., Pearson, 2016. Engenharia de requisitos (caps. 4–5).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263640" y="4535424"/>
            <a:ext cx="5349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ISO/IEC/IEEE 29148:2018 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and software engineering — Life cycle processes — Requirements engineering.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263640" y="5303520"/>
            <a:ext cx="5349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Beck, K. et al. 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Manifesto para Desenvolvimento Ágil de Software. 2001. agilemanifesto.org.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94360" y="62179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onde começar: gestores — Cohn (2004); POs e QAs — Adzic (2011); analistas — Sommerville, caps. 4–5.</a:t>
            </a:r>
            <a:endParaRPr lang="en-US" sz="10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97280" y="1554480"/>
            <a:ext cx="9966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Escreva menos no card.</a:t>
            </a:r>
            <a:endParaRPr lang="en-US" sz="3800" dirty="0"/>
          </a:p>
          <a:p>
            <a:pPr algn="ctr" indent="0" marL="0">
              <a:buNone/>
            </a:pPr>
            <a:r>
              <a:rPr lang="en-US" sz="38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Converse mais.</a:t>
            </a:r>
            <a:endParaRPr lang="en-US" sz="3800" dirty="0"/>
          </a:p>
          <a:p>
            <a:pPr algn="ctr" indent="0" marL="0">
              <a:buNone/>
            </a:pPr>
            <a:r>
              <a:rPr lang="en-US" sz="38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Especifique o que precisa durar.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5120640" y="4572000"/>
            <a:ext cx="1920240" cy="0"/>
          </a:xfrm>
          <a:prstGeom prst="line">
            <a:avLst/>
          </a:prstGeom>
          <a:noFill/>
          <a:ln w="25400">
            <a:solidFill>
              <a:srgbClr val="E8A3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4846320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Obrigado!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097280" y="5440680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Dúvidas, material e próximos passos: [seu nome · e-mail · canal]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41</Slides>
  <Notes>41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Histórias de Usuário &amp; Documentação de Sistema</dc:title>
  <dc:subject>PptxGenJS Presentation</dc:subject>
  <dc:creator>Workshop CNI</dc:creator>
  <cp:lastModifiedBy>Workshop CNI</cp:lastModifiedBy>
  <cp:revision>1</cp:revision>
  <dcterms:created xsi:type="dcterms:W3CDTF">2026-07-22T01:25:03Z</dcterms:created>
  <dcterms:modified xsi:type="dcterms:W3CDTF">2026-07-22T01:25:03Z</dcterms:modified>
</cp:coreProperties>
</file>