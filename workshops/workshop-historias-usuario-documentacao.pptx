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 (5 min). Apresente-se e explique o objetivo: alinhar, entre gestores, o papel de cada artefato — o card no Jira, a especificação e a documentação do sistema. Combine as regras da sala: perguntas a qualquer momento; dinâmicas em grupo nos blocos finais. Avise que os exemplos usam o domínio de compras (Solicitação de Compra, precificação), por ser familiar a todos, e que no Bloco 5 haverá um estudo de caso com um documento real (anonimizado) avaliado recentemente.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Alinhe a expectativa: é um workshop de conceito e de acordo de trabalho, não um treinamento de ferramenta — o Jira aparece como contexto, não como tela a ser ensinada. Ao final, a proposta é sair com um acordo (Definition of Ready / Definition of Done) para levar aos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Se o tempo disponível for 2h: corte a Dinâmica 2 (slide 39), reduza o Bloco 3 aos slides 24, 25 e 27, e transforme o slide 28 (estados) em comentário oral no estudo de caso. Os timeboxes por bloco estão nos divisores de seção.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min. Lance a pergunta e colete 2 ou 3 respostas — anote-as num flipchart ou quadro; você vai retomá-las no estudo de caso (Bloco 5), onde cada uma delas aparece materializada num documento real. Respostas típicas: “cada dev entende uma coisa”, “o teste não sabe o que verificar”, “quando o card fecha, o conhecimento some”. Não corrija nem complete ainda: deixe o workshop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1 — 40 min. Objetivo: dar o repertório de origem (XP), o modelo mental (3 C’s), a forma (Connextra), o teste de qualidade (INVEST) e o encaixe na ferramenta (Jira).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Contexto histórico: no fim dos anos 90, a alternativa dominante era a especificação pesada escrita meses antes do código (waterfall). O XP inverteu: escreve-se pouco, cedo, e conversa-se muito, no momento certo. Destaque o último item: a limitação física do cartão era intencional — se não cabe no cartão, o que falta não é texto, é conversa. Referências: Beck, “Extreme Programming Explained” (1999); Beck &amp; Fowler, “Planning Extreme Programming” (2000).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A frase de Cockburn é o coração do bloco: a história é uma promessa de conversa. Se alguém tenta “completar” a história com páginas de detalhe, ela deixa de ser história — vira uma especificação mal posicionada. A frase final antecipa o Bloco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Peça a um participante que transforme, oralmente, uma demanda da própria área no formato Como/Quero/Para. Corrija dois vícios comuns na hora: papel genérico (“como usuário…”) e benefício circular (“para que a precificação seja registrada”). Alerta importante: preencher o template não garante história boa — o teste de qualidade é o INVEST, daqui a três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Origem: artigo “Essential XP: Card, Conversation, Confirmation” (Ron Jeffries, 2001). O card no Jira cumpre o papel do cartão físico do XP: token de planejamento. Tudo o que precise de precisão — campo, regra, estado — tem outro lugar, e o card aponta para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Mensagem para gestores: proteger a agenda de refinamento é investimento, não desperdício — é onde o requisito fica barato. Erro achado em conversa custa minutos; em produção, custa sprints. O segundo bullet é o antídoto para o Jira-arquivo-morto: conversa que não vira registro estruturado evapora.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Feche o modelo dos 3 C’s: Card lembra, Conversation esclarece, Confirmation verifica. O exemplo citado vem do domínio de compras da casa e reaparece no Gherkin (Bloco 3) e no estudo de caso (Bloco 5). Provocação rápida: “quantos cards fechados no nosso Jira tinham critérios verificáveis?”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Fonte: Bill Wake, “INVEST in Good Stories, and SMART Tasks” (2003). Percorra as seis letras com um exemplo oral cada. As mais violadas na prática: V (histórias técnicas sem valor de negócio), S (épicos fantasiados de história) e T (critérios vagos). O próximo slide treina exatamente essas três.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Mostre só a coluna da esquerda primeiro (cubra a direita ou revele aos poucos) e pergunte que letra do INVEST cada uma viola, antes de mostrar a resposta. O primeiro exemplo é o mais importante para esta audiência: “desenvolver a tela X” é o anti-padrão nº 1 do caso real do Bloco 5 — tela é meio, valor é a 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Adapte os nomes aos issue types reais do Jira da CNI. O épico do exemplo é o módulo do estudo de caso do Bloco 5 — as quatro histórias mostradas são exatamente as que o documento real continha (lá, misturadas com telas). Feche o Bloco 1 checando o relógio: aqui devem ter passado ~50 min do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2 — 30 min. É o coração conceitual do workshop: separar planejamento (card) de especificação e de documentação. Se a audiência sair com uma única ideia, que seja a tabela do slide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O quarto item (“artefato transitório”) costuma gerar reação — deixe a discussão acontecer, ela prepara o slide seguinte. A pergunta que resolve: “depois que o card fechou, quem atualiza o texto dele quando o sistema muda?” Ninguém. Por isso ele não pode ser a memória do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Referência: Mike Cohn (“User Stories Applied”, 2004) — histórias não são requisitos no sentido IEEE (“o sistema deverá…”); são outra coisa, com outro papel. A frase da tarja final é a provocação a repetir sempre que alguém disser “está tudo no Jira”.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Este é O slide do workshop — vale imprimir como handout. Percorra linha a linha. A célula que mais muda conversas é “vida útil”: card morre, especificação vive com a funcionalidade, documentação vive com o produto. Quando um requisito muda: abre-se um NOVO card (planejamento) que ATUALIZA a MESMA especificação (registro). São movimentos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Pergunte quem já ouviu “não precisa documentar, somos ágeis”. Mostre que o próprio manifesto desmente: a frase completa inclui “embora haja valor nos itens à direita”. Conecte com a realidade da casa: auditoria, conformidade, continuidade de fornecedores — tudo exige registro que sobreviva ao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Destaque a linha de retorno: manutenção NÃO cria uma nova “verdade” paralela — cria um novo card que atualiza a especificação existente. É assim que se evita ter cinco documentos contando cinco versões da mesma funcionalidade. Feche o bloco e chame o intervalo (15 min) — na volta, Bloco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Leia coluna a coluna, de cima para baixo: na sprint 23 nasce a primeira história; ela FECHA, mas deixa dois legados — a funcionalidade no ar e a especificação v1. Cada história seguinte evolui a MESMA funcionalidade mais um pouco, e a MESMA especificação cresce de versão (v2, v3, v4) — nunca nasce um documento novo por história. Pergunta de fixação: “onde está a definição completa da funcionalidade hoje?” — na especificação v4; os quatro cards guardam apenas a história de como chegamos até aqui (e é para isso que servem). Anti-padrão a citar: “um documento por história” = quatro verdades paralelas que ninguém consolida — é exatamente o que acontece quando a description do card vira spec. No Jira: cada card aponta para a versão da especificação que ele alterou; a rastreabilidade (Bloco 3) é esse fio.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3 — 40 min (após o intervalo). Muda o chapéu: saímos do planejamento (card) e entramos na engenharia de requisitos — o que precisa existir por escrito para construir, testar e aceitar com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Gestores não operam as cinco etapas — mas cobram que existam. A pergunta gerencial de cada etapa: Elicitação — “falamos com quem usa?”; Análise — “os requisitos brigam entre si?”; Especificação — “dá para testar o que está escrito?”; Validação — “o negócio releu antes de irmos construir?”; Gestão — “que versão vale hoje?”.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Os exemplos dentro dos cards vêm do estudo de caso do Bloco 5 — plante as sementes agora: “avalia automaticamente” (ambíguo) e IDs duplicados (rastreabilidade quebrada) aparecerão num documento real. A lista completa da norma 29148 tem mais itens (necessário, apropriado, viável…); estes seis são os que mais doem na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Este é o checklist para cobrar — de fornecedor ou de time interno. Espelha o padrão interno de especificação por funcionalidade (nível N3 do nosso framework de documentação). Exercício relâmpago: peça que guardem mentalmente os itens 2, 4 e 5 — no estudo de caso, são exatamente os três que faltam por inteiro no documento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Teste rápido para separar: a frase descreve “o quê” (funcional) ou “quão bem” (não-funcional)? NFR esquecido vira passivo: LGPD, trilha de auditoria, tempo de resposta — ninguém escreve “o sistema deve ser auditável” num card, e depois a auditoria cobra. Por isso o catálogo é do produto, não da história.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Leia o cenário em voz alta: repare que é português de negócio, sem jargão — e ainda assim é executável por ferramenta de teste. Este exemplo é o mesmo critério citado no slide de Confirmation (3 C’s): a ponte card → especificação → teste. Reforce o terceiro ponto: no documento do estudo de caso não existe UM cenário negativo sequer.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Use o fluxo de precificação da casa: o documento real pressupõe pelo menos seis situações (rascunho, encaminhada, em revisão, devolvida, revisada, enviada para aprovação) — e não formaliza nenhuma. A seta tracejada vermelha é proposital: a devolução existe no texto, mas ninguém disse se o comprador pode reencaminhar, quantas vezes, e o que o gerente vê depois. Cada seta sem regra é uma decisão que o dev tomará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As setas são bidirecionais de propósito: dá para ir da história ao código E do código à história. Gancho para o estudo de caso: o documento real tinha rastreabilidade EXTERNA razoável (cards, sprint) e rastreabilidade INTERNA quebrada (IDs duplicados, referências cruzadas erradas) — os dois lados da moeda. Feche o Bloco 3: “especificar é isso; agora vejamos o que NÃO é papel do card”.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4 — 20 min. Bloco curto e direto: uma galeria de anti-padrões para criar vocabulário comum (“isso aí é card-arquivo!”), e o antídoto de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Peça exemplos reais da casa para 2 ou 3 anti-padrões (sem expor autores — a regra é “ri quem já fez”). O oitavo card (âmbar) é a mensagem construtiva: nada disso é proibido de existir; é proibido de morar no card. O slide seguinte traduz isso para o dia a dia do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Abra explicando o termo — 15 segundos que valem a pena: “cheiro” vem de code smell, expressão cunhada por Kent Beck e difundida por Martin Fowler em Refactoring (1999). Um cheiro é um indício barato de detectar que sugere um problema mais profundo: ele não é o erro em si, é o convite a investigar (a piada original do livro: “se fede, troque”). É o mesmo Kent Beck do XP do Bloco 1 — e é o vocabulário que os times de desenvolvimento já usam (code smell), então gestor e dev saem falando a mesma língua. Depois, pergunte quantos desses cinco cheiros a plateia reconhece no Jira da casa — normalmente todos. Importante manter o tom construtivo: cheiro não é culpa de quem escreveu; é ausência de acordo sobre onde cada coisa mora. O acordo vem no fim do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Respiro antes do bloco prático. Cheque o relógio: aqui devem ter passado ~2h05 (com intervalo). Se estiver adiantado, abra 5 minutos para perguntas acumuladas antes das dinâmicas.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5 — 35 min. É onde o workshop se paga: a teoria dos blocos 1–4 aplicada a um documento real da casa e duas dinâmicas curtas em grupo. Prepare: cópias impressas (ou projeção) do material das dinâmicas.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min. Retome as respostas anotadas na abertura (slide 4) — mostre quais delas se materializaram aqui. Mantenha o anonimato do fornecedor; o objetivo é o padrão, não a culpa. Conecte cada falta ao bloco correspondente: critérios (3 C’s/Confirmation), regra ambígua (slide 24), estados (slide 28), IDs (slide 29). Quem quiser o detalhe completo: existe nota técnica com os 10 achados classificados por severidade, riscos e pauta de 12 esclarecimentos — disponibilize após o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3–4 min, como ponte para a Dinâmica 1 (dentro dos 35’ do bloco). Roteiro completo para conduzir o refinamento com os portões: P0 Card — ator específico; uma ação (sem “e”); benefício não circular; o card se sustenta sem “conforme anexo”. P1 Fronteira — pré-condições; resultado observável; lista de exclusões com ao menos 1 item (escopo sem exclusão declarada é escopo não discutido); se altera algo existente, o comportamento atual está localizado. P2 Conteúdo — campos com tipo/obrigatoriedade/origem; toda decisão com critério objetivo (cace “automaticamente”); transições de estado nomeadas; ao menos 1 caminho triste por ação; permissões e o que o “não pode” vê; caminho de volta especificado ou excluído conscientemente. P3 Dependências — histórias anteriores nomeadas (“nenhuma” é dito, não presumido); dados novos e legados; o que roda fora da fronteira e o que acontece quando o outro lado falha; decisão pendente tem dono e prazo. P4 INVEST — teste da demo (V), teste da divisão (S), cada “depende” do time é uma pergunta sem resposta (E). P5 Confirmation — todo acionável com critério; cenário negativo; mensagens com texto; sem advérbios de fé; o PO sabe como demonstrar cada critério. Feche com a regra da tarja: reprovação vira ⚠ com dono; pronta = portões OK e ⚠ zeradas.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Percorra rápido — os grupos aplicam já na Dinâmica 1. Estas oito são as perguntas de maior rendimento; o roteiro completo dos seis portões está nas notas do slide anterior (vale imprimir como handout junto com a tabela dos três artefatos). Dica de condução: cace os advérbios em voz alta no material da dinâmica — “funcionar corretamente” cai no teste 2 na hora; e o “conforme documento anexo” reprova no Portão 0. Conecte com o caso real: a regra “o sistema avalia automaticamente se precisa do Gerente” do Módulo 07 é a reprovação clássica do teste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 (10 de produção + 5 de leitura). Gabarito de referência — reescrita: “Como Gerente de Suprimentos, quero revisar a precificação encaminhada pelo comprador, para validar o processo antes do envio à aprovação.” Critérios possíveis: (1) o gerente consegue ajustar o título antes do envio; (2) a justificativa é obrigatória no envio para aprovação; (3) [negativo] não é possível enviar para aprovação com a justificativa vazia — o sistema informa o campo pendente. INVEST violado na original: V (tela ≠ valor), T (“funcionar corretamente”), N (“conforme o anexo” fecha a conversa) — além das reprovações nos portões 0 (sem ator/benefício), 1 (sem fronteira) e 5 (sem critério verificável). Item 4: o detalhamento da tela e dos campos vai para a especificação; “atender o gerente” vira permissões. Entregue como guia dos grupos o roteiro dos portões (slides 36–37).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 (8 de decisão + 7 de discussão). Gabarito: 1 CARD — história legítima, com ator, ação e benefício. 2 ESPECIFICAÇÃO — validação de campo (na tabela de campos). 3 CATÁLOGO NFR — desempenho, vale para o produto. 4 LUGAR NENHUM (no card) — decisão técnica: vive na especificação técnica/documentação de arquitetura, decidida pelo time. 5 ESPECIFICAÇÃO — regra de negócio (invariante de cálculo). 6 LUGAR NENHUM como está — “intuitiva” não é testável; ou vira NFR de usabilidade mensurável (ex.: tarefa X concluída em Y passos) ou sai. 7 ESPECIFICAÇÃO — permissão por perfil (e o card da história correspondente a referencia). 8 ESPECIFICAÇÃO — texto de mensagem catalogado. Discussão rica: itens 2, 7 e 8 podem APARECER como critérios de aceite no card — mas o registro permanente é a especificação; o card aponta.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Este é o produto tangível do workshop: uma proposta inicial de DoR/DoD para levar aos times e ao fornecedor — cada cláusula nasceu de um anti-padrão visto hoje. Proponha: validar com os times em 2 semanas, pilotar num squad, revisar após uma sprint. Sem acordo operacional, o workshop vira palestra.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Retome os objetivos do slide 2 e as respostas da provocação inicial: o grupo agora tem vocabulário para responder cada uma. Cheque se algum objetivo ficou sem resposta e trate em aberto ou em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Sugestão de trilha: gestores começam por Cohn (leitura acessível); quem escreve critérios, por Adzic; analistas de requisitos, por Sommerville. Os artigos de Jeffries e Wake são curtos e gratuitos na web — bons anexos para o convite de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Agradeça, recolha um feedback relâmpago (“uma palavra sobre o workshop”) e combine o follow-up: enviar o PDF do deck, a nota técnica do estudo de caso e a proposta de DoR/DoD para validação com os times em duas semanas. Substitua o placeholder de contato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1.png"/><Relationship Id="rId4" Type="http://schemas.openxmlformats.org/officeDocument/2006/relationships/image" Target="../media/image-13-2.png"/><Relationship Id="rId5" Type="http://schemas.openxmlformats.org/officeDocument/2006/relationships/image" Target="../media/image-13-1.png"/><Relationship Id="rId6" Type="http://schemas.openxmlformats.org/officeDocument/2006/relationships/image" Target="../media/image-13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1.png"/><Relationship Id="rId3" Type="http://schemas.openxmlformats.org/officeDocument/2006/relationships/image" Target="../media/image-31-1.png"/><Relationship Id="rId4" Type="http://schemas.openxmlformats.org/officeDocument/2006/relationships/image" Target="../media/image-31-1.png"/><Relationship Id="rId5" Type="http://schemas.openxmlformats.org/officeDocument/2006/relationships/image" Target="../media/image-31-1.png"/><Relationship Id="rId6" Type="http://schemas.openxmlformats.org/officeDocument/2006/relationships/image" Target="../media/image-31-1.png"/><Relationship Id="rId7" Type="http://schemas.openxmlformats.org/officeDocument/2006/relationships/image" Target="../media/image-31-1.png"/><Relationship Id="rId8" Type="http://schemas.openxmlformats.org/officeDocument/2006/relationships/image" Target="../media/image-3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1.png"/><Relationship Id="rId4" Type="http://schemas.openxmlformats.org/officeDocument/2006/relationships/image" Target="../media/image-32-2.png"/><Relationship Id="rId5" Type="http://schemas.openxmlformats.org/officeDocument/2006/relationships/image" Target="../media/image-32-1.png"/><Relationship Id="rId6" Type="http://schemas.openxmlformats.org/officeDocument/2006/relationships/image" Target="../media/image-32-2.png"/><Relationship Id="rId7" Type="http://schemas.openxmlformats.org/officeDocument/2006/relationships/image" Target="../media/image-32-1.png"/><Relationship Id="rId8" Type="http://schemas.openxmlformats.org/officeDocument/2006/relationships/image" Target="../media/image-32-2.png"/><Relationship Id="rId9" Type="http://schemas.openxmlformats.org/officeDocument/2006/relationships/image" Target="../media/image-32-1.png"/><Relationship Id="rId10" Type="http://schemas.openxmlformats.org/officeDocument/2006/relationships/image" Target="../media/image-32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1.png"/><Relationship Id="rId4" Type="http://schemas.openxmlformats.org/officeDocument/2006/relationships/image" Target="../media/image-37-2.png"/><Relationship Id="rId5" Type="http://schemas.openxmlformats.org/officeDocument/2006/relationships/image" Target="../media/image-37-1.png"/><Relationship Id="rId6" Type="http://schemas.openxmlformats.org/officeDocument/2006/relationships/image" Target="../media/image-37-2.png"/><Relationship Id="rId7" Type="http://schemas.openxmlformats.org/officeDocument/2006/relationships/image" Target="../media/image-37-1.png"/><Relationship Id="rId8" Type="http://schemas.openxmlformats.org/officeDocument/2006/relationships/image" Target="../media/image-37-2.png"/><Relationship Id="rId9" Type="http://schemas.openxmlformats.org/officeDocument/2006/relationships/image" Target="../media/image-37-1.png"/><Relationship Id="rId10" Type="http://schemas.openxmlformats.org/officeDocument/2006/relationships/image" Target="../media/image-37-2.png"/><Relationship Id="rId11" Type="http://schemas.openxmlformats.org/officeDocument/2006/relationships/image" Target="../media/image-37-1.png"/><Relationship Id="rId12" Type="http://schemas.openxmlformats.org/officeDocument/2006/relationships/image" Target="../media/image-37-2.png"/><Relationship Id="rId13" Type="http://schemas.openxmlformats.org/officeDocument/2006/relationships/image" Target="../media/image-37-1.png"/><Relationship Id="rId14" Type="http://schemas.openxmlformats.org/officeDocument/2006/relationships/image" Target="../media/image-37-2.png"/><Relationship Id="rId15" Type="http://schemas.openxmlformats.org/officeDocument/2006/relationships/image" Target="../media/image-37-1.png"/><Relationship Id="rId16" Type="http://schemas.openxmlformats.org/officeDocument/2006/relationships/image" Target="../media/image-37-2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GESTÃO DE PRODUTO E REQUISITOS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card no Jira à especificação que sustenta o sistema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1083564" cy="384048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97680"/>
            <a:ext cx="1083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2h30 – 3h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71116" y="4297680"/>
            <a:ext cx="2171700" cy="384048"/>
          </a:xfrm>
          <a:prstGeom prst="roundRect">
            <a:avLst>
              <a:gd name="adj" fmla="val 47619"/>
            </a:avLst>
          </a:prstGeom>
          <a:solidFill>
            <a:srgbClr val="31497A"/>
          </a:solidFill>
          <a:ln/>
        </p:spPr>
      </p:sp>
      <p:sp>
        <p:nvSpPr>
          <p:cNvPr id="8" name="Text 6"/>
          <p:cNvSpPr/>
          <p:nvPr/>
        </p:nvSpPr>
        <p:spPr>
          <a:xfrm>
            <a:off x="2071116" y="4297680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gestores e líderes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4297680"/>
            <a:ext cx="1161288" cy="384048"/>
          </a:xfrm>
          <a:prstGeom prst="roundRect">
            <a:avLst>
              <a:gd name="adj" fmla="val 47619"/>
            </a:avLst>
          </a:prstGeom>
          <a:solidFill>
            <a:srgbClr val="31497A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429768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 · Jira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apoio: nota técnica de avaliação de artefato de requisitos (estudo de caso do Bloco 5)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09560" y="11430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10728" y="132588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0" descr="/tmp/claude-0/-home-user-doc-template-engine/198c21fb-8b4a-5b3c-a787-7fafcb963965/scratchpad/workshop/icons/fi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4296" y="1439448"/>
            <a:ext cx="193487" cy="19348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86800" y="13075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Comprador,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0" y="16367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 precificação da SC,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0" y="22402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 o processo fundamentado.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83880" y="31546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85048" y="33375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1" descr="/tmp/claude-0/-home-user-doc-template-engine/198c21fb-8b4a-5b3c-a787-7fafcb963965/scratchpad/workshop/icons/fi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616" y="3451128"/>
            <a:ext cx="193487" cy="19348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961120" y="33192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Suprimentos,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961120" y="364845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 precificação,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961120" y="42519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antes da aprovação.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levar deste workshop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82496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tmp/claude-0/-home-user-doc-template-engine/198c21fb-8b4a-5b3c-a787-7fafcb963965/scratchpad/workshop/icons/za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1820753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0472" y="168249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e propósito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0392" y="2331720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de onde vêm as histórias de usuário (XP, 1999) e para que elas servem de verdade: planejar e conversar.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08776" y="14630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37376" y="1682496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/tmp/claude-0/-home-user-doc-template-engine/198c21fb-8b4a-5b3c-a787-7fafcb963965/scratchpad/workshop/icons/column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633" y="1820753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04888" y="168249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≠ documentação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64808" y="2331720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os papéis de cada artefato: planejar não é especificar, e card não é contrato nem memória do sistema.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94360" y="384048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059936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/tmp/claude-0/-home-user-doc-template-engine/198c21fb-8b4a-5b3c-a787-7fafcb963965/scratchpad/workshop/icons/lay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198193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90472" y="405993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com engenharia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0392" y="4709160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o que uma documentação de sistema precisa ter para sustentar construção, teste, aceite e manutenção.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08776" y="384048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37376" y="4059936"/>
            <a:ext cx="512064" cy="512064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23" name="Image 3" descr="/tmp/claude-0/-home-user-doc-template-engine/198c21fb-8b4a-5b3c-a787-7fafcb963965/scratchpad/workshop/icons/xcircl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633" y="4198193"/>
            <a:ext cx="235549" cy="23554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04888" y="405993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Anti-padrões no Jira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464808" y="4709160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que não deve estar num card — e saber para onde levar cada tipo de conteúdo.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três horas bem gastas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731520" cy="457200"/>
          </a:xfrm>
          <a:prstGeom prst="roundRect">
            <a:avLst>
              <a:gd name="adj" fmla="val 24000"/>
            </a:avLst>
          </a:prstGeom>
          <a:solidFill>
            <a:srgbClr val="EEF3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898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389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e provocação</a:t>
            </a:r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expectativas e a pergunta que guia o dia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016252"/>
            <a:ext cx="731520" cy="457200"/>
          </a:xfrm>
          <a:prstGeom prst="roundRect">
            <a:avLst>
              <a:gd name="adj" fmla="val 24000"/>
            </a:avLst>
          </a:prstGeom>
          <a:solidFill>
            <a:srgbClr val="EEF3F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162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0162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Origem e anatomia da história</a:t>
            </a:r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XP, 3 C’s, formato Connextra, INVEST, hierarquia no Jira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2642616"/>
            <a:ext cx="731520" cy="457200"/>
          </a:xfrm>
          <a:prstGeom prst="roundRect">
            <a:avLst>
              <a:gd name="adj" fmla="val 24000"/>
            </a:avLst>
          </a:prstGeom>
          <a:solidFill>
            <a:srgbClr val="EEF3F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426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6426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História não é documentação</a:t>
            </a:r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papéis, vida útil e o mito do “ágil não documenta”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268980"/>
            <a:ext cx="731520" cy="457200"/>
          </a:xfrm>
          <a:prstGeom prst="roundRect">
            <a:avLst>
              <a:gd name="adj" fmla="val 24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689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32689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café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42832" y="325069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0" descr="/tmp/claude-0/-home-user-doc-template-engine/198c21fb-8b4a-5b3c-a787-7fafcb963965/scratchpad/workshop/icons/coffee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6276" y="3374136"/>
            <a:ext cx="210312" cy="21031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94360" y="3895344"/>
            <a:ext cx="731520" cy="457200"/>
          </a:xfrm>
          <a:prstGeom prst="roundRect">
            <a:avLst>
              <a:gd name="adj" fmla="val 24000"/>
            </a:avLst>
          </a:prstGeom>
          <a:solidFill>
            <a:srgbClr val="EEF3FA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89534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40’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508760" y="38953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que a documentação precisa ter</a:t>
            </a:r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engenharia de requisitos, 8 componentes, Gherkin, estados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94360" y="4521708"/>
            <a:ext cx="731520" cy="457200"/>
          </a:xfrm>
          <a:prstGeom prst="roundRect">
            <a:avLst>
              <a:gd name="adj" fmla="val 24000"/>
            </a:avLst>
          </a:prstGeom>
          <a:solidFill>
            <a:srgbClr val="EEF3FA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45217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20’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508760" y="45217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O que não entra num card</a:t>
            </a:r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sete anti-padrões e os cheiros no Jira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94360" y="5148072"/>
            <a:ext cx="731520" cy="457200"/>
          </a:xfrm>
          <a:prstGeom prst="roundRect">
            <a:avLst>
              <a:gd name="adj" fmla="val 24000"/>
            </a:avLst>
          </a:prstGeom>
          <a:solidFill>
            <a:srgbClr val="EEF3FA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51480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35’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508760" y="5148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Estudo de caso e dinâmicas</a:t>
            </a:r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um documento real + duas dinâmicas em grupo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594360" y="5774436"/>
            <a:ext cx="731520" cy="457200"/>
          </a:xfrm>
          <a:prstGeom prst="roundRect">
            <a:avLst>
              <a:gd name="adj" fmla="val 24000"/>
            </a:avLst>
          </a:prstGeom>
          <a:solidFill>
            <a:srgbClr val="EEF3FA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57744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10’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508760" y="577443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 acordo de trabalho</a:t>
            </a:r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DoR/DoD proposto e próximos passos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9829800" y="1389888"/>
            <a:ext cx="1764792" cy="4846320"/>
          </a:xfrm>
          <a:prstGeom prst="roundRect">
            <a:avLst>
              <a:gd name="adj" fmla="val 5181"/>
            </a:avLst>
          </a:prstGeom>
          <a:solidFill>
            <a:srgbClr val="1B2A4A"/>
          </a:solidFill>
          <a:ln/>
        </p:spPr>
      </p:sp>
      <p:sp>
        <p:nvSpPr>
          <p:cNvPr id="33" name="Text 30"/>
          <p:cNvSpPr/>
          <p:nvPr/>
        </p:nvSpPr>
        <p:spPr>
          <a:xfrm>
            <a:off x="9829800" y="2103120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3h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9829800" y="297180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intervalo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9921240" y="3977640"/>
            <a:ext cx="1581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2h: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encurte o Bloco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uma dinâmica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 notas)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1554480" y="123444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história de usuário é um lembrete para uma conversa — não uma especificação em miniatura.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5448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síntese de Alistair Cockburn e Ron Jeffries (XP, 2001)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54480" y="3977640"/>
            <a:ext cx="9098280" cy="1371600"/>
          </a:xfrm>
          <a:prstGeom prst="roundRect">
            <a:avLst>
              <a:gd name="adj" fmla="val 6667"/>
            </a:avLst>
          </a:prstGeom>
          <a:solidFill>
            <a:srgbClr val="24365E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4370832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tmp/claude-0/-home-user-doc-template-engine/198c21fb-8b4a-5b3c-a787-7fafcb963965/scratchpad/workshop/icons/help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871" y="4523903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06040" y="41605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discutir agora: o que acontece quando tratamos um card do Jira como se fosse a especificação do sistema?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420624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vêm as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4251960" y="3794760"/>
            <a:ext cx="2291486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6" name="Text 4"/>
          <p:cNvSpPr/>
          <p:nvPr/>
        </p:nvSpPr>
        <p:spPr>
          <a:xfrm>
            <a:off x="4251960" y="3794760"/>
            <a:ext cx="22914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e o Jogo do Planejamento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89750" y="3794760"/>
            <a:ext cx="936346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8" name="Text 6"/>
          <p:cNvSpPr/>
          <p:nvPr/>
        </p:nvSpPr>
        <p:spPr>
          <a:xfrm>
            <a:off x="6689750" y="3794760"/>
            <a:ext cx="936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C’s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0" y="3794760"/>
            <a:ext cx="1578254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3794760"/>
            <a:ext cx="15782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Connextra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496958" y="3794760"/>
            <a:ext cx="793699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2" name="Text 10"/>
          <p:cNvSpPr/>
          <p:nvPr/>
        </p:nvSpPr>
        <p:spPr>
          <a:xfrm>
            <a:off x="9496958" y="3794760"/>
            <a:ext cx="7936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4325112"/>
            <a:ext cx="2077517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4325112"/>
            <a:ext cx="20775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e história no Jira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51960" y="489204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48920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 min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ORIGEM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origem: Extreme Programming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tmp/claude-0/-home-user-doc-template-engine/198c21fb-8b4a-5b3c-a787-7fafcb963965/scratchpad/workshop/icons/fla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617" y="155557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38074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1996–1999 · projeto C3, Chrysler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98448" y="170992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Beck lidera a folha de pagamento da Chrysler — o berço do XP.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" y="262432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tmp/claude-0/-home-user-doc-template-engine/198c21fb-8b4a-5b3c-a787-7fafcb963965/scratchpad/workshop/icons/boo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276258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25877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 · Extreme Programming Explained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298448" y="291693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viram histórias no Jogo do Planejamento (Planning Game): o cliente escreve, o time estima, o negócio prioriza.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831336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2" descr="/tmp/claude-0/-home-user-doc-template-engine/198c21fb-8b4a-5b3c-a787-7fafcb963965/scratchpad/workshop/icons/us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3969593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3794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 pelo cliente, em linguagem de negócio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298448" y="4123944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história pertence a quem precisa do resultado — não ao programador.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4360" y="5038344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3" descr="/tmp/claude-0/-home-user-doc-template-engine/198c21fb-8b4a-5b3c-a787-7fafcb963965/scratchpad/workshop/icons/fil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17" y="5176601"/>
            <a:ext cx="235549" cy="23554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98448" y="50017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num cartão de papel — de propósito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298448" y="533095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cartão limita o detalhe fisicamente e força a conversa a acontecer.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360920" y="1554480"/>
            <a:ext cx="4251960" cy="3291840"/>
          </a:xfrm>
          <a:prstGeom prst="roundRect">
            <a:avLst>
              <a:gd name="adj" fmla="val 1667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6352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História nº 12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635240" y="2212848"/>
            <a:ext cx="3703320" cy="0"/>
          </a:xfrm>
          <a:prstGeom prst="line">
            <a:avLst/>
          </a:prstGeom>
          <a:noFill/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635240" y="2377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5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funcionário consulta o próprio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25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contracheque do mês.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7635240" y="3429000"/>
            <a:ext cx="3703320" cy="0"/>
          </a:xfrm>
          <a:prstGeom prst="line">
            <a:avLst/>
          </a:prstGeom>
          <a:noFill/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635240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estimativa: 2 pontos  ·  prioridade: alta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360920" y="50749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história cabia num cartão de 10 × 15 cm — e isso era o mecanismo, não uma limitação.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uma história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e conversar</a:t>
            </a:r>
            <a:pPr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não registrar.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3538728" cy="3108960"/>
          </a:xfrm>
          <a:prstGeom prst="roundRect">
            <a:avLst>
              <a:gd name="adj" fmla="val 2647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59736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0" descr="/tmp/claude-0/-home-user-doc-template-engine/198c21fb-8b4a-5b3c-a787-7fafcb963965/scratchpad/workshop/icons/fla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597993"/>
            <a:ext cx="235549" cy="2355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0472" y="2459736"/>
            <a:ext cx="2441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de planejamento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0392" y="3108960"/>
            <a:ext cx="302666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item que se estima, se prioriza e se negocia, sprint a sprint. A história existe para ordenar o trabalho por valor.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25112" y="2240280"/>
            <a:ext cx="3538728" cy="3108960"/>
          </a:xfrm>
          <a:prstGeom prst="roundRect">
            <a:avLst>
              <a:gd name="adj" fmla="val 2647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53712" y="2459736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/tmp/claude-0/-home-user-doc-template-engine/198c21fb-8b4a-5b3c-a787-7fafcb963965/scratchpad/workshop/icons/messag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969" y="2597993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21224" y="2459736"/>
            <a:ext cx="2441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 à conversa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81144" y="3108960"/>
            <a:ext cx="302666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é o começo, não o fim. “A promise for a conversation” (Cockburn): os detalhes surgem na conversa certa, na hora certa.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55864" y="2240280"/>
            <a:ext cx="3538728" cy="3108960"/>
          </a:xfrm>
          <a:prstGeom prst="roundRect">
            <a:avLst>
              <a:gd name="adj" fmla="val 2647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84464" y="2459736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2" descr="/tmp/claude-0/-home-user-doc-template-engine/198c21fb-8b4a-5b3c-a787-7fafcb963965/scratchpad/workshop/icons/targe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721" y="2597993"/>
            <a:ext cx="235549" cy="23554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51976" y="2459736"/>
            <a:ext cx="2441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fina de valor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11896" y="3108960"/>
            <a:ext cx="302666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história entrega um resultado observável para alguém — nunca uma camada técnica ou uma tela pela metade.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94360" y="566928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 incompleta não é defeito da história — é a característica que a faz funcionar.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FORMA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clássico — Connextra, 2001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46120" y="1600200"/>
            <a:ext cx="56692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47288" y="178308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/tmp/claude-0/-home-user-doc-template-engine/198c21fb-8b4a-5b3c-a787-7fafcb963965/scratchpad/workshop/icons/fi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0856" y="1896648"/>
            <a:ext cx="193487" cy="193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023360" y="17647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buNone/>
            </a:pPr>
            <a:r>
              <a:rPr lang="en-US" sz="15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Comprador,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023360" y="220370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buNone/>
            </a:pPr>
            <a:r>
              <a:rPr lang="en-US" sz="15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 precificação de uma Solicitação de Compra,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023360" y="307238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buNone/>
            </a:pPr>
            <a:r>
              <a:rPr lang="en-US" sz="15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 o processo à aprovação com valores fundamentados.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C77F1A"/>
          </a:solidFill>
          <a:ln/>
        </p:spPr>
      </p:sp>
      <p:pic>
        <p:nvPicPr>
          <p:cNvPr id="13" name="Image 1" descr="/tmp/claude-0/-home-user-doc-template-engine/198c21fb-8b4a-5b3c-a787-7fafcb963965/scratchpad/workshop/icons/us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1723644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94360" y="23774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que recebe o valor — uma pessoa ou perfil, nunca “o sistema”.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9281160" y="1600200"/>
            <a:ext cx="457200" cy="457200"/>
          </a:xfrm>
          <a:prstGeom prst="ellipse">
            <a:avLst/>
          </a:prstGeom>
          <a:solidFill>
            <a:srgbClr val="C77F1A"/>
          </a:solidFill>
          <a:ln/>
        </p:spPr>
      </p:sp>
      <p:pic>
        <p:nvPicPr>
          <p:cNvPr id="17" name="Image 2" descr="/tmp/claude-0/-home-user-doc-template-engine/198c21fb-8b4a-5b3c-a787-7fafcb963965/scratchpad/workshop/icons/zap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604" y="172364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8116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281160" y="23774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ação de negócio: um verbo com resultado observável.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281160" y="3657600"/>
            <a:ext cx="457200" cy="457200"/>
          </a:xfrm>
          <a:prstGeom prst="ellipse">
            <a:avLst/>
          </a:prstGeom>
          <a:solidFill>
            <a:srgbClr val="C77F1A"/>
          </a:solidFill>
          <a:ln/>
        </p:spPr>
      </p:sp>
      <p:pic>
        <p:nvPicPr>
          <p:cNvPr id="21" name="Image 3" descr="/tmp/claude-0/-home-user-doc-template-engine/198c21fb-8b4a-5b3c-a787-7fafcb963965/scratchpad/workshop/icons/compas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604" y="378104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4160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281160" y="44348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benefício. É o que permite priorizar — e questionar se vale a pena.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017520" y="2057400"/>
            <a:ext cx="-502920" cy="0"/>
          </a:xfrm>
          <a:prstGeom prst="line">
            <a:avLst/>
          </a:prstGeom>
          <a:noFill/>
          <a:ln w="2794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9144000" y="2057400"/>
            <a:ext cx="502920" cy="0"/>
          </a:xfrm>
          <a:prstGeom prst="line">
            <a:avLst/>
          </a:prstGeom>
          <a:noFill/>
          <a:ln w="2794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9098280" y="3977640"/>
            <a:ext cx="502920" cy="0"/>
          </a:xfrm>
          <a:prstGeom prst="line">
            <a:avLst/>
          </a:prstGeom>
          <a:noFill/>
          <a:ln w="2794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94360" y="4846320"/>
            <a:ext cx="8321040" cy="1188720"/>
          </a:xfrm>
          <a:prstGeom prst="roundRect">
            <a:avLst>
              <a:gd name="adj" fmla="val 692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68680" y="4983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da Connextra, Londres, 2001 (Rachel Davies e colegas); difundido por Mike Cohn em “User Stories Applied” (2004). O formato é a embalagem — o que faz a história ser boa é o que vem nos próximos slides.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C’S — RON JEFFRIES, 2001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— o cartão é um token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9844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36192" y="1298448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/>
        </p:spPr>
      </p:sp>
      <p:sp>
        <p:nvSpPr>
          <p:cNvPr id="9" name="Text 7"/>
          <p:cNvSpPr/>
          <p:nvPr/>
        </p:nvSpPr>
        <p:spPr>
          <a:xfrm>
            <a:off x="1536192" y="129844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2968" y="1298448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/>
        </p:spPr>
      </p:sp>
      <p:sp>
        <p:nvSpPr>
          <p:cNvPr id="11" name="Text 9"/>
          <p:cNvSpPr/>
          <p:nvPr/>
        </p:nvSpPr>
        <p:spPr>
          <a:xfrm>
            <a:off x="3172968" y="129844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057400"/>
            <a:ext cx="960120" cy="9601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0" descr="/tmp/claude-0/-home-user-doc-template-engine/198c21fb-8b4a-5b3c-a787-7fafcb963965/scratchpad/workshop/icons/fi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592" y="2316632"/>
            <a:ext cx="441655" cy="44165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" y="324612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cartão carrega o essencial: título, meia dúzia de linhas, o valor esperado.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não é a história completa — é um marcador: a promessa de que a conversa certa vai acontecer antes da construção.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263640" y="205740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1B2A4A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23317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1" descr="/tmp/claude-0/-home-user-doc-template-engine/198c21fb-8b4a-5b3c-a787-7fafcb963965/scratchpad/workshop/icons/trello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748" y="2467508"/>
            <a:ext cx="231343" cy="231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2331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Jira da CNI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83680" y="30632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no formato ator + ação + benefício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curta: contexto e links — não especificação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texto do card cresce sem parar, o sinal não é “card completo”: é conversa pendente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C’S — RON JEFFRIES, 2001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— o valor está na conversa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9844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36192" y="1298448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1536192" y="129844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2968" y="1298448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/>
        </p:spPr>
      </p:sp>
      <p:sp>
        <p:nvSpPr>
          <p:cNvPr id="11" name="Text 9"/>
          <p:cNvSpPr/>
          <p:nvPr/>
        </p:nvSpPr>
        <p:spPr>
          <a:xfrm>
            <a:off x="3172968" y="129844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057400"/>
            <a:ext cx="960120" cy="9601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0" descr="/tmp/claude-0/-home-user-doc-template-engine/198c21fb-8b4a-5b3c-a787-7fafcb963965/scratchpad/workshop/icons/messag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592" y="2316632"/>
            <a:ext cx="441655" cy="44165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" y="324612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detalhes da história são descobertos em conversas contínuas entre negócio, desenvolvimento e teste — no refinamento, no planejamento e durante a sprint.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escrita registra; a conversa esclarece. Nenhum texto substitui a segunda.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263640" y="205740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1B2A4A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23317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1" descr="/tmp/claude-0/-home-user-doc-template-engine/198c21fb-8b4a-5b3c-a787-7fafcb963965/scratchpad/workshop/icons/trello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748" y="2467508"/>
            <a:ext cx="231343" cy="231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2331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Jira da CNI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83680" y="30632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Refinamento agendado e com as pessoas certas — não um fio de 40 comentários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tomada na conversa é promovida a critério de aceite ou à especificação no mesmo dia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lê o card meses depois não estava lá: o que precisa durar tem que sair da conversa e ir para a especificação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C’S — RON JEFFRIES, 2001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— como saberemos que está pronto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9844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36192" y="1298448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/>
        </p:spPr>
      </p:sp>
      <p:sp>
        <p:nvSpPr>
          <p:cNvPr id="9" name="Text 7"/>
          <p:cNvSpPr/>
          <p:nvPr/>
        </p:nvSpPr>
        <p:spPr>
          <a:xfrm>
            <a:off x="1536192" y="129844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2968" y="1298448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172968" y="129844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057400"/>
            <a:ext cx="960120" cy="9601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0" descr="/tmp/claude-0/-home-user-doc-template-engine/198c21fb-8b4a-5b3c-a787-7fafcb963965/scratchpad/workshop/icons/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592" y="2316632"/>
            <a:ext cx="441655" cy="44165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" y="324612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história carrega critérios de aceite: condições objetivas, que passam ou falham.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eles que transformam intenção em algo verificável — e que alimentam o teste e a homologação.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263640" y="205740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1B2A4A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23317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1" descr="/tmp/claude-0/-home-user-doc-template-engine/198c21fb-8b4a-5b3c-a787-7fafcb963965/scratchpad/workshop/icons/trello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748" y="2467508"/>
            <a:ext cx="231343" cy="231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2331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Jira da CNI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83680" y="30632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no card, em lista curta e testável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“não é possível encaminhar SC com item sem valor unitário”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que não dá para testar não é critério — é desejo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WAKE, 2003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— o teste de qualidade de uma história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538728" cy="2194560"/>
          </a:xfrm>
          <a:prstGeom prst="roundRect">
            <a:avLst>
              <a:gd name="adj" fmla="val 375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81912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554480" y="1709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priorizada e entregue sem esperar outra história na fila.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417320"/>
            <a:ext cx="3538728" cy="2194560"/>
          </a:xfrm>
          <a:prstGeom prst="roundRect">
            <a:avLst>
              <a:gd name="adj" fmla="val 375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581912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285232" y="1709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81144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ponto de partida da conversa — não um contrato fechado de escopo.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55864" y="1417320"/>
            <a:ext cx="3538728" cy="2194560"/>
          </a:xfrm>
          <a:prstGeom prst="roundRect">
            <a:avLst>
              <a:gd name="adj" fmla="val 375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581912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015984" y="1709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11896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valor percebível a alguém. “Criar tabela no banco” não passa.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840480"/>
            <a:ext cx="3538728" cy="2194560"/>
          </a:xfrm>
          <a:prstGeom prst="roundRect">
            <a:avLst>
              <a:gd name="adj" fmla="val 375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005072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1554480" y="4133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consegue estimar. Se não consegue: falta conversa ou sobra tamanho.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25112" y="3840480"/>
            <a:ext cx="3538728" cy="2194560"/>
          </a:xfrm>
          <a:prstGeom prst="roundRect">
            <a:avLst>
              <a:gd name="adj" fmla="val 375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005072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5285232" y="4133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81144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na sprint. Se não cabe, é épico — divida em fatias de valor.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55864" y="3840480"/>
            <a:ext cx="3538728" cy="2194560"/>
          </a:xfrm>
          <a:prstGeom prst="roundRect">
            <a:avLst>
              <a:gd name="adj" fmla="val 375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7032" y="4005072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9015984" y="4133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11896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escrever um teste que passa ou falha. Sem isso, não há “pronto”.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PRÁTICA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na prática — antes e depois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983480" cy="1444752"/>
          </a:xfrm>
          <a:prstGeom prst="roundRect">
            <a:avLst>
              <a:gd name="adj" fmla="val 5696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00200"/>
            <a:ext cx="365760" cy="365760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8" name="Image 0" descr="/tmp/claude-0/-home-user-doc-template-engine/198c21fb-8b4a-5b3c-a787-7fafcb963965/scratchpad/workshop/icons/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698955"/>
            <a:ext cx="168250" cy="168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15270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“Desenvolver a tela de revisão da precificação.”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98448" y="2496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 V e 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15000" y="2139696"/>
            <a:ext cx="457200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309360" y="1417320"/>
            <a:ext cx="5303520" cy="1444752"/>
          </a:xfrm>
          <a:prstGeom prst="roundRect">
            <a:avLst>
              <a:gd name="adj" fmla="val 5696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10528" y="160020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4" name="Image 1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283" y="1698955"/>
            <a:ext cx="168250" cy="1682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13448" y="1527048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Gerente de Suprimentos, quero revisar a precificação encaminhada, para validar o processo antes da aprovação.”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3044952"/>
            <a:ext cx="4983480" cy="1444752"/>
          </a:xfrm>
          <a:prstGeom prst="roundRect">
            <a:avLst>
              <a:gd name="adj" fmla="val 5696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95528" y="3227832"/>
            <a:ext cx="365760" cy="365760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18" name="Image 2" descr="/tmp/claude-0/-home-user-doc-template-engine/198c21fb-8b4a-5b3c-a787-7fafcb963965/scratchpad/workshop/icons/x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3326587"/>
            <a:ext cx="168250" cy="1682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98448" y="31546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sistema deve permitir gerenciar precificações.”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298448" y="4123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 S e 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715000" y="3767328"/>
            <a:ext cx="457200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309360" y="3044952"/>
            <a:ext cx="5303520" cy="1444752"/>
          </a:xfrm>
          <a:prstGeom prst="roundRect">
            <a:avLst>
              <a:gd name="adj" fmla="val 5696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10528" y="3227832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4" name="Image 3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83" y="3326587"/>
            <a:ext cx="168250" cy="1682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13448" y="3154680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em ações: registrar · revisar · devolver · consultar — uma história por ação, cada uma com valor próprio.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94360" y="4672584"/>
            <a:ext cx="4983480" cy="1444752"/>
          </a:xfrm>
          <a:prstGeom prst="roundRect">
            <a:avLst>
              <a:gd name="adj" fmla="val 5696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95528" y="4855464"/>
            <a:ext cx="365760" cy="365760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28" name="Image 4" descr="/tmp/claude-0/-home-user-doc-template-engine/198c21fb-8b4a-5b3c-a787-7fafcb963965/scratchpad/workshop/icons/x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" y="4954219"/>
            <a:ext cx="168250" cy="16825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98448" y="478231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aceite: “a tela deve funcionar corretamente.”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298448" y="57515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 T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715000" y="5394960"/>
            <a:ext cx="457200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6309360" y="4672584"/>
            <a:ext cx="5303520" cy="1444752"/>
          </a:xfrm>
          <a:prstGeom prst="roundRect">
            <a:avLst>
              <a:gd name="adj" fmla="val 5696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510528" y="4855464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4" name="Image 5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283" y="4954219"/>
            <a:ext cx="168250" cy="16825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013448" y="4782312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testável: “não é possível encaminhar SC com item sem valor unitário — o sistema aponta os itens pendentes.”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FERRAMENTA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Épico, história e sub-tarefa no Jira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2743200"/>
            <a:ext cx="1673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de SC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63240" y="1417320"/>
            <a:ext cx="2286000" cy="658368"/>
          </a:xfrm>
          <a:prstGeom prst="roundRect">
            <a:avLst>
              <a:gd name="adj" fmla="val 9722"/>
            </a:avLst>
          </a:prstGeom>
          <a:solidFill>
            <a:srgbClr val="FBF0DC"/>
          </a:solidFill>
          <a:ln/>
        </p:spPr>
      </p:sp>
      <p:sp>
        <p:nvSpPr>
          <p:cNvPr id="9" name="Text 7"/>
          <p:cNvSpPr/>
          <p:nvPr/>
        </p:nvSpPr>
        <p:spPr>
          <a:xfrm>
            <a:off x="3118104" y="14173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precificação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3127248"/>
            <a:ext cx="658368" cy="-1380744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63240" y="2258568"/>
            <a:ext cx="2286000" cy="658368"/>
          </a:xfrm>
          <a:prstGeom prst="roundRect">
            <a:avLst>
              <a:gd name="adj" fmla="val 9722"/>
            </a:avLst>
          </a:prstGeom>
          <a:solidFill>
            <a:srgbClr val="FBF0DC"/>
          </a:solidFill>
          <a:ln/>
        </p:spPr>
      </p:sp>
      <p:sp>
        <p:nvSpPr>
          <p:cNvPr id="12" name="Text 10"/>
          <p:cNvSpPr/>
          <p:nvPr/>
        </p:nvSpPr>
        <p:spPr>
          <a:xfrm>
            <a:off x="3118104" y="225856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precificação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3127248"/>
            <a:ext cx="658368" cy="-539496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63240" y="3099816"/>
            <a:ext cx="2286000" cy="658368"/>
          </a:xfrm>
          <a:prstGeom prst="roundRect">
            <a:avLst>
              <a:gd name="adj" fmla="val 9722"/>
            </a:avLst>
          </a:prstGeom>
          <a:solidFill>
            <a:srgbClr val="FBF0DC"/>
          </a:solidFill>
          <a:ln/>
        </p:spPr>
      </p:sp>
      <p:sp>
        <p:nvSpPr>
          <p:cNvPr id="15" name="Text 13"/>
          <p:cNvSpPr/>
          <p:nvPr/>
        </p:nvSpPr>
        <p:spPr>
          <a:xfrm>
            <a:off x="3118104" y="3099816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ao comprador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3127248"/>
            <a:ext cx="658368" cy="301752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63240" y="3941064"/>
            <a:ext cx="2286000" cy="658368"/>
          </a:xfrm>
          <a:prstGeom prst="roundRect">
            <a:avLst>
              <a:gd name="adj" fmla="val 9722"/>
            </a:avLst>
          </a:prstGeom>
          <a:solidFill>
            <a:srgbClr val="FBF0DC"/>
          </a:solidFill>
          <a:ln/>
        </p:spPr>
      </p:sp>
      <p:sp>
        <p:nvSpPr>
          <p:cNvPr id="18" name="Text 16"/>
          <p:cNvSpPr/>
          <p:nvPr/>
        </p:nvSpPr>
        <p:spPr>
          <a:xfrm>
            <a:off x="3118104" y="3941064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SCs p/ revisão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3127248"/>
            <a:ext cx="658368" cy="1143000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43600" y="1280160"/>
            <a:ext cx="1481328" cy="457200"/>
          </a:xfrm>
          <a:prstGeom prst="roundRect">
            <a:avLst>
              <a:gd name="adj" fmla="val 14000"/>
            </a:avLst>
          </a:prstGeom>
          <a:solidFill>
            <a:srgbClr val="EEF3FA"/>
          </a:solidFill>
          <a:ln/>
        </p:spPr>
      </p:sp>
      <p:sp>
        <p:nvSpPr>
          <p:cNvPr id="21" name="Text 19"/>
          <p:cNvSpPr/>
          <p:nvPr/>
        </p:nvSpPr>
        <p:spPr>
          <a:xfrm>
            <a:off x="5998464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consulta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9240" y="1746504"/>
            <a:ext cx="566928" cy="-237744"/>
          </a:xfrm>
          <a:prstGeom prst="line">
            <a:avLst/>
          </a:prstGeom>
          <a:noFill/>
          <a:ln w="27940">
            <a:solidFill>
              <a:srgbClr val="AABBD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43600" y="1847088"/>
            <a:ext cx="1481328" cy="457200"/>
          </a:xfrm>
          <a:prstGeom prst="roundRect">
            <a:avLst>
              <a:gd name="adj" fmla="val 14000"/>
            </a:avLst>
          </a:prstGeom>
          <a:solidFill>
            <a:srgbClr val="EEF3FA"/>
          </a:solidFill>
          <a:ln/>
        </p:spPr>
      </p:sp>
      <p:sp>
        <p:nvSpPr>
          <p:cNvPr id="24" name="Text 22"/>
          <p:cNvSpPr/>
          <p:nvPr/>
        </p:nvSpPr>
        <p:spPr>
          <a:xfrm>
            <a:off x="5998464" y="1847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tela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49240" y="1746504"/>
            <a:ext cx="566928" cy="329184"/>
          </a:xfrm>
          <a:prstGeom prst="line">
            <a:avLst/>
          </a:prstGeom>
          <a:noFill/>
          <a:ln w="27940">
            <a:solidFill>
              <a:srgbClr val="AABBD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43600" y="2414016"/>
            <a:ext cx="1481328" cy="457200"/>
          </a:xfrm>
          <a:prstGeom prst="roundRect">
            <a:avLst>
              <a:gd name="adj" fmla="val 14000"/>
            </a:avLst>
          </a:prstGeom>
          <a:solidFill>
            <a:srgbClr val="EEF3FA"/>
          </a:solidFill>
          <a:ln/>
        </p:spPr>
      </p:sp>
      <p:sp>
        <p:nvSpPr>
          <p:cNvPr id="27" name="Text 25"/>
          <p:cNvSpPr/>
          <p:nvPr/>
        </p:nvSpPr>
        <p:spPr>
          <a:xfrm>
            <a:off x="5998464" y="24140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automatizado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49240" y="1746504"/>
            <a:ext cx="566928" cy="896112"/>
          </a:xfrm>
          <a:prstGeom prst="line">
            <a:avLst/>
          </a:prstGeom>
          <a:noFill/>
          <a:ln w="27940">
            <a:solidFill>
              <a:srgbClr val="AABBD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852160" y="30632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sub-tarefas técnicas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 time, sem formato de história)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01000" y="1463040"/>
            <a:ext cx="3611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agrupa um objetivo grande; não entra na sprint como item único.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é a fatia fina que entrega valor — é o que se prioriza e se aceita.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Sub-tarefa é organização interna do time; não precisa de ator/benefício.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card carrega: resumo, critérios de aceite e o link para a especificação.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94360" y="5257800"/>
            <a:ext cx="7223760" cy="868680"/>
          </a:xfrm>
          <a:prstGeom prst="roundRect">
            <a:avLst>
              <a:gd name="adj" fmla="val 9474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376672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 </a:t>
            </a:r>
            <a:pPr indent="0" marL="0"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dá para demonstrar ao negócio no fim da sprint, provavelmente não é uma história — é épico ou é sub-tarefa.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420624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não é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4251960" y="3794760"/>
            <a:ext cx="1649578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6" name="Text 4"/>
          <p:cNvSpPr/>
          <p:nvPr/>
        </p:nvSpPr>
        <p:spPr>
          <a:xfrm>
            <a:off x="4251960" y="3794760"/>
            <a:ext cx="16495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história é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47842" y="3794760"/>
            <a:ext cx="1435608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8" name="Text 6"/>
          <p:cNvSpPr/>
          <p:nvPr/>
        </p:nvSpPr>
        <p:spPr>
          <a:xfrm>
            <a:off x="6047842" y="379476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ela não 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29754" y="3794760"/>
            <a:ext cx="2291486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0" name="Text 8"/>
          <p:cNvSpPr/>
          <p:nvPr/>
        </p:nvSpPr>
        <p:spPr>
          <a:xfrm>
            <a:off x="7629754" y="3794760"/>
            <a:ext cx="22914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artefatos, três papéis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4325112"/>
            <a:ext cx="2505456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4325112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mito do “ágil não documenta”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4325112"/>
            <a:ext cx="1506931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4325112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saudável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56955" y="4325112"/>
            <a:ext cx="1506931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6" name="Text 14"/>
          <p:cNvSpPr/>
          <p:nvPr/>
        </p:nvSpPr>
        <p:spPr>
          <a:xfrm>
            <a:off x="8556955" y="4325112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do tempo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51960" y="489204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48920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min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uma história é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82496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tmp/claude-0/-home-user-doc-template-engine/198c21fb-8b4a-5b3c-a787-7fafcb963965/scratchpad/workshop/icons/messag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1820753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0472" y="168249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de conversa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50392" y="2331720"/>
            <a:ext cx="4882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token que garante que a conversa certa vai acontecer antes da construção.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08776" y="146304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37376" y="1682496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/tmp/claude-0/-home-user-doc-template-engine/198c21fb-8b4a-5b3c-a787-7fafcb963965/scratchpad/workshop/icons/fla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633" y="1820753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04888" y="168249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de priorização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64808" y="2331720"/>
            <a:ext cx="4882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item que o negócio ordena por valor no backlog — e que o time estima.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94360" y="379476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014216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/tmp/claude-0/-home-user-doc-template-engine/198c21fb-8b4a-5b3c-a787-7fafcb963965/scratchpad/workshop/icons/c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152473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90472" y="401421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 temporário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50392" y="4663440"/>
            <a:ext cx="4882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Negociável até entrar na sprint; congelar cedo demais desperdiça aprendizado.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08776" y="379476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37376" y="4014216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3" descr="/tmp/claude-0/-home-user-doc-template-engine/198c21fb-8b4a-5b3c-a787-7fafcb963965/scratchpad/workshop/icons/archiv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633" y="4152473"/>
            <a:ext cx="235549" cy="23554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04888" y="401421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transitório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464808" y="4663440"/>
            <a:ext cx="4882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Cumpre o papel e é arquivada na entrega. Histórias nascem para morrer.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uma história não é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36776"/>
            <a:ext cx="512064" cy="512064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8" name="Image 0" descr="/tmp/claude-0/-home-user-doc-template-engine/198c21fb-8b4a-5b3c-a787-7fafcb963965/scratchpad/workshop/icons/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1775033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0472" y="163677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escopo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50392" y="2286000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é negociável por definição (INVEST). Contrato se faz com critérios aceitos, não com o texto do card.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08776" y="141732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37376" y="1636776"/>
            <a:ext cx="512064" cy="512064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13" name="Image 1" descr="/tmp/claude-0/-home-user-doc-template-engine/198c21fb-8b4a-5b3c-a787-7fafcb963965/scratchpad/workshop/icons/lay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633" y="1775033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04888" y="163677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64808" y="2286000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Campos, regras, estados, erros e permissões não cabem — nem devem caber — num card.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94360" y="36118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3831336"/>
            <a:ext cx="512064" cy="512064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18" name="Image 2" descr="/tmp/claude-0/-home-user-doc-template-engine/198c21fb-8b4a-5b3c-a787-7fafcb963965/scratchpad/workshop/icons/boo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3969593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90472" y="383133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 sistema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50392" y="4480560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opera ou mantém um sistema lendo cards fechados de três anos atrás.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08776" y="36118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37376" y="3831336"/>
            <a:ext cx="512064" cy="512064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23" name="Image 3" descr="/tmp/claude-0/-home-user-doc-template-engine/198c21fb-8b4a-5b3c-a787-7fafcb963965/scratchpad/workshop/icons/databas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633" y="3969593"/>
            <a:ext cx="235549" cy="23554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04888" y="383133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de requisitos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464808" y="4480560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fechado não se atualiza. Requisito vivo em card morto é requisito perdido.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94360" y="5897880"/>
            <a:ext cx="11000232" cy="566928"/>
          </a:xfrm>
          <a:prstGeom prst="roundRect">
            <a:avLst>
              <a:gd name="adj" fmla="val 12903"/>
            </a:avLst>
          </a:prstGeom>
          <a:solidFill>
            <a:srgbClr val="1B2A4A"/>
          </a:solidFill>
          <a:ln/>
        </p:spPr>
      </p:sp>
      <p:sp>
        <p:nvSpPr>
          <p:cNvPr id="27" name="Text 21"/>
          <p:cNvSpPr/>
          <p:nvPr/>
        </p:nvSpPr>
        <p:spPr>
          <a:xfrm>
            <a:off x="868680" y="58978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 resposta para “onde está definido o comportamento do sistema?” for “no Jira”… não há especificação.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O SLIDE PARA IMPRIMIR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artefatos, três papéis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1100023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063240"/>
                <a:gridCol w="3310128"/>
                <a:gridCol w="3209544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História (card no Jira)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Especificação funcional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Documentação de sistema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Planejar, priorizar e conversar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comportamento verificável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Operar, manter e integrar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 que vamos fazer e por quê?”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“Como o sistema se comporta, exatamente?”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“Como o sistema funciona hoje, como um todo?”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 útil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 a semanas — morre na entrega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 da funcionalidade — atualizada a cada mudança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 do produto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consome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PO, time, gestão do backlog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Desenvolvimento, QA, negócio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Sustentação, novos times, auditoria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vive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Repositório de especificações (versionado)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/ repositório do produto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MAL-ENTENDIDO CLÁSSICO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“Ágil não documenta” — o mito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5257800" cy="3657600"/>
          </a:xfrm>
          <a:prstGeom prst="roundRect">
            <a:avLst>
              <a:gd name="adj" fmla="val 225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em funcionamento mais que documentação abrangente.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34440" y="33832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 seja: embora haja valor nos itens à direita, valorizamos mais os itens à esquerda.”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34440" y="4434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Manifesto Ágil, 2001 (texto integral)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0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7084" y="1586484"/>
            <a:ext cx="210312" cy="2103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0" y="14264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“Mais que” não é “em vez de”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0" y="1737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documentação necessária continua necessária. O manifesto compara valores; não anula o da direita.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2761488"/>
            <a:ext cx="457200" cy="457200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16" name="Image 1" descr="/tmp/claude-0/-home-user-doc-template-engine/198c21fb-8b4a-5b3c-a787-7fafcb963965/scratchpad/workshop/icons/x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084" y="2884932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58000" y="27249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ágil eliminou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858000" y="30358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documento que ninguém lê: escrito cedo demais, detalhado demais, desatualizado no dia seguinte.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63640" y="4059936"/>
            <a:ext cx="457200" cy="457200"/>
          </a:xfrm>
          <a:prstGeom prst="ellipse">
            <a:avLst/>
          </a:prstGeom>
          <a:solidFill>
            <a:srgbClr val="C77F1A"/>
          </a:solidFill>
          <a:ln/>
        </p:spPr>
      </p:sp>
      <p:pic>
        <p:nvPicPr>
          <p:cNvPr id="20" name="Image 2" descr="/tmp/claude-0/-home-user-doc-template-engine/198c21fb-8b4a-5b3c-a787-7fafcb963965/scratchpad/workshop/icons/c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084" y="4183380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0" y="40233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história faz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858000" y="433425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 o detalhe para o momento certo (just in time) e para o lugar certo — ela não o cancela.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94360" y="548640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ambiente com auditoria e conformidade — como o Sistema Indústria — documentação não é opcional: é requisito.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COMO AS PEÇAS SE ENCAIXAM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saudável do requisito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precisa de algo novo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77640" y="2148840"/>
            <a:ext cx="457200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146304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6459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no Jira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754880" y="2148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história: planejar e priorizar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63840" y="2148840"/>
            <a:ext cx="457200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66760" y="146304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16459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41080" y="2148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refinamento com negócio, dev e QA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324612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3410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8680" y="3931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que passam ou falham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77640" y="3931920"/>
            <a:ext cx="457200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480560" y="324612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4290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57800" y="3410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viva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754880" y="3931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campos, regras, estados, erros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63840" y="3931920"/>
            <a:ext cx="457200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366760" y="324612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49640" y="34290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8549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44000" y="3410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641080" y="3931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passam; documentação atualizada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0035540" y="2852928"/>
            <a:ext cx="0" cy="210312"/>
          </a:xfrm>
          <a:prstGeom prst="line">
            <a:avLst/>
          </a:prstGeom>
          <a:noFill/>
          <a:ln w="22225">
            <a:solidFill>
              <a:srgbClr val="C77F1A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2263140" y="3063240"/>
            <a:ext cx="7772400" cy="0"/>
          </a:xfrm>
          <a:prstGeom prst="line">
            <a:avLst/>
          </a:prstGeom>
          <a:noFill/>
          <a:ln w="22225">
            <a:solidFill>
              <a:srgbClr val="C77F1A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263140" y="3063240"/>
            <a:ext cx="0" cy="164592"/>
          </a:xfrm>
          <a:prstGeom prst="line">
            <a:avLst/>
          </a:prstGeom>
          <a:noFill/>
          <a:ln w="27940">
            <a:solidFill>
              <a:srgbClr val="C77F1A"/>
            </a:solidFill>
            <a:prstDash val="dash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94360" y="52578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o requisito?  novo card (passos 2–4)  →  a MESMA especificação é atualizada (passo 5)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2103120" y="5760720"/>
            <a:ext cx="7955280" cy="621792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</p:sp>
      <p:sp>
        <p:nvSpPr>
          <p:cNvPr id="45" name="Text 43"/>
          <p:cNvSpPr/>
          <p:nvPr/>
        </p:nvSpPr>
        <p:spPr>
          <a:xfrm>
            <a:off x="2103120" y="576072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card fecha. A especificação e a documentação ficam.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MUITAS HISTÓRIAS, UMA FUNCIONALIDADE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linha do tempo: histórias passam, a documentação cresce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tmp/claude-0/-home-user-doc-template-engine/198c21fb-8b4a-5b3c-a787-7fafcb963965/scratchpad/workshop/icons/trell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" y="1945843"/>
            <a:ext cx="168250" cy="168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2677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248716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no Jira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94360" y="30358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tmp/claude-0/-home-user-doc-template-engine/198c21fb-8b4a-5b3c-a787-7fafcb963965/scratchpad/workshop/icons/za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" y="3134563"/>
            <a:ext cx="168250" cy="168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345643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94360" y="36758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hoje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94360" y="434340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2" descr="/tmp/claude-0/-home-user-doc-template-engine/198c21fb-8b4a-5b3c-a787-7fafcb963965/scratchpad/workshop/icons/fi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442155"/>
            <a:ext cx="168250" cy="1682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4360" y="47640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594360" y="49834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viva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2240280" y="1572768"/>
            <a:ext cx="9326880" cy="0"/>
          </a:xfrm>
          <a:prstGeom prst="line">
            <a:avLst/>
          </a:prstGeom>
          <a:noFill/>
          <a:ln w="19050">
            <a:solidFill>
              <a:srgbClr val="D7E2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310128" y="1522476"/>
            <a:ext cx="100584" cy="100584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20" name="Text 15"/>
          <p:cNvSpPr/>
          <p:nvPr/>
        </p:nvSpPr>
        <p:spPr>
          <a:xfrm>
            <a:off x="2240280" y="12984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23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687568" y="1522476"/>
            <a:ext cx="100584" cy="100584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22" name="Text 17"/>
          <p:cNvSpPr/>
          <p:nvPr/>
        </p:nvSpPr>
        <p:spPr>
          <a:xfrm>
            <a:off x="4617720" y="12984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25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8065008" y="1522476"/>
            <a:ext cx="100584" cy="100584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24" name="Text 19"/>
          <p:cNvSpPr/>
          <p:nvPr/>
        </p:nvSpPr>
        <p:spPr>
          <a:xfrm>
            <a:off x="6995160" y="12984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28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10442448" y="1522476"/>
            <a:ext cx="100584" cy="100584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26" name="Text 21"/>
          <p:cNvSpPr/>
          <p:nvPr/>
        </p:nvSpPr>
        <p:spPr>
          <a:xfrm>
            <a:off x="9372600" y="12984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31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2240280" y="1810512"/>
            <a:ext cx="2240280" cy="896112"/>
          </a:xfrm>
          <a:prstGeom prst="roundRect">
            <a:avLst>
              <a:gd name="adj" fmla="val 816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359152" y="19385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4"/>
          <p:cNvSpPr/>
          <p:nvPr/>
        </p:nvSpPr>
        <p:spPr>
          <a:xfrm>
            <a:off x="2624328" y="18836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precificação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2624328" y="24140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card fechado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3360420" y="2761488"/>
            <a:ext cx="0" cy="256032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4617720" y="1810512"/>
            <a:ext cx="2240280" cy="896112"/>
          </a:xfrm>
          <a:prstGeom prst="roundRect">
            <a:avLst>
              <a:gd name="adj" fmla="val 816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736592" y="19385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29"/>
          <p:cNvSpPr/>
          <p:nvPr/>
        </p:nvSpPr>
        <p:spPr>
          <a:xfrm>
            <a:off x="5001768" y="18836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ao comprador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001768" y="24140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card fechado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5737860" y="2761488"/>
            <a:ext cx="0" cy="256032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6995160" y="1810512"/>
            <a:ext cx="2240280" cy="896112"/>
          </a:xfrm>
          <a:prstGeom prst="roundRect">
            <a:avLst>
              <a:gd name="adj" fmla="val 816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114032" y="19385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9" name="Text 34"/>
          <p:cNvSpPr/>
          <p:nvPr/>
        </p:nvSpPr>
        <p:spPr>
          <a:xfrm>
            <a:off x="7379208" y="18836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Anexar propostas em lote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7379208" y="24140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card fechado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8115300" y="2761488"/>
            <a:ext cx="0" cy="256032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42" name="Shape 37"/>
          <p:cNvSpPr/>
          <p:nvPr/>
        </p:nvSpPr>
        <p:spPr>
          <a:xfrm>
            <a:off x="9372600" y="1810512"/>
            <a:ext cx="2240280" cy="896112"/>
          </a:xfrm>
          <a:prstGeom prst="roundRect">
            <a:avLst>
              <a:gd name="adj" fmla="val 8163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491472" y="19385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4" name="Text 39"/>
          <p:cNvSpPr/>
          <p:nvPr/>
        </p:nvSpPr>
        <p:spPr>
          <a:xfrm>
            <a:off x="9756648" y="18836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devolução ao comprador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9756648" y="24140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em sprint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10492740" y="2761488"/>
            <a:ext cx="0" cy="256032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47" name="Shape 42"/>
          <p:cNvSpPr/>
          <p:nvPr/>
        </p:nvSpPr>
        <p:spPr>
          <a:xfrm>
            <a:off x="2240280" y="3072384"/>
            <a:ext cx="22402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2286000" y="307238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precificar SC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4617720" y="3072384"/>
            <a:ext cx="2240280" cy="566928"/>
          </a:xfrm>
          <a:prstGeom prst="rect">
            <a:avLst/>
          </a:prstGeom>
          <a:solidFill>
            <a:srgbClr val="2436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663440" y="307238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devolver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6995160" y="3072384"/>
            <a:ext cx="2240280" cy="566928"/>
          </a:xfrm>
          <a:prstGeom prst="rect">
            <a:avLst/>
          </a:prstGeom>
          <a:solidFill>
            <a:srgbClr val="3149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7040880" y="307238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anexos em lote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9372600" y="3072384"/>
            <a:ext cx="2240280" cy="566928"/>
          </a:xfrm>
          <a:prstGeom prst="rect">
            <a:avLst/>
          </a:prstGeom>
          <a:solidFill>
            <a:srgbClr val="C77F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9418320" y="307238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notificar</a:t>
            </a:r>
            <a:endParaRPr lang="en-US" sz="1050" dirty="0"/>
          </a:p>
        </p:txBody>
      </p:sp>
      <p:sp>
        <p:nvSpPr>
          <p:cNvPr id="55" name="Shape 50"/>
          <p:cNvSpPr/>
          <p:nvPr/>
        </p:nvSpPr>
        <p:spPr>
          <a:xfrm>
            <a:off x="11576304" y="3355848"/>
            <a:ext cx="201168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56" name="Shape 51"/>
          <p:cNvSpPr/>
          <p:nvPr/>
        </p:nvSpPr>
        <p:spPr>
          <a:xfrm>
            <a:off x="3360420" y="3694176"/>
            <a:ext cx="0" cy="1399032"/>
          </a:xfrm>
          <a:prstGeom prst="line">
            <a:avLst/>
          </a:prstGeom>
          <a:noFill/>
          <a:ln w="27940">
            <a:solidFill>
              <a:srgbClr val="2E7D5B"/>
            </a:solidFill>
            <a:prstDash val="dash"/>
            <a:tailEnd type="triangle"/>
          </a:ln>
        </p:spPr>
      </p:sp>
      <p:sp>
        <p:nvSpPr>
          <p:cNvPr id="57" name="Text 52"/>
          <p:cNvSpPr/>
          <p:nvPr/>
        </p:nvSpPr>
        <p:spPr>
          <a:xfrm>
            <a:off x="3451860" y="37307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v1</a:t>
            </a:r>
            <a:endParaRPr lang="en-US" sz="850" dirty="0"/>
          </a:p>
        </p:txBody>
      </p:sp>
      <p:sp>
        <p:nvSpPr>
          <p:cNvPr id="58" name="Shape 53"/>
          <p:cNvSpPr/>
          <p:nvPr/>
        </p:nvSpPr>
        <p:spPr>
          <a:xfrm>
            <a:off x="2674620" y="5148072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2E7D5B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2674620" y="5148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5737860" y="3694176"/>
            <a:ext cx="0" cy="1152144"/>
          </a:xfrm>
          <a:prstGeom prst="line">
            <a:avLst/>
          </a:prstGeom>
          <a:noFill/>
          <a:ln w="27940">
            <a:solidFill>
              <a:srgbClr val="2E7D5B"/>
            </a:solidFill>
            <a:prstDash val="dash"/>
            <a:tailEnd type="triangle"/>
          </a:ln>
        </p:spPr>
      </p:sp>
      <p:sp>
        <p:nvSpPr>
          <p:cNvPr id="61" name="Text 56"/>
          <p:cNvSpPr/>
          <p:nvPr/>
        </p:nvSpPr>
        <p:spPr>
          <a:xfrm>
            <a:off x="5829300" y="37307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→ v2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5052060" y="5148072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5052060" y="4901184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2E7D5B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5052060" y="4901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50" dirty="0"/>
          </a:p>
        </p:txBody>
      </p:sp>
      <p:sp>
        <p:nvSpPr>
          <p:cNvPr id="65" name="Shape 60"/>
          <p:cNvSpPr/>
          <p:nvPr/>
        </p:nvSpPr>
        <p:spPr>
          <a:xfrm>
            <a:off x="8115300" y="3694176"/>
            <a:ext cx="0" cy="905256"/>
          </a:xfrm>
          <a:prstGeom prst="line">
            <a:avLst/>
          </a:prstGeom>
          <a:noFill/>
          <a:ln w="27940">
            <a:solidFill>
              <a:srgbClr val="2E7D5B"/>
            </a:solidFill>
            <a:prstDash val="dash"/>
            <a:tailEnd type="triangle"/>
          </a:ln>
        </p:spPr>
      </p:sp>
      <p:sp>
        <p:nvSpPr>
          <p:cNvPr id="66" name="Text 61"/>
          <p:cNvSpPr/>
          <p:nvPr/>
        </p:nvSpPr>
        <p:spPr>
          <a:xfrm>
            <a:off x="8206740" y="37307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→ v3</a:t>
            </a:r>
            <a:endParaRPr lang="en-US" sz="850" dirty="0"/>
          </a:p>
        </p:txBody>
      </p:sp>
      <p:sp>
        <p:nvSpPr>
          <p:cNvPr id="67" name="Shape 62"/>
          <p:cNvSpPr/>
          <p:nvPr/>
        </p:nvSpPr>
        <p:spPr>
          <a:xfrm>
            <a:off x="7429500" y="5148072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7429500" y="4901184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7429500" y="4654296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2E7D5B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7429500" y="46542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50" dirty="0"/>
          </a:p>
        </p:txBody>
      </p:sp>
      <p:sp>
        <p:nvSpPr>
          <p:cNvPr id="71" name="Shape 66"/>
          <p:cNvSpPr/>
          <p:nvPr/>
        </p:nvSpPr>
        <p:spPr>
          <a:xfrm>
            <a:off x="10492740" y="3694176"/>
            <a:ext cx="0" cy="658368"/>
          </a:xfrm>
          <a:prstGeom prst="line">
            <a:avLst/>
          </a:prstGeom>
          <a:noFill/>
          <a:ln w="27940">
            <a:solidFill>
              <a:srgbClr val="2E7D5B"/>
            </a:solidFill>
            <a:prstDash val="dash"/>
            <a:tailEnd type="triangle"/>
          </a:ln>
        </p:spPr>
      </p:sp>
      <p:sp>
        <p:nvSpPr>
          <p:cNvPr id="72" name="Text 67"/>
          <p:cNvSpPr/>
          <p:nvPr/>
        </p:nvSpPr>
        <p:spPr>
          <a:xfrm>
            <a:off x="9212580" y="37307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→ v4</a:t>
            </a:r>
            <a:endParaRPr lang="en-US" sz="850" dirty="0"/>
          </a:p>
        </p:txBody>
      </p:sp>
      <p:sp>
        <p:nvSpPr>
          <p:cNvPr id="73" name="Shape 68"/>
          <p:cNvSpPr/>
          <p:nvPr/>
        </p:nvSpPr>
        <p:spPr>
          <a:xfrm>
            <a:off x="9806940" y="5148072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9806940" y="4901184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9806940" y="4654296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9806940" y="4407408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2E7D5B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9806940" y="44074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950" dirty="0"/>
          </a:p>
        </p:txBody>
      </p:sp>
      <p:sp>
        <p:nvSpPr>
          <p:cNvPr id="78" name="Shape 73"/>
          <p:cNvSpPr/>
          <p:nvPr/>
        </p:nvSpPr>
        <p:spPr>
          <a:xfrm>
            <a:off x="2240280" y="5413248"/>
            <a:ext cx="9326880" cy="0"/>
          </a:xfrm>
          <a:prstGeom prst="line">
            <a:avLst/>
          </a:prstGeom>
          <a:noFill/>
          <a:ln w="19050">
            <a:solidFill>
              <a:srgbClr val="D7E2EF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594360" y="5715000"/>
            <a:ext cx="11000232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80" name="Text 75"/>
          <p:cNvSpPr/>
          <p:nvPr/>
        </p:nvSpPr>
        <p:spPr>
          <a:xfrm>
            <a:off x="868680" y="5715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histórias. Uma funcionalidade. Uma especificação — na versão 4, sem nenhum documento paralelo.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420624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documentação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ter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4251960" y="3794760"/>
            <a:ext cx="2077517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6" name="Text 4"/>
          <p:cNvSpPr/>
          <p:nvPr/>
        </p:nvSpPr>
        <p:spPr>
          <a:xfrm>
            <a:off x="4251960" y="3794760"/>
            <a:ext cx="20775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requisitos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75781" y="3794760"/>
            <a:ext cx="2006194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8" name="Text 6"/>
          <p:cNvSpPr/>
          <p:nvPr/>
        </p:nvSpPr>
        <p:spPr>
          <a:xfrm>
            <a:off x="6475781" y="3794760"/>
            <a:ext cx="20061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qualidades do requisito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28278" y="3794760"/>
            <a:ext cx="1292962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0" name="Text 8"/>
          <p:cNvSpPr/>
          <p:nvPr/>
        </p:nvSpPr>
        <p:spPr>
          <a:xfrm>
            <a:off x="8628278" y="3794760"/>
            <a:ext cx="12929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componentes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67544" y="3794760"/>
            <a:ext cx="1578254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67544" y="3794760"/>
            <a:ext cx="15782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Dado–Quando–Então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4325112"/>
            <a:ext cx="1435608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4325112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e erros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33872" y="4325112"/>
            <a:ext cx="1435608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6" name="Text 14"/>
          <p:cNvSpPr/>
          <p:nvPr/>
        </p:nvSpPr>
        <p:spPr>
          <a:xfrm>
            <a:off x="5833872" y="4325112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51960" y="489204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48920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 min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A DISCIPLINA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requisitos em uma tela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não “se escreve”: se descobre, se analisa, se especifica, se valida e se gerencia.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2075688" cy="2651760"/>
          </a:xfrm>
          <a:prstGeom prst="roundRect">
            <a:avLst>
              <a:gd name="adj" fmla="val 3965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6736" y="2194560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0" descr="/tmp/claude-0/-home-user-doc-template-engine/198c21fb-8b4a-5b3c-a787-7fafcb963965/scratchpad/workshop/icons/sear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620" y="2362444"/>
            <a:ext cx="286024" cy="2860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92608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Elicitação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8952" y="3310128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com quem usa e com quem opera — não presumir.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88336" y="3291840"/>
            <a:ext cx="146304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52928" y="1965960"/>
            <a:ext cx="2075688" cy="2651760"/>
          </a:xfrm>
          <a:prstGeom prst="roundRect">
            <a:avLst>
              <a:gd name="adj" fmla="val 3965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75304" y="2194560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1" descr="/tmp/claude-0/-home-user-doc-template-engine/198c21fb-8b4a-5b3c-a787-7fafcb963965/scratchpad/workshop/icons/filte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188" y="2362444"/>
            <a:ext cx="286024" cy="2860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44368" y="292608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017520" y="3310128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conflitos, dependências e prioridades entre requisitos.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946904" y="3291840"/>
            <a:ext cx="146304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111496" y="1965960"/>
            <a:ext cx="2075688" cy="2651760"/>
          </a:xfrm>
          <a:prstGeom prst="roundRect">
            <a:avLst>
              <a:gd name="adj" fmla="val 3965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833872" y="2194560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2" descr="/tmp/claude-0/-home-user-doc-template-engine/198c21fb-8b4a-5b3c-a787-7fafcb963965/scratchpad/workshop/icons/edi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756" y="2362444"/>
            <a:ext cx="286024" cy="2860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02936" y="292608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5276088" y="3310128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de forma verificável: campos, regras, cenários, estados.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205472" y="3291840"/>
            <a:ext cx="146304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370064" y="1965960"/>
            <a:ext cx="2075688" cy="2651760"/>
          </a:xfrm>
          <a:prstGeom prst="roundRect">
            <a:avLst>
              <a:gd name="adj" fmla="val 3965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092440" y="2194560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7" name="Image 3" descr="/tmp/claude-0/-home-user-doc-template-engine/198c21fb-8b4a-5b3c-a787-7fafcb963965/scratchpad/workshop/icons/ey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324" y="2362444"/>
            <a:ext cx="286024" cy="2860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61504" y="292608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534656" y="3310128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com o negócio ANTES de construir. A etapa mais barata.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464040" y="3291840"/>
            <a:ext cx="146304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9628632" y="1965960"/>
            <a:ext cx="2075688" cy="2651760"/>
          </a:xfrm>
          <a:prstGeom prst="roundRect">
            <a:avLst>
              <a:gd name="adj" fmla="val 3965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0351008" y="2194560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3" name="Image 4" descr="/tmp/claude-0/-home-user-doc-template-engine/198c21fb-8b4a-5b3c-a787-7fafcb963965/scratchpad/workshop/icons/refres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8892" y="2362444"/>
            <a:ext cx="286024" cy="28602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720072" y="292608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9793224" y="3310128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Versionar, rastrear e manter vivo enquanto o sistema viver.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94360" y="4983480"/>
            <a:ext cx="11000232" cy="1051560"/>
          </a:xfrm>
          <a:prstGeom prst="roundRect">
            <a:avLst>
              <a:gd name="adj" fmla="val 7826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868680" y="51389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gestor se importa: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achado na especificação custa horas; achado em homologação custa dias; em produção, custa sprints — e reputação. Validar cedo é a maior alavanca de custo do ciclo.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94360" y="6144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Referências: Sommerville, Software Engineering (10ª ed., 2016) · ISO/IEC/IEEE 29148:2018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ISO/IEC/IEEE 29148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requisito bem escrito é…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538728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618488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tmp/claude-0/-home-user-doc-template-engine/198c21fb-8b4a-5b3c-a787-7fafcb963965/scratchpad/workshop/icons/ey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98" y="1746870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6184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ambíguo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0392" y="22585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leitura possível. “O sistema avalia automaticamente” não diz o critério — cada leitor inventa um.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5112" y="1417320"/>
            <a:ext cx="3538728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44568" y="1618488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/tmp/claude-0/-home-user-doc-template-engine/198c21fb-8b4a-5b3c-a787-7fafcb963965/scratchpad/workshop/icons/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950" y="1746870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48072" y="16184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Verificável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81144" y="22585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testar: passa ou falha. Se não dá para demonstrar, não dá para aceitar.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55864" y="1417320"/>
            <a:ext cx="3538728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1618488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/tmp/claude-0/-home-user-doc-template-engine/198c21fb-8b4a-5b3c-a787-7fafcb963965/scratchpad/workshop/icons/targe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702" y="1746870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78824" y="16184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Atômico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11896" y="22585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exigência por sentença. “Obrigatório, único e com aviso” são três requisitos disfarçados de um.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4360" y="3794760"/>
            <a:ext cx="3538728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13816" y="3995928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3" descr="/tmp/claude-0/-home-user-doc-template-engine/198c21fb-8b4a-5b3c-a787-7fafcb963965/scratchpad/workshop/icons/column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98" y="4124310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39959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50392" y="46360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contradiz outro requisito — nem outra seção do próprio documento.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25112" y="3794760"/>
            <a:ext cx="3538728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44568" y="3995928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8" name="Image 4" descr="/tmp/claude-0/-home-user-doc-template-engine/198c21fb-8b4a-5b3c-a787-7fafcb963965/scratchpad/workshop/icons/layers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950" y="4124310"/>
            <a:ext cx="218724" cy="2187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48072" y="39959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581144" y="46360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os casos de erro e os limites — não só o caminho feliz.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055864" y="3794760"/>
            <a:ext cx="3538728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75320" y="3995928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3" name="Image 5" descr="/tmp/claude-0/-home-user-doc-template-engine/198c21fb-8b4a-5b3c-a787-7fafcb963965/scratchpad/workshop/icons/lin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702" y="4124310"/>
            <a:ext cx="218724" cy="2187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78824" y="39959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Rastreável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311896" y="46360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ID estável: liga-se à história, ao teste e ao código que o implementa.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uma especificação funcional precisa 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2704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25880" y="1618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funcionalidade entrega, em 1–2 frases de negócio.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4992" y="141732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52704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142232" y="1618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e dados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obrigatoriedade e validação de cada campo — em tabela.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41732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52704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958584" y="1618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2512" y="2331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Invariantes atômicas, sem reação embutida (“o quê”, não “o que acontece”).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97696" y="141732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52704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774936" y="1618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verificáveis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98864" y="2331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Felizes E negativos, em forma passa/falha (Dado–Quando–Então).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90448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1325880" y="3995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9808" y="4709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vida: situações e transições permitidas — quem pode, quando.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379476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390448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4142232" y="3995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e permissões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566160" y="4709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pode o quê, em cada estado da funcionalidade.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81344" y="379476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90448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958584" y="3995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e erros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382512" y="4709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definidos e catalogados — não improvisados no código.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97696" y="3794760"/>
            <a:ext cx="2679192" cy="2148840"/>
          </a:xfrm>
          <a:prstGeom prst="roundRect">
            <a:avLst>
              <a:gd name="adj" fmla="val 383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2288" y="390448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9774936" y="3995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198864" y="4709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estável ligado à história (Jira), ao teste e à versão entregue.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DUAS NATUREZAS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× não-funcional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tmp/claude-0/-home-user-doc-template-engine/198c21fb-8b4a-5b3c-a787-7fafcb963965/scratchpad/workshop/icons/za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885493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— o que o sistema faz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96112" y="2514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Comportamentos e regras observáveis pelo negócio.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96112" y="3154680"/>
            <a:ext cx="477316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143000" y="3383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5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“Ao encaminhar, o sistema gera o Mapa de Precificação e o anexa ao processo.”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17920" y="146304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rgbClr val="C77F1A"/>
          </a:solidFill>
          <a:ln/>
        </p:spPr>
      </p:sp>
      <p:pic>
        <p:nvPicPr>
          <p:cNvPr id="15" name="Image 1" descr="/tmp/claude-0/-home-user-doc-template-engine/198c21fb-8b4a-5b3c-a787-7fafcb963965/scratchpad/workshop/icons/slid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73" y="1885493"/>
            <a:ext cx="252374" cy="2523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Não-funcional — quão bem ele faz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519672" y="2514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Desempenho, segurança, disponibilidade, auditoria, usabilidade.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519672" y="3154680"/>
            <a:ext cx="477316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766560" y="3383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5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consulta de SCs responde em até 3 segundos com 50 usuários simultâneos.”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94360" y="5349240"/>
            <a:ext cx="11000232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21" name="Text 17"/>
          <p:cNvSpPr/>
          <p:nvPr/>
        </p:nvSpPr>
        <p:spPr>
          <a:xfrm>
            <a:off x="868680" y="5349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não-funcionais vivem num catálogo próprio, valem para o produto inteiro — e não como frase solta dentro de uma história.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CRITÉRIOS QUE VIRAM TESTES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– Quando – Então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6172200" cy="3931920"/>
          </a:xfrm>
          <a:prstGeom prst="roundRect">
            <a:avLst>
              <a:gd name="adj" fmla="val 2326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Cenário: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encaminhamento sem valor unitário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a SC 4711 tem itens sem valor unitário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0540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comprador aciona “Encaminhar”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71246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Então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encaminhamento é bloqueado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37083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sistema lista os itens pendentes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86600" y="15544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0" descr="/tmp/claude-0/-home-user-doc-template-engine/198c21fb-8b4a-5b3c-a787-7fafcb963965/scratchpad/workshop/icons/boo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0044" y="1677924"/>
            <a:ext cx="210312" cy="2103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80960" y="1517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negócio, estrutura de teste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680960" y="1828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— Dan North, “Introducing BDD” (2006). O negócio lê; o QA executa.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086600" y="2926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1" descr="/tmp/claude-0/-home-user-doc-template-engine/198c21fb-8b4a-5b3c-a787-7fafcb963965/scratchpad/workshop/icons/us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44" y="3049524"/>
            <a:ext cx="210312" cy="2103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80960" y="28895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texto, três públicos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680960" y="32004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cenário orienta dev, teste e homologação (Specification by Example — Adzic, 2011).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086600" y="4297680"/>
            <a:ext cx="457200" cy="457200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21" name="Image 2" descr="/tmp/claude-0/-home-user-doc-template-engine/198c21fb-8b4a-5b3c-a787-7fafcb963965/scratchpad/workshop/icons/aler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044" y="4421124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680960" y="4261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os cenários negativos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680960" y="45720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no caminho triste que o sistema quebra — e é ele que nunca é escrito.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94360" y="562356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cenário acima é executável como teste automatizado — o critério de aceite vira verificação permanente.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QUE SEMPRE FALTA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e casos de erro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920240" cy="658368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32888" y="2249424"/>
            <a:ext cx="237744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1920240"/>
            <a:ext cx="1920240" cy="658368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9202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27448" y="2249424"/>
            <a:ext cx="237744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83480" y="1920240"/>
            <a:ext cx="1920240" cy="658368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9202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revisão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22008" y="2249424"/>
            <a:ext cx="237744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78040" y="1920240"/>
            <a:ext cx="1920240" cy="658368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9202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16568" y="2249424"/>
            <a:ext cx="237744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72600" y="1920240"/>
            <a:ext cx="1920240" cy="658368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0" y="19202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Enviada p/ aprovação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3520440"/>
            <a:ext cx="1920240" cy="658368"/>
          </a:xfrm>
          <a:prstGeom prst="roundRect">
            <a:avLst>
              <a:gd name="adj" fmla="val 12500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5204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Devolvida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2596896"/>
            <a:ext cx="0" cy="896112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56048" y="3849624"/>
            <a:ext cx="-1207008" cy="-1252728"/>
          </a:xfrm>
          <a:prstGeom prst="line">
            <a:avLst/>
          </a:prstGeom>
          <a:noFill/>
          <a:ln w="27940">
            <a:solidFill>
              <a:srgbClr val="B2492F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651760" y="30175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reencaminhar?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86600" y="35661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 a volta? A seta tracejada (devolvida → encaminhada) existe no processo, mas o caso real não diz se o reencaminhamento é permitido, nem com que limite.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6634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seta é uma regra: quem pode, quando pode, o que acontece — e o que é proibido.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371600" y="5349240"/>
            <a:ext cx="941832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534924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Especificação sem caminho triste = caminho triste descoberto em produção.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FIO QUE A AUDITORIA PUXA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de ponta a ponta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63624" y="17373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tmp/claude-0/-home-user-doc-template-engine/198c21fb-8b4a-5b3c-a787-7fafcb963965/scratchpad/workshop/icons/trell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695" y="1890431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2697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PDTIC-…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36392" y="2404872"/>
            <a:ext cx="365760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headEnd type="triangl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520440" y="155448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9704" y="17373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/tmp/claude-0/-home-user-doc-template-engine/198c21fb-8b4a-5b3c-a787-7fafcb963965/scratchpad/workshop/icons/fi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775" y="1890431"/>
            <a:ext cx="260787" cy="2607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188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611880" y="2697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estável · versionada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62472" y="2404872"/>
            <a:ext cx="365760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headEnd type="triangl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446520" y="155448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15784" y="17373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2" descr="/tmp/claude-0/-home-user-doc-template-engine/198c21fb-8b4a-5b3c-a787-7fafcb963965/scratchpad/workshop/icons/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855" y="1890431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3796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537960" y="2697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automatizados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988552" y="2404872"/>
            <a:ext cx="365760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headEnd type="triangle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9372600" y="155448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341864" y="17373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3" descr="/tmp/claude-0/-home-user-doc-template-engine/198c21fb-8b4a-5b3c-a787-7fafcb963965/scratchpad/workshop/icons/gitbranch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4935" y="1890431"/>
            <a:ext cx="260787" cy="26078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6404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&amp; release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464040" y="2697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entregue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rgbClr val="C77F1A"/>
          </a:solidFill>
          <a:ln/>
        </p:spPr>
      </p:sp>
      <p:pic>
        <p:nvPicPr>
          <p:cNvPr id="30" name="Image 4" descr="/tmp/claude-0/-home-user-doc-template-engine/198c21fb-8b4a-5b3c-a787-7fafcb963965/scratchpad/workshop/icons/searc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3735324"/>
            <a:ext cx="210312" cy="2103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34440" y="3566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impacto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mudarmos esta regra, o que quebra?” — responde-se em minutos, não em arqueologia.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594360" y="4526280"/>
            <a:ext cx="457200" cy="457200"/>
          </a:xfrm>
          <a:prstGeom prst="ellipse">
            <a:avLst/>
          </a:prstGeom>
          <a:solidFill>
            <a:srgbClr val="C77F1A"/>
          </a:solidFill>
          <a:ln/>
        </p:spPr>
      </p:sp>
      <p:pic>
        <p:nvPicPr>
          <p:cNvPr id="33" name="Image 5" descr="/tmp/claude-0/-home-user-doc-template-engine/198c21fb-8b4a-5b3c-a787-7fafcb963965/scratchpad/workshop/icons/shield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" y="4649724"/>
            <a:ext cx="210312" cy="2103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234440" y="44805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e conformidade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necessidade aprovada ao código entregue, cada elo tem registro — exigência típica no Sistema Indústria.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594360" y="5440680"/>
            <a:ext cx="457200" cy="457200"/>
          </a:xfrm>
          <a:prstGeom prst="ellipse">
            <a:avLst/>
          </a:prstGeom>
          <a:solidFill>
            <a:srgbClr val="C77F1A"/>
          </a:solidFill>
          <a:ln/>
        </p:spPr>
      </p:sp>
      <p:pic>
        <p:nvPicPr>
          <p:cNvPr id="36" name="Image 6" descr="/tmp/claude-0/-home-user-doc-template-engine/198c21fb-8b4a-5b3c-a787-7fafcb963965/scratchpad/workshop/icons/users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" y="5564124"/>
            <a:ext cx="210312" cy="21031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34440" y="53949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e fornecedores trocam; o fio rastreável é o que impede o conhecimento de ir embora junto.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420624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entra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card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4251960" y="3794760"/>
            <a:ext cx="1578254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6" name="Text 4"/>
          <p:cNvSpPr/>
          <p:nvPr/>
        </p:nvSpPr>
        <p:spPr>
          <a:xfrm>
            <a:off x="4251960" y="3794760"/>
            <a:ext cx="15782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anti-padrões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76518" y="3794760"/>
            <a:ext cx="1435608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8" name="Text 6"/>
          <p:cNvSpPr/>
          <p:nvPr/>
        </p:nvSpPr>
        <p:spPr>
          <a:xfrm>
            <a:off x="5976518" y="379476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cheiros no Jira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58430" y="3794760"/>
            <a:ext cx="1435608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0" name="Text 8"/>
          <p:cNvSpPr/>
          <p:nvPr/>
        </p:nvSpPr>
        <p:spPr>
          <a:xfrm>
            <a:off x="7558430" y="379476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ouro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436168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436168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 min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coisas que não pertencem a uma história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79192" cy="2057400"/>
          </a:xfrm>
          <a:prstGeom prst="roundRect">
            <a:avLst>
              <a:gd name="adj" fmla="val 4000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81912"/>
            <a:ext cx="384048" cy="384048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8" name="Image 0" descr="/tmp/claude-0/-home-user-doc-template-engine/198c21fb-8b4a-5b3c-a787-7fafcb963965/scratchpad/workshop/icons/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213" y="1685605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5819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técnica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58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“Criar tabela X”, “usar o endpoint Y”. Decisão do time — vive na especificação técnica.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64992" y="1417320"/>
            <a:ext cx="2679192" cy="2057400"/>
          </a:xfrm>
          <a:prstGeom prst="roundRect">
            <a:avLst>
              <a:gd name="adj" fmla="val 4000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7872" y="1581912"/>
            <a:ext cx="384048" cy="384048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13" name="Image 1" descr="/tmp/claude-0/-home-user-doc-template-engine/198c21fb-8b4a-5b3c-a787-7fafcb963965/scratchpad/workshop/icons/x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65" y="1685605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3360" y="15819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como história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66160" y="2258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“Desenvolver a TELA_002”. Tela é meio; o valor está na ação de negócio.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81344" y="1417320"/>
            <a:ext cx="2679192" cy="2057400"/>
          </a:xfrm>
          <a:prstGeom prst="roundRect">
            <a:avLst>
              <a:gd name="adj" fmla="val 4000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64224" y="1581912"/>
            <a:ext cx="384048" cy="384048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18" name="Image 2" descr="/tmp/claude-0/-home-user-doc-template-engine/198c21fb-8b4a-5b3c-a787-7fafcb963965/scratchpad/workshop/icons/x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917" y="1685605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39712" y="15819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fantasiado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82512" y="2258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cabe na sprint? Não é história. Divida em fatias que entregam valor.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997696" y="1417320"/>
            <a:ext cx="2679192" cy="2057400"/>
          </a:xfrm>
          <a:prstGeom prst="roundRect">
            <a:avLst>
              <a:gd name="adj" fmla="val 4000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80576" y="1581912"/>
            <a:ext cx="384048" cy="384048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23" name="Image 3" descr="/tmp/claude-0/-home-user-doc-template-engine/198c21fb-8b4a-5b3c-a787-7fafcb963965/scratchpad/workshop/icons/x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269" y="1685605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56064" y="15819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ator, sem porquê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198864" y="2258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sistema deve…”. Sem beneficiário e benefício, não há como priorizar.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3703320"/>
            <a:ext cx="2679192" cy="2057400"/>
          </a:xfrm>
          <a:prstGeom prst="roundRect">
            <a:avLst>
              <a:gd name="adj" fmla="val 4000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1520" y="3867912"/>
            <a:ext cx="384048" cy="384048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28" name="Image 4" descr="/tmp/claude-0/-home-user-doc-template-engine/198c21fb-8b4a-5b3c-a787-7fafcb963965/scratchpad/workshop/icons/x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13" y="3971605"/>
            <a:ext cx="176662" cy="17666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07008" y="38679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vago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749808" y="4544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“Funcionar corretamente”, “ser amigável”. Não testável = não aceitável.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364992" y="3703320"/>
            <a:ext cx="2679192" cy="2057400"/>
          </a:xfrm>
          <a:prstGeom prst="roundRect">
            <a:avLst>
              <a:gd name="adj" fmla="val 4000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547872" y="3867912"/>
            <a:ext cx="384048" cy="384048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33" name="Image 5" descr="/tmp/claude-0/-home-user-doc-template-engine/198c21fb-8b4a-5b3c-a787-7fafcb963965/scratchpad/workshop/icons/x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1565" y="3971605"/>
            <a:ext cx="176662" cy="1766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023360" y="38679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Description-romance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3566160" y="4544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páginas no card = especificação no lugar errado, sem versão nem revisão.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181344" y="3703320"/>
            <a:ext cx="2679192" cy="2057400"/>
          </a:xfrm>
          <a:prstGeom prst="roundRect">
            <a:avLst>
              <a:gd name="adj" fmla="val 4000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364224" y="3867912"/>
            <a:ext cx="384048" cy="384048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38" name="Image 6" descr="/tmp/claude-0/-home-user-doc-template-engine/198c21fb-8b4a-5b3c-a787-7fafcb963965/scratchpad/workshop/icons/x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917" y="3971605"/>
            <a:ext cx="176662" cy="17666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839712" y="38679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Card-arquivo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382512" y="4544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permanente “guardado” em card fechado é requisito perdido.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8997696" y="3703320"/>
            <a:ext cx="2679192" cy="2057400"/>
          </a:xfrm>
          <a:prstGeom prst="roundRect">
            <a:avLst>
              <a:gd name="adj" fmla="val 4000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180576" y="386791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3" name="Image 7" descr="/tmp/claude-0/-home-user-doc-template-engine/198c21fb-8b4a-5b3c-a787-7fafcb963965/scratchpad/workshop/icons/compass-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4269" y="3971605"/>
            <a:ext cx="176662" cy="17666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656064" y="38679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tem lugar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9198864" y="4544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Especificação, catálogo NFR, documentação técnica. O problema nunca é o conteúdo — é o endereço.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NO DIA A DIA DA FERRAMENTA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Cheiros no Jira — e o antídoto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“Cheiro” (do inglês smell): um indício na superfície que costuma apontar um problema mais profundo — Kent Beck &amp; Martin Fowler, Refactoring, 1999.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536192"/>
            <a:ext cx="4892040" cy="786384"/>
          </a:xfrm>
          <a:prstGeom prst="roundRect">
            <a:avLst>
              <a:gd name="adj" fmla="val 10465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737360"/>
            <a:ext cx="365760" cy="365760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9" name="Image 0" descr="/tmp/claude-0/-home-user-doc-template-engine/198c21fb-8b4a-5b3c-a787-7fafcb963965/scratchpad/workshop/icons/sear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1836115"/>
            <a:ext cx="168250" cy="1682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1536192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 5 páginas colada do Word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14416" y="1929384"/>
            <a:ext cx="384048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126480" y="1536192"/>
            <a:ext cx="5486400" cy="786384"/>
          </a:xfrm>
          <a:prstGeom prst="roundRect">
            <a:avLst>
              <a:gd name="adj" fmla="val 10465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91072" y="173736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4" name="Image 1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827" y="1836115"/>
            <a:ext cx="168250" cy="1682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93992" y="1536192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no card + link para a especificação versionada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4360" y="2450592"/>
            <a:ext cx="4892040" cy="786384"/>
          </a:xfrm>
          <a:prstGeom prst="roundRect">
            <a:avLst>
              <a:gd name="adj" fmla="val 10465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58952" y="2651760"/>
            <a:ext cx="365760" cy="365760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18" name="Image 2" descr="/tmp/claude-0/-home-user-doc-template-engine/198c21fb-8b4a-5b3c-a787-7fafcb963965/scratchpad/workshop/icons/searc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2750515"/>
            <a:ext cx="168250" cy="1682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61872" y="2450592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.docx como “fonte da verdade”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614416" y="2843784"/>
            <a:ext cx="384048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126480" y="2450592"/>
            <a:ext cx="5486400" cy="786384"/>
          </a:xfrm>
          <a:prstGeom prst="roundRect">
            <a:avLst>
              <a:gd name="adj" fmla="val 10465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91072" y="265176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3" name="Image 3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827" y="2750515"/>
            <a:ext cx="168250" cy="1682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93992" y="2450592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é insumo; a verdade vive na especificação, com versão e dono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94360" y="3364992"/>
            <a:ext cx="4892040" cy="786384"/>
          </a:xfrm>
          <a:prstGeom prst="roundRect">
            <a:avLst>
              <a:gd name="adj" fmla="val 10465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58952" y="3566160"/>
            <a:ext cx="365760" cy="365760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27" name="Image 4" descr="/tmp/claude-0/-home-user-doc-template-engine/198c21fb-8b4a-5b3c-a787-7fafcb963965/scratchpad/workshop/icons/searc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" y="3664915"/>
            <a:ext cx="168250" cy="1682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61872" y="3364992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decidido no fio de comentários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614416" y="3758184"/>
            <a:ext cx="384048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>
            <a:off x="6126480" y="3364992"/>
            <a:ext cx="5486400" cy="786384"/>
          </a:xfrm>
          <a:prstGeom prst="roundRect">
            <a:avLst>
              <a:gd name="adj" fmla="val 10465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91072" y="356616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2" name="Image 5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827" y="3664915"/>
            <a:ext cx="168250" cy="1682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93992" y="3364992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promovida a critério de aceite ou à especificação no mesmo dia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94360" y="4279392"/>
            <a:ext cx="4892040" cy="786384"/>
          </a:xfrm>
          <a:prstGeom prst="roundRect">
            <a:avLst>
              <a:gd name="adj" fmla="val 10465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58952" y="4480560"/>
            <a:ext cx="365760" cy="365760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36" name="Image 6" descr="/tmp/claude-0/-home-user-doc-template-engine/198c21fb-8b4a-5b3c-a787-7fafcb963965/scratchpad/workshop/icons/search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" y="4579315"/>
            <a:ext cx="168250" cy="16825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61872" y="4279392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reaberto para funcionalidade nova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5614416" y="4672584"/>
            <a:ext cx="384048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6126480" y="4279392"/>
            <a:ext cx="5486400" cy="786384"/>
          </a:xfrm>
          <a:prstGeom prst="roundRect">
            <a:avLst>
              <a:gd name="adj" fmla="val 10465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291072" y="448056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41" name="Image 7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9827" y="4579315"/>
            <a:ext cx="168250" cy="16825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793992" y="4279392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card; quem se atualiza é a especificação existente</a:t>
            </a:r>
            <a:endParaRPr lang="en-US" sz="1150" dirty="0"/>
          </a:p>
        </p:txBody>
      </p:sp>
      <p:sp>
        <p:nvSpPr>
          <p:cNvPr id="43" name="Shape 33"/>
          <p:cNvSpPr/>
          <p:nvPr/>
        </p:nvSpPr>
        <p:spPr>
          <a:xfrm>
            <a:off x="594360" y="5193792"/>
            <a:ext cx="4892040" cy="786384"/>
          </a:xfrm>
          <a:prstGeom prst="roundRect">
            <a:avLst>
              <a:gd name="adj" fmla="val 10465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758952" y="5394960"/>
            <a:ext cx="365760" cy="365760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45" name="Image 8" descr="/tmp/claude-0/-home-user-doc-template-engine/198c21fb-8b4a-5b3c-a787-7fafcb963965/scratchpad/workshop/icons/search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707" y="5493715"/>
            <a:ext cx="168250" cy="16825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1261872" y="5193792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aberto há 8 meses “guardando contexto”</a:t>
            </a:r>
            <a:endParaRPr lang="en-US" sz="1150" dirty="0"/>
          </a:p>
        </p:txBody>
      </p:sp>
      <p:sp>
        <p:nvSpPr>
          <p:cNvPr id="47" name="Shape 36"/>
          <p:cNvSpPr/>
          <p:nvPr/>
        </p:nvSpPr>
        <p:spPr>
          <a:xfrm>
            <a:off x="5614416" y="5586984"/>
            <a:ext cx="384048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48" name="Shape 37"/>
          <p:cNvSpPr/>
          <p:nvPr/>
        </p:nvSpPr>
        <p:spPr>
          <a:xfrm>
            <a:off x="6126480" y="5193792"/>
            <a:ext cx="5486400" cy="786384"/>
          </a:xfrm>
          <a:prstGeom prst="roundRect">
            <a:avLst>
              <a:gd name="adj" fmla="val 10465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6291072" y="539496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50" name="Image 9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9827" y="5493715"/>
            <a:ext cx="168250" cy="16825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6793992" y="5193792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tem objetivo e fim; contexto permanente mora na documentação</a:t>
            </a:r>
            <a:endParaRPr lang="en-US" sz="1150" dirty="0"/>
          </a:p>
        </p:txBody>
      </p:sp>
      <p:sp>
        <p:nvSpPr>
          <p:cNvPr id="52" name="Text 40"/>
          <p:cNvSpPr/>
          <p:nvPr/>
        </p:nvSpPr>
        <p:spPr>
          <a:xfrm>
            <a:off x="594360" y="614476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antídoto vira uma cláusula do acordo de trabalho (DoR/DoD) — slide final do Bloco 5.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ouro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2103120"/>
            <a:ext cx="996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Detalhe demais mata a conversa.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Detalhe de menos mata a construção.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554480" y="448056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no card, just in time na conversa — e o que precisa durar, na especificação.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420624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 —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caso real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4251960" y="3794760"/>
            <a:ext cx="1364285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6" name="Text 4"/>
          <p:cNvSpPr/>
          <p:nvPr/>
        </p:nvSpPr>
        <p:spPr>
          <a:xfrm>
            <a:off x="4251960" y="3794760"/>
            <a:ext cx="136428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762549" y="3794760"/>
            <a:ext cx="2434133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8" name="Text 6"/>
          <p:cNvSpPr/>
          <p:nvPr/>
        </p:nvSpPr>
        <p:spPr>
          <a:xfrm>
            <a:off x="5762549" y="3794760"/>
            <a:ext cx="243413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portões da história pronta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342986" y="3794760"/>
            <a:ext cx="2648102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0" name="Text 8"/>
          <p:cNvSpPr/>
          <p:nvPr/>
        </p:nvSpPr>
        <p:spPr>
          <a:xfrm>
            <a:off x="8342986" y="3794760"/>
            <a:ext cx="26481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 1 · conserte a história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4325112"/>
            <a:ext cx="2933395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4325112"/>
            <a:ext cx="29333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 2 · card, spec ou catálogo?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31659" y="4325112"/>
            <a:ext cx="1649578" cy="402336"/>
          </a:xfrm>
          <a:prstGeom prst="roundRect">
            <a:avLst>
              <a:gd name="adj" fmla="val 50000"/>
            </a:avLst>
          </a:prstGeom>
          <a:solidFill>
            <a:srgbClr val="31497A"/>
          </a:solidFill>
          <a:ln/>
        </p:spPr>
      </p:sp>
      <p:sp>
        <p:nvSpPr>
          <p:cNvPr id="14" name="Text 12"/>
          <p:cNvSpPr/>
          <p:nvPr/>
        </p:nvSpPr>
        <p:spPr>
          <a:xfrm>
            <a:off x="7331659" y="4325112"/>
            <a:ext cx="16495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 de trabalho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51960" y="489204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48920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 min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DOCUMENTO REAL, ANONIMIZADO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caso: “Especificação de Histórias de Usuário”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recebido para um módulo de compras (precificação de SC): 6 histórias, 5 telas, tabela de permissões — avaliado em nota técnica.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9" name="Image 0" descr="/tmp/claude-0/-home-user-doc-template-engine/198c21fb-8b4a-5b3c-a787-7fafcb963965/scratchpad/workshop/icons/thumbsu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18084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parecia bom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6974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no formato ator + ação + benefício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perfis e permissões precisa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valores com códigos (entidades, tipos de SC)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externa: cards e sprint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9ECE7"/>
          </a:solidFill>
          <a:ln w="12700">
            <a:solidFill>
              <a:srgbClr val="E8C4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14" name="Image 1" descr="/tmp/claude-0/-home-user-doc-template-engine/198c21fb-8b4a-5b3c-a787-7fafcb963965/scratchpad/workshop/icons/aler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218084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faltava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37960" y="26974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critério verificável — zero cenários, nenhum caso negativo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central não especificada: “o sistema avalia automaticamente…”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inconsistentes: HIST_001 duplicado, HIST_005 fantasma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sem tipo, obrigatoriedade ou validação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estados implícitos, nenhum formalizado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“Informações Técnicas: não se aplica”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" y="5349240"/>
            <a:ext cx="11000232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18" name="Text 14"/>
          <p:cNvSpPr/>
          <p:nvPr/>
        </p:nvSpPr>
        <p:spPr>
          <a:xfrm>
            <a:off x="868680" y="5349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história (não convida à conversa), nem especificação (não sustenta teste): um híbrido que não cumpre nenhum dos dois papéis.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3 C’S E INVEST OPERACIONALIZADOS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portões da história pronta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709928" cy="2103120"/>
          </a:xfrm>
          <a:prstGeom prst="roundRect">
            <a:avLst>
              <a:gd name="adj" fmla="val 481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164592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6152" y="1645920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194560"/>
            <a:ext cx="14447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 específico, uma ação, benefício real — a forma se sustenta sozinha?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22576" y="2532888"/>
            <a:ext cx="109728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50592" y="1481328"/>
            <a:ext cx="1709928" cy="2103120"/>
          </a:xfrm>
          <a:prstGeom prst="roundRect">
            <a:avLst>
              <a:gd name="adj" fmla="val 481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96896" y="1645920"/>
            <a:ext cx="420624" cy="420624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14" name="Text 12"/>
          <p:cNvSpPr/>
          <p:nvPr/>
        </p:nvSpPr>
        <p:spPr>
          <a:xfrm>
            <a:off x="2596896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72384" y="1645920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96896" y="2194560"/>
            <a:ext cx="14447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 depois observáveis — e o que ficou de fora foi dito?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78808" y="2532888"/>
            <a:ext cx="109728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06824" y="1481328"/>
            <a:ext cx="1709928" cy="2103120"/>
          </a:xfrm>
          <a:prstGeom prst="roundRect">
            <a:avLst>
              <a:gd name="adj" fmla="val 481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53128" y="1645920"/>
            <a:ext cx="420624" cy="420624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20" name="Text 18"/>
          <p:cNvSpPr/>
          <p:nvPr/>
        </p:nvSpPr>
        <p:spPr>
          <a:xfrm>
            <a:off x="4453128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28616" y="1645920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53128" y="2194560"/>
            <a:ext cx="14447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decisões, estados, exceções e permissões nomeados?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2532888"/>
            <a:ext cx="109728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63056" y="1481328"/>
            <a:ext cx="1709928" cy="2103120"/>
          </a:xfrm>
          <a:prstGeom prst="roundRect">
            <a:avLst>
              <a:gd name="adj" fmla="val 481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1645920"/>
            <a:ext cx="420624" cy="420624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84848" y="1645920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2194560"/>
            <a:ext cx="14447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existir antes — dito, nunca presumido?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91272" y="2532888"/>
            <a:ext cx="109728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19288" y="1481328"/>
            <a:ext cx="1709928" cy="2103120"/>
          </a:xfrm>
          <a:prstGeom prst="roundRect">
            <a:avLst>
              <a:gd name="adj" fmla="val 481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65592" y="1645920"/>
            <a:ext cx="420624" cy="420624"/>
          </a:xfrm>
          <a:prstGeom prst="ellipse">
            <a:avLst/>
          </a:prstGeom>
          <a:solidFill>
            <a:srgbClr val="31497A"/>
          </a:solidFill>
          <a:ln/>
        </p:spPr>
      </p:sp>
      <p:sp>
        <p:nvSpPr>
          <p:cNvPr id="32" name="Text 30"/>
          <p:cNvSpPr/>
          <p:nvPr/>
        </p:nvSpPr>
        <p:spPr>
          <a:xfrm>
            <a:off x="8165592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41080" y="1645920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165592" y="2194560"/>
            <a:ext cx="14447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da demo, da divisão e do “depende” — as seis réguas passam?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747504" y="2532888"/>
            <a:ext cx="109728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875520" y="1481328"/>
            <a:ext cx="1709928" cy="2103120"/>
          </a:xfrm>
          <a:prstGeom prst="roundRect">
            <a:avLst>
              <a:gd name="adj" fmla="val 4813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21824" y="1645920"/>
            <a:ext cx="420624" cy="42062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8" name="Text 36"/>
          <p:cNvSpPr/>
          <p:nvPr/>
        </p:nvSpPr>
        <p:spPr>
          <a:xfrm>
            <a:off x="10021824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497312" y="1645920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021824" y="2194560"/>
            <a:ext cx="14447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passa/falha, com cenário negativo e prova de aceite?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" y="3785616"/>
            <a:ext cx="146304" cy="14630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813816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— a forma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095805" y="3785616"/>
            <a:ext cx="146304" cy="146304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44" name="Text 42"/>
          <p:cNvSpPr/>
          <p:nvPr/>
        </p:nvSpPr>
        <p:spPr>
          <a:xfrm>
            <a:off x="2315261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— portões 1 a 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31766" y="3785616"/>
            <a:ext cx="146304" cy="146304"/>
          </a:xfrm>
          <a:prstGeom prst="ellipse">
            <a:avLst/>
          </a:prstGeom>
          <a:solidFill>
            <a:srgbClr val="31497A"/>
          </a:solidFill>
          <a:ln/>
        </p:spPr>
      </p:sp>
      <p:sp>
        <p:nvSpPr>
          <p:cNvPr id="46" name="Text 44"/>
          <p:cNvSpPr/>
          <p:nvPr/>
        </p:nvSpPr>
        <p:spPr>
          <a:xfrm>
            <a:off x="4751222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 INVEST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99709" y="3785616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48" name="Text 46"/>
          <p:cNvSpPr/>
          <p:nvPr/>
        </p:nvSpPr>
        <p:spPr>
          <a:xfrm>
            <a:off x="6119165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— prova de saída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4360" y="4160520"/>
            <a:ext cx="11000232" cy="960120"/>
          </a:xfrm>
          <a:prstGeom prst="roundRect">
            <a:avLst>
              <a:gd name="adj" fmla="val 8571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1248" y="440740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1" name="Image 0" descr="/tmp/claude-0/-home-user-doc-template-engine/198c21fb-8b4a-5b3c-a787-7fafcb963965/scratchpad/workshop/icons/search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530852"/>
            <a:ext cx="210312" cy="210312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1463040" y="42793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de pontos cegos —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mais mexe nessa entidade? · volumes-limite? · dois usuários ao mesmo tempo? · e o tempo (vigências, prazos, virada)? · alguém precisa provar depois (auditoria em tela)? · alguém precisa ficar sabendo (notificação)?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94360" y="5413248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54" name="Text 51"/>
          <p:cNvSpPr/>
          <p:nvPr/>
        </p:nvSpPr>
        <p:spPr>
          <a:xfrm>
            <a:off x="868680" y="54132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reprovada não trava a conversa: vira ⚠ registrada no card, com dono. História pronta (DoR) = todos os portões passam e a lista de ⚠ está vazia.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OS TESTES COM MAIOR TAXA DE REPROVAÇÃO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perguntas que reprovam histórias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5257800" cy="512064"/>
          </a:xfrm>
          <a:prstGeom prst="roundRect">
            <a:avLst>
              <a:gd name="adj" fmla="val 16071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1790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tmp/claude-0/-home-user-doc-template-engine/198c21fb-8b4a-5b3c-a787-7fafcb963965/scratchpad/workshop/icons/hel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462" y="1601846"/>
            <a:ext cx="143012" cy="143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417320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 leitor acharia que está incluso — mas não está?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61888" y="1673352"/>
            <a:ext cx="310896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382512" y="1417320"/>
            <a:ext cx="5230368" cy="512064"/>
          </a:xfrm>
          <a:prstGeom prst="roundRect">
            <a:avLst>
              <a:gd name="adj" fmla="val 16071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19672" y="1517904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1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614" y="1601846"/>
            <a:ext cx="143012" cy="143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1417320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lista de exclusões com ao menos 1 item — fronteira pensada, não presumida.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4360" y="2002536"/>
            <a:ext cx="5257800" cy="512064"/>
          </a:xfrm>
          <a:prstGeom prst="roundRect">
            <a:avLst>
              <a:gd name="adj" fmla="val 16071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210312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/tmp/claude-0/-home-user-doc-template-engine/198c21fb-8b4a-5b3c-a787-7fafcb963965/scratchpad/workshop/icons/help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62" y="2187062"/>
            <a:ext cx="143012" cy="1430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2002536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texto diz “automaticamente”, “quando necessário”, “conforme o caso”?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961888" y="2258568"/>
            <a:ext cx="310896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382512" y="2002536"/>
            <a:ext cx="5230368" cy="512064"/>
          </a:xfrm>
          <a:prstGeom prst="roundRect">
            <a:avLst>
              <a:gd name="adj" fmla="val 16071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19672" y="2103120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2" name="Image 3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614" y="2187062"/>
            <a:ext cx="143012" cy="1430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2002536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decisão do sistema tem critério objetivo declarado — advérbio não é regra.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94360" y="2587752"/>
            <a:ext cx="5257800" cy="512064"/>
          </a:xfrm>
          <a:prstGeom prst="roundRect">
            <a:avLst>
              <a:gd name="adj" fmla="val 16071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" y="2688336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/tmp/claude-0/-home-user-doc-template-engine/198c21fb-8b4a-5b3c-a787-7fafcb963965/scratchpad/workshop/icons/help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62" y="2772278"/>
            <a:ext cx="143012" cy="1430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70432" y="2587752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quando dá errado?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961888" y="2843784"/>
            <a:ext cx="310896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6382512" y="2587752"/>
            <a:ext cx="5230368" cy="512064"/>
          </a:xfrm>
          <a:prstGeom prst="roundRect">
            <a:avLst>
              <a:gd name="adj" fmla="val 16071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519672" y="2688336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1" name="Image 5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614" y="2772278"/>
            <a:ext cx="143012" cy="1430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2587752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1 caminho triste identificado por ação de tela.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594360" y="3172968"/>
            <a:ext cx="5257800" cy="512064"/>
          </a:xfrm>
          <a:prstGeom prst="roundRect">
            <a:avLst>
              <a:gd name="adj" fmla="val 16071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31520" y="327355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5" name="Image 6" descr="/tmp/claude-0/-home-user-doc-template-engine/198c21fb-8b4a-5b3c-a787-7fafcb963965/scratchpad/workshop/icons/help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462" y="3357494"/>
            <a:ext cx="143012" cy="14301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170432" y="3172968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que esta história depende?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5961888" y="3429000"/>
            <a:ext cx="310896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6382512" y="3172968"/>
            <a:ext cx="5230368" cy="512064"/>
          </a:xfrm>
          <a:prstGeom prst="roundRect">
            <a:avLst>
              <a:gd name="adj" fmla="val 16071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519672" y="327355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40" name="Image 7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3614" y="3357494"/>
            <a:ext cx="143012" cy="14301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949440" y="3172968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 nada” precisa ser dito, não presumido — dependências em lista nomeada.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594360" y="3758184"/>
            <a:ext cx="5257800" cy="512064"/>
          </a:xfrm>
          <a:prstGeom prst="roundRect">
            <a:avLst>
              <a:gd name="adj" fmla="val 16071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731520" y="3858768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4" name="Image 8" descr="/tmp/claude-0/-home-user-doc-template-engine/198c21fb-8b4a-5b3c-a787-7fafcb963965/scratchpad/workshop/icons/help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462" y="3942710"/>
            <a:ext cx="143012" cy="14301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170432" y="3758184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 parte roda fora da fronteira do sistema?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5961888" y="4014216"/>
            <a:ext cx="310896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47" name="Shape 36"/>
          <p:cNvSpPr/>
          <p:nvPr/>
        </p:nvSpPr>
        <p:spPr>
          <a:xfrm>
            <a:off x="6382512" y="3758184"/>
            <a:ext cx="5230368" cy="512064"/>
          </a:xfrm>
          <a:prstGeom prst="roundRect">
            <a:avLst>
              <a:gd name="adj" fmla="val 16071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6519672" y="3858768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49" name="Image 9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3614" y="3942710"/>
            <a:ext cx="143012" cy="143012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6949440" y="3758184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o que sai, o que volta — e o que acontece quando o outro lado falha.</a:t>
            </a:r>
            <a:endParaRPr lang="en-US" sz="1000" dirty="0"/>
          </a:p>
        </p:txBody>
      </p:sp>
      <p:sp>
        <p:nvSpPr>
          <p:cNvPr id="51" name="Shape 39"/>
          <p:cNvSpPr/>
          <p:nvPr/>
        </p:nvSpPr>
        <p:spPr>
          <a:xfrm>
            <a:off x="594360" y="4343400"/>
            <a:ext cx="5257800" cy="512064"/>
          </a:xfrm>
          <a:prstGeom prst="roundRect">
            <a:avLst>
              <a:gd name="adj" fmla="val 16071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731520" y="444398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3" name="Image 10" descr="/tmp/claude-0/-home-user-doc-template-engine/198c21fb-8b4a-5b3c-a787-7fafcb963965/scratchpad/workshop/icons/help-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462" y="4527926"/>
            <a:ext cx="143012" cy="143012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1170432" y="4343400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da demo (V): o que mostramos na review, em 2 minutos, e a quem importa?</a:t>
            </a:r>
            <a:endParaRPr lang="en-US" sz="1000" dirty="0"/>
          </a:p>
        </p:txBody>
      </p:sp>
      <p:sp>
        <p:nvSpPr>
          <p:cNvPr id="55" name="Shape 42"/>
          <p:cNvSpPr/>
          <p:nvPr/>
        </p:nvSpPr>
        <p:spPr>
          <a:xfrm>
            <a:off x="5961888" y="4599432"/>
            <a:ext cx="310896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56" name="Shape 43"/>
          <p:cNvSpPr/>
          <p:nvPr/>
        </p:nvSpPr>
        <p:spPr>
          <a:xfrm>
            <a:off x="6382512" y="4343400"/>
            <a:ext cx="5230368" cy="512064"/>
          </a:xfrm>
          <a:prstGeom prst="roundRect">
            <a:avLst>
              <a:gd name="adj" fmla="val 16071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57" name="Shape 44"/>
          <p:cNvSpPr/>
          <p:nvPr/>
        </p:nvSpPr>
        <p:spPr>
          <a:xfrm>
            <a:off x="6519672" y="4443984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58" name="Image 11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3614" y="4527926"/>
            <a:ext cx="143012" cy="143012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6949440" y="4343400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resultado demonstrável e beneficiário nomeado.</a:t>
            </a:r>
            <a:endParaRPr lang="en-US" sz="1000" dirty="0"/>
          </a:p>
        </p:txBody>
      </p:sp>
      <p:sp>
        <p:nvSpPr>
          <p:cNvPr id="60" name="Shape 46"/>
          <p:cNvSpPr/>
          <p:nvPr/>
        </p:nvSpPr>
        <p:spPr>
          <a:xfrm>
            <a:off x="594360" y="4928616"/>
            <a:ext cx="5257800" cy="512064"/>
          </a:xfrm>
          <a:prstGeom prst="roundRect">
            <a:avLst>
              <a:gd name="adj" fmla="val 16071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61" name="Shape 47"/>
          <p:cNvSpPr/>
          <p:nvPr/>
        </p:nvSpPr>
        <p:spPr>
          <a:xfrm>
            <a:off x="731520" y="502920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2" name="Image 12" descr="/tmp/claude-0/-home-user-doc-template-engine/198c21fb-8b4a-5b3c-a787-7fafcb963965/scratchpad/workshop/icons/help-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462" y="5113142"/>
            <a:ext cx="143012" cy="143012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1170432" y="4928616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da divisão (S): se cortar em duas, cada metade entrega valor?</a:t>
            </a:r>
            <a:endParaRPr lang="en-US" sz="1000" dirty="0"/>
          </a:p>
        </p:txBody>
      </p:sp>
      <p:sp>
        <p:nvSpPr>
          <p:cNvPr id="64" name="Shape 49"/>
          <p:cNvSpPr/>
          <p:nvPr/>
        </p:nvSpPr>
        <p:spPr>
          <a:xfrm>
            <a:off x="5961888" y="5184648"/>
            <a:ext cx="310896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65" name="Shape 50"/>
          <p:cNvSpPr/>
          <p:nvPr/>
        </p:nvSpPr>
        <p:spPr>
          <a:xfrm>
            <a:off x="6382512" y="4928616"/>
            <a:ext cx="5230368" cy="512064"/>
          </a:xfrm>
          <a:prstGeom prst="roundRect">
            <a:avLst>
              <a:gd name="adj" fmla="val 16071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66" name="Shape 51"/>
          <p:cNvSpPr/>
          <p:nvPr/>
        </p:nvSpPr>
        <p:spPr>
          <a:xfrm>
            <a:off x="6519672" y="5029200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7" name="Image 13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3614" y="5113142"/>
            <a:ext cx="143012" cy="143012"/>
          </a:xfrm>
          <a:prstGeom prst="rect">
            <a:avLst/>
          </a:prstGeom>
        </p:spPr>
      </p:pic>
      <p:sp>
        <p:nvSpPr>
          <p:cNvPr id="68" name="Text 52"/>
          <p:cNvSpPr/>
          <p:nvPr/>
        </p:nvSpPr>
        <p:spPr>
          <a:xfrm>
            <a:off x="6949440" y="4928616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sim, corte — épico não entra na sprint.</a:t>
            </a:r>
            <a:endParaRPr lang="en-US" sz="1000" dirty="0"/>
          </a:p>
        </p:txBody>
      </p:sp>
      <p:sp>
        <p:nvSpPr>
          <p:cNvPr id="69" name="Shape 53"/>
          <p:cNvSpPr/>
          <p:nvPr/>
        </p:nvSpPr>
        <p:spPr>
          <a:xfrm>
            <a:off x="594360" y="5513832"/>
            <a:ext cx="5257800" cy="512064"/>
          </a:xfrm>
          <a:prstGeom prst="roundRect">
            <a:avLst>
              <a:gd name="adj" fmla="val 16071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0" name="Shape 54"/>
          <p:cNvSpPr/>
          <p:nvPr/>
        </p:nvSpPr>
        <p:spPr>
          <a:xfrm>
            <a:off x="731520" y="5614416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1" name="Image 14" descr="/tmp/claude-0/-home-user-doc-template-engine/198c21fb-8b4a-5b3c-a787-7fafcb963965/scratchpad/workshop/icons/help-wh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5462" y="5698358"/>
            <a:ext cx="143012" cy="143012"/>
          </a:xfrm>
          <a:prstGeom prst="rect">
            <a:avLst/>
          </a:prstGeom>
        </p:spPr>
      </p:pic>
      <p:sp>
        <p:nvSpPr>
          <p:cNvPr id="72" name="Text 55"/>
          <p:cNvSpPr/>
          <p:nvPr/>
        </p:nvSpPr>
        <p:spPr>
          <a:xfrm>
            <a:off x="1170432" y="5513832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 sabe provar cada critério (T)?</a:t>
            </a:r>
            <a:endParaRPr lang="en-US" sz="1000" dirty="0"/>
          </a:p>
        </p:txBody>
      </p:sp>
      <p:sp>
        <p:nvSpPr>
          <p:cNvPr id="73" name="Shape 56"/>
          <p:cNvSpPr/>
          <p:nvPr/>
        </p:nvSpPr>
        <p:spPr>
          <a:xfrm>
            <a:off x="5961888" y="5769864"/>
            <a:ext cx="310896" cy="0"/>
          </a:xfrm>
          <a:prstGeom prst="line">
            <a:avLst/>
          </a:prstGeom>
          <a:noFill/>
          <a:ln w="2794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74" name="Shape 57"/>
          <p:cNvSpPr/>
          <p:nvPr/>
        </p:nvSpPr>
        <p:spPr>
          <a:xfrm>
            <a:off x="6382512" y="5513832"/>
            <a:ext cx="5230368" cy="512064"/>
          </a:xfrm>
          <a:prstGeom prst="roundRect">
            <a:avLst>
              <a:gd name="adj" fmla="val 16071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519672" y="5614416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76" name="Image 15" descr="/tmp/claude-0/-home-user-doc-template-engine/198c21fb-8b4a-5b3c-a787-7fafcb963965/scratchpad/workshop/icons/checkmini-whit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3614" y="5698358"/>
            <a:ext cx="143012" cy="143012"/>
          </a:xfrm>
          <a:prstGeom prst="rect">
            <a:avLst/>
          </a:prstGeom>
        </p:spPr>
      </p:pic>
      <p:sp>
        <p:nvSpPr>
          <p:cNvPr id="77" name="Text 59"/>
          <p:cNvSpPr/>
          <p:nvPr/>
        </p:nvSpPr>
        <p:spPr>
          <a:xfrm>
            <a:off x="6949440" y="5513832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critério, ele diz como demonstra que passou — sem perguntar a ninguém.</a:t>
            </a:r>
            <a:endParaRPr lang="en-US" sz="1000" dirty="0"/>
          </a:p>
        </p:txBody>
      </p:sp>
      <p:sp>
        <p:nvSpPr>
          <p:cNvPr id="78" name="Text 60"/>
          <p:cNvSpPr/>
          <p:nvPr/>
        </p:nvSpPr>
        <p:spPr>
          <a:xfrm>
            <a:off x="594360" y="61722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refinamento: ~30 min por história — e é o guia da Dinâmica 1, a seguir.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DINÂMICA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Conserte a história  ·  15 min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691640"/>
            <a:ext cx="420624" cy="420624"/>
          </a:xfrm>
          <a:prstGeom prst="ellipse">
            <a:avLst/>
          </a:prstGeom>
          <a:solidFill>
            <a:srgbClr val="B2492F"/>
          </a:solidFill>
          <a:ln/>
        </p:spPr>
      </p:sp>
      <p:pic>
        <p:nvPicPr>
          <p:cNvPr id="8" name="Image 0" descr="/tmp/claude-0/-home-user-doc-template-engine/198c21fb-8b4a-5b3c-a787-7fafcb963965/scratchpad/workshop/icons/fi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816" y="1805208"/>
            <a:ext cx="193487" cy="193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69164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recebido: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22402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25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“Desenvolver a tela de revisão da precificação conforme o documento anexo. A tela deve funcionar corretamente e atender o gerente.”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3794760"/>
            <a:ext cx="1394460" cy="384048"/>
          </a:xfrm>
          <a:prstGeom prst="roundRect">
            <a:avLst>
              <a:gd name="adj" fmla="val 47619"/>
            </a:avLst>
          </a:prstGeom>
          <a:solidFill>
            <a:srgbClr val="EEF3FA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794760"/>
            <a:ext cx="1394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3–4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53412" y="3794760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EEF3FA"/>
          </a:solidFill>
          <a:ln/>
        </p:spPr>
      </p:sp>
      <p:sp>
        <p:nvSpPr>
          <p:cNvPr id="14" name="Text 11"/>
          <p:cNvSpPr/>
          <p:nvPr/>
        </p:nvSpPr>
        <p:spPr>
          <a:xfrm>
            <a:off x="2153412" y="379476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10’ produção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34740" y="3794760"/>
            <a:ext cx="1161288" cy="384048"/>
          </a:xfrm>
          <a:prstGeom prst="roundRect">
            <a:avLst>
              <a:gd name="adj" fmla="val 47619"/>
            </a:avLst>
          </a:prstGeom>
          <a:solidFill>
            <a:srgbClr val="EEF3FA"/>
          </a:solidFill>
          <a:ln/>
        </p:spPr>
      </p:sp>
      <p:sp>
        <p:nvSpPr>
          <p:cNvPr id="16" name="Text 13"/>
          <p:cNvSpPr/>
          <p:nvPr/>
        </p:nvSpPr>
        <p:spPr>
          <a:xfrm>
            <a:off x="3634740" y="379476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5’ leitura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" y="443484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facilitação: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lê só a reescrita (item 1) e UM critério. Compare as versões: os “Como/Para” divergem? Ótimo — é a conversa que faltou.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72200" y="1463040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7"/>
          <p:cNvSpPr/>
          <p:nvPr/>
        </p:nvSpPr>
        <p:spPr>
          <a:xfrm>
            <a:off x="617220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812280" y="14173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 no formato Como / Quero / Para.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172200" y="2651760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812280" y="26060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3 critérios de aceite testáveis — pelo menos 1 negativo.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172200" y="3840480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3"/>
          <p:cNvSpPr/>
          <p:nvPr/>
        </p:nvSpPr>
        <p:spPr>
          <a:xfrm>
            <a:off x="617220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12280" y="37947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a história pelos portões: quais testes ela reprova?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172200" y="5029200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6"/>
          <p:cNvSpPr/>
          <p:nvPr/>
        </p:nvSpPr>
        <p:spPr>
          <a:xfrm>
            <a:off x="6172200" y="5029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812280" y="49834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o que dessa demanda NÃO vai no card — e para onde vai.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DINÂMICA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especificação ou catálogo?  ·  15 min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item, decidam em grupo: onde ele vive?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694944" cy="384048"/>
          </a:xfrm>
          <a:prstGeom prst="roundRect">
            <a:avLst>
              <a:gd name="adj" fmla="val 4761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8308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453896" y="1783080"/>
            <a:ext cx="1394460" cy="384048"/>
          </a:xfrm>
          <a:prstGeom prst="roundRect">
            <a:avLst>
              <a:gd name="adj" fmla="val 47619"/>
            </a:avLst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1453896" y="1783080"/>
            <a:ext cx="1394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12948" y="1783080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3012948" y="178308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NFR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94276" y="1783080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B2492F"/>
          </a:solidFill>
          <a:ln/>
        </p:spPr>
      </p:sp>
      <p:sp>
        <p:nvSpPr>
          <p:cNvPr id="14" name="Text 12"/>
          <p:cNvSpPr/>
          <p:nvPr/>
        </p:nvSpPr>
        <p:spPr>
          <a:xfrm>
            <a:off x="4494276" y="178308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 NENHUM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26791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" y="257860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288036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Gerente, quero devolver a precificação com justificativa, para o comprador ajustar.”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64992" y="2468880"/>
            <a:ext cx="26791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93008" y="257860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29584" y="288036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campo Vigência aceita no máximo 50 caracteres.”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81344" y="2468880"/>
            <a:ext cx="26791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257860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45936" y="288036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consulta de SCs responde em até 3 segundos.”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97696" y="2468880"/>
            <a:ext cx="26791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25712" y="257860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62288" y="288036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“Usar PostgreSQL e fila de mensagens na integração.”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26791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" y="42702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" y="457200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“Total do item = quantidade × valor unitário.”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64992" y="4160520"/>
            <a:ext cx="26791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93008" y="42702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29584" y="457200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tela deve ser intuitiva.”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81344" y="4160520"/>
            <a:ext cx="26791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09360" y="42702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45936" y="457200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“Somente o Gerente de Suprimentos envia para aprovação.”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97696" y="4160520"/>
            <a:ext cx="26791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88900" dist="25400" dir="5400000">
              <a:srgbClr val="16223B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25712" y="42702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62288" y="457200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“Mensagem: ‘Não é possível encaminhar: existem itens sem valor unitário.’”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comentado nas notas do apresentador.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O PRODUTO DO WORKSHOP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acordo — pronto para entrar, pronto para sair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tmp/claude-0/-home-user-doc-template-engine/198c21fb-8b4a-5b3c-a787-7fafcb963965/scratchpad/workshop/icons/play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468" y="1873148"/>
            <a:ext cx="231343" cy="231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737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Ready — a história entra na sprint se…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41832" y="251460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no formato ator + ação + benefício, com papel específico</a:t>
            </a:r>
            <a:endParaRPr lang="en-US" sz="1150" dirty="0"/>
          </a:p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no INVEST — em especial Small e Testable</a:t>
            </a:r>
            <a:endParaRPr lang="en-US" sz="1150" dirty="0"/>
          </a:p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critérios de aceite testáveis, incluindo ao menos 1 caso negativo</a:t>
            </a:r>
            <a:endParaRPr lang="en-US" sz="1150" dirty="0"/>
          </a:p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de campo, regra ou estado? Especificação vinculada ao card</a:t>
            </a:r>
            <a:endParaRPr lang="en-US" sz="1150" dirty="0"/>
          </a:p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e perfil de acesso identificados</a:t>
            </a:r>
            <a:endParaRPr lang="en-US" sz="1150" dirty="0"/>
          </a:p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Passou pelos portões do refinamento — lista de ⚠ zerada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E9F3EE"/>
          </a:solidFill>
          <a:ln w="12700">
            <a:solidFill>
              <a:srgbClr val="BCD9C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1" descr="/tmp/claude-0/-home-user-doc-template-engine/198c21fb-8b4a-5b3c-a787-7fafcb963965/scratchpad/workshop/icons/awar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028" y="1873148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737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— a entrega só fecha se…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65392" y="251460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aceite passando, com evidência de teste</a:t>
            </a:r>
            <a:endParaRPr lang="en-US" sz="1150" dirty="0"/>
          </a:p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atualizada com o que mudou na entrega</a:t>
            </a:r>
            <a:endParaRPr lang="en-US" sz="1150" dirty="0"/>
          </a:p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operação atualizada (quando aplicável)</a:t>
            </a:r>
            <a:endParaRPr lang="en-US" sz="1150" dirty="0"/>
          </a:p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fechado com link para a versão da especificação entregue</a:t>
            </a:r>
            <a:endParaRPr lang="en-US" sz="1150" dirty="0"/>
          </a:p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e erros conforme catálogo — nada improvisado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artefato no seu lugar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3538728" cy="3749040"/>
          </a:xfrm>
          <a:prstGeom prst="roundRect">
            <a:avLst>
              <a:gd name="adj" fmla="val 2326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737360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tmp/claude-0/-home-user-doc-template-engine/198c21fb-8b4a-5b3c-a787-7fafcb963965/scratchpad/workshop/icons/trell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5284" y="1905244"/>
            <a:ext cx="286024" cy="286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14600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2926080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 e prioriza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383280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de conversa com critérios de aceite. Vive no Jira e morre na entrega.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463040" y="4709160"/>
            <a:ext cx="180136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63040" y="470916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Jira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25112" y="1463040"/>
            <a:ext cx="3538728" cy="3749040"/>
          </a:xfrm>
          <a:prstGeom prst="roundRect">
            <a:avLst>
              <a:gd name="adj" fmla="val 2326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88152" y="1737360"/>
            <a:ext cx="621792" cy="62179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1" descr="/tmp/claude-0/-home-user-doc-template-engine/198c21fb-8b4a-5b3c-a787-7fafcb963965/scratchpad/workshop/icons/fi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036" y="1905244"/>
            <a:ext cx="286024" cy="2860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16552" y="2514600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416552" y="2926080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 verifica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99432" y="3383280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Campos, regras, cenários, estados, permissões, mensagens. Vive com a funcionalidade.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193792" y="4709160"/>
            <a:ext cx="180136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93792" y="470916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versionada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055864" y="1463040"/>
            <a:ext cx="3538728" cy="3749040"/>
          </a:xfrm>
          <a:prstGeom prst="roundRect">
            <a:avLst>
              <a:gd name="adj" fmla="val 2326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518904" y="1737360"/>
            <a:ext cx="621792" cy="621792"/>
          </a:xfrm>
          <a:prstGeom prst="ellipse">
            <a:avLst/>
          </a:prstGeom>
          <a:solidFill>
            <a:srgbClr val="C77F1A"/>
          </a:solidFill>
          <a:ln/>
        </p:spPr>
      </p:sp>
      <p:pic>
        <p:nvPicPr>
          <p:cNvPr id="24" name="Image 2" descr="/tmp/claude-0/-home-user-doc-template-engine/198c21fb-8b4a-5b3c-a787-7fafcb963965/scratchpad/workshop/icons/boo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788" y="1905244"/>
            <a:ext cx="286024" cy="2860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147304" y="2514600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147304" y="2926080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e mantém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330184" y="3383280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do sistema como um todo, para sustentação, integração e auditoria. Vive com o produto.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924544" y="4709160"/>
            <a:ext cx="180136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924544" y="470916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 do produto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2103120" y="5623560"/>
            <a:ext cx="795528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31" name="Text 26"/>
          <p:cNvSpPr/>
          <p:nvPr/>
        </p:nvSpPr>
        <p:spPr>
          <a:xfrm>
            <a:off x="2103120" y="562356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são necessários. Nenhum substitui o outro.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519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 &amp; Documentação de Sistema — Workshop CNI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Beck, K.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Programming Explained: Embrace Change. Addison-Wesley, 1999 (2ª ed. 2004). A origem das histórias no XP.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231136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Beck, K.; Fowler, M.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Extreme Programming. Addison-Wesley, 2000. O Jogo do Planejamento.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999232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Jeffries, R.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“Essential XP: Card, Conversation, Confirmation”. Artigo, 2001. Os 3 C’s.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767328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Connextra (Davies, R. et al.)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“As a…, I want…, so that…”. Londres, 2001.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4535424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Wake, B.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“INVEST in Good Stories, and SMART Tasks”. Artigo, 2003.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530352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Cohn, M.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Applied: For Agile Software Development. Addison-Wesley, 2004.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D.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“Introducing BDD”. Better Software, 2006. Dado–Quando–Então.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2231136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Adzic, G.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by Example. Manning, 2011. Critérios que viram testes.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999232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Patton, J.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Mapping. O’Reilly, 2014. Do backlog achatado ao mapa.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3767328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Sommerville, I.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Engineering. 10ª ed., Pearson, 2016. Engenharia de requisitos (caps. 4–5).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4535424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ISO/IEC/IEEE 29148:2018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and software engineering — Life cycle processes — Requirements engineering.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530352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Beck, K. et al.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 para Desenvolvimento Ágil de Software. 2001. agilemanifesto.org.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62179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onde começar: gestores — Cohn (2004); POs e QAs — Adzic (2011); analistas — Sommerville, caps. 4–5.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554480"/>
            <a:ext cx="9966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Escreva menos no card.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Converse mais.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Especifique o que precisa durar.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120640" y="4572000"/>
            <a:ext cx="19202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4846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54406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Dúvidas, material e próximos passos: [seu nome · e-mail · canal]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Histórias de Usuário &amp; Documentação de Sistema</dc:title>
  <dc:subject>PptxGenJS Presentation</dc:subject>
  <dc:creator>Workshop CNI</dc:creator>
  <cp:lastModifiedBy>Workshop CNI</cp:lastModifiedBy>
  <cp:revision>1</cp:revision>
  <dcterms:created xsi:type="dcterms:W3CDTF">2026-07-31T12:17:11Z</dcterms:created>
  <dcterms:modified xsi:type="dcterms:W3CDTF">2026-07-31T12:17:11Z</dcterms:modified>
</cp:coreProperties>
</file>